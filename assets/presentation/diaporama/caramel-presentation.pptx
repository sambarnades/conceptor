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Caramel est une application web gratuite, sans compte, qui prépare avec l'IA des activités interactives et des parcours complets pour Éléa, Magistère et Moodle. Ce diaporama présente ce qu'elle fait, comment elle fonctionne et ce à quoi nous tenons : la main laissée à l'enseignant et la protection des données. Il correspond à Caramel 7.0.1 ; il est mis à jour à chaque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Caramel est né de deux enseignants en poste, qui l’ont d’abord conçu pour leurs propres classes. Emmanuel Gaunard enseigne les mathématiques et est chargé de mission à la DRANE de Grenoble ; Gauthier Remande enseigne les lettres et l’histoire en lycée professionnel, dans l’académie de Nantes. Le projet est un logiciel libre, développé en ouvert sur la Forge des communs numériques éducatifs : chacun peut en lire le code, signaler un problème ou proposer une idée.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départ, en 2025, il y a deux enseignants et deux outils, pour un même besoin : gagner du temps grâce à l’IA. Gauthier voulait accélérer la création d’activités H5P pour Éléa ; sa première interface a été présentée au MoodleMoot de juin 2025. Emmanuel voulait refaire plus vite ses parcours Magistère, avec un site qui générait des activités H5P. Leur rencontre, grâce à Bertrand Chartier, a fait converger les deux projets en un seul outil commun, sur la Forge des communs numériques éducatifs. Le projet est bénévole ; il est soutenu par la Direction du numérique pour l’éducation et son incubateur, qui fournissent l’accès à des modèles d’IA hébergés en France. Les chiffres datent de septembre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Caramel prépare des activités prêtes à importer dans la plateforme de l’établissement. Trente-cinq types d’activités sont proposés : vingt-sept au format H5P, le format libre d’activités interactives que lisent Éléa, Magistère et Moodle, et huit modules propres à Moodle, comme la Page, le Livre ou le Test. Tout se passe dans le navigateur, sans compte. On peut aussi obtenir une version papier de chaque activité, en Word, LibreOffice ou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suit quatre temps. D’abord ce qui nous tient à cœur, parce que c’est ce qui distingue Caramel : la main laissée à l’enseignant, la protection des données, les programmes intégrés à bon escient. Ensuite la création d’une activité, étape par étape. Puis la création d’un parcours complet. Enfin le partage sur la Sucrerie et les appuis pour se faire aider.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principe fondateur de Caramel : l’intelligence artificielle est une assistante, l’enseignant pilote. Avant la génération, c’est vous qui posez le cadre, et le prompt envoyé à l’IA n’est pas une boîte noire : on peut le lire et le modifier. Pendant, vous choisissez la voie — l’IA intégrée ou celle de votre choix — et vous relisez tout dans l’aperçu et l’éditeur. Après, rien n’est figé : le fichier se retravaille dans la plateforme ou dans un traitement de 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Caramel ne demande aucun compte et ne collecte aucune donnée personnelle. Les documents que vous déposez sont lus dans votre navigateur : le fichier lui-même ne part sur aucun serveur. La génération en un clic s’appuie sur des modèles d’IA hébergés en France, sur des serveurs de l’Enseignement supérieur et de la recherche (le projet ILaaS), et non sur des IA grand public. La voix fait exception, et c’est dit dans l’application : elle est transcrite par Albert, le service souverain de la DINUM, sans être conservée. Rappel utile en formation : on ne saisit jamais de données personnelles d’élèves.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votre demande relève de l’école — un niveau de classe, un « professeur de 4e », une « seconde bac pro » — Caramel recherche dans les programmes officiels les passages utiles et les joint à la demande envoyée à l’IA : l’activité colle au programme de la classe. Quand la demande sort du scolaire — enseignement supérieur, formation d’adultes, thème imaginaire — il ne le fait pas, car les programmes n’apporteraient que du bruit. Et quand vous fournissez vos propres documents, ce sont eux la référence. Il n’y a aucun bouton : la décision se déduit de ce que vous avez saisi, dans les douze langues de l’interface.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commence par deux champs. Qui êtes-vous : une réponse courte suffit, « professeur de mathématiques », « formatrice académique ». Que souhaitez-vous aborder : c’est le cœur de la demande, et plus elle est précise, meilleure est l’activité — le thème, le niveau, les contraintes. Le mode avancé ajoute des champs structurés, dont le nombre de questions, et la zone des documents. Chaque champ peut aussi se dicter au micro.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facultatif, mais c’est souvent là que Caramel donne le meilleur. Dans le mode avancé, on colle un texte ou on dépose ses documents : un cours, un manuel en PDF, un diaporama, une photo de page, un enregistrement audio ou vidéo dont la bande-son est transcrite, ou encore une page web par son lien. L’IA travaille alors exclusivement à partir de ces sources : elles priment sur ses connaissances générales et sur les programmes. Sans document, l’IA s’appuie sur ses connaissances.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tuile est un type d’activité. Les filtres aident à s’y retrouver : par famille — quiz et tests, manipulation de texte, mémorisation et découverte — et par plateforme. Les activités H5P fonctionnent sur Éléa, Magistère et Moodle ; les modules Moodle, comme la Page, le Livre ou le Test, deviennent des éléments natifs du cours. Un clic sur une tuile ouvre sa fenêtre de génération.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fenêtre d’une tuile offre deux usages. En mode Simple, un seul bouton, « Générer en un clic » : l’IA intégrée, hébergée en France, prépare l’activité en quelques dizaines de secondes, et plusieurs modèles sont au choix. En mode Guidé, le prompt apparaît : c’est l’ensemble des consignes envoyées à l’IA. On peut le lire, le modifier, le verrouiller, ou le copier vers l’IA de son choix puis coller sa réponse dans le panneau de droite. Rien n’est caché : ce que l’IA reçoit, vous pouvez le lire.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l’activité générée, l’aperçu la montre telle que les élèves la verront, et on peut la jouer. L’éditeur visuel, derrière le bouton « Éditer », reprend chaque élément : à gauche la liste des questions ou des cartes, à droite le détail. Texte enrichi, formules mathématiques avec un assistant, images, réglages : tout se corrige sans toucher au code. C’est l’étape à ne jamais sauter — l’IA peut se tromper.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barre du bas de l’aperçu rassemble les sorties. Pour la plateforme : le fichier H5P, ou selon l’activité un .mbz ou un .xml pour la banque de questions et le glossaire. Pour la classe : une version imprimable en Word, LibreOffice ou PDF, où les formules mathématiques restent éditables. Et pour les collègues : « Vers la Sucrerie » dépose l’activité dans la bibliothèque partagée.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format a son chemin d’import, détaillé avec captures dans le tutoriel intégré. Le fichier H5P s’ajoute comme toute activité H5P ; sur Éléa, un simple glisser-déposer dans la section suffit aussi. Le .mbz s’importe sans écraser le contenu du cours. Le .xml alimente la banque de questions ou un glossaire. Et l’activité n’est jamais figée : elle se modifie dans l’éditeur H5P de la plateforme, ou hors ligne avec des logiciels comme Lumi ou Logiquiz ; Digiquiz permet de la diffuser sans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d’une activité, Caramel prépare un parcours entier : plusieurs activités organisées en étapes, livrées dans un seul fichier de cours. Le commutateur « Un parcours », sous le formulaire, ouvre l’atelier. Le cadrage tient en trois questions : la plateforme, le déroulé — en classe, à distance ou les deux — et l’ampleur, d’une séance à une séquence entière. On peut aussi partir d’une trame toute faite.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 propose un plan : des étapes, des activités, leur durée et leurs consignes. Rien n’est imposé. On réordonne, on change le type d’une activité, on ajuste une durée, on ajoute ou on retire. Le cadenas réserve une place pour une activité dont on fournira soi-même le contenu. Une relecture didactique signale ce qui mérite attention, selon six repères. C’est seulement quand le plan vous convient que la fabrication commence.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fabrication génère les activités une à une, sous vos yeux. Chacune peut être relue, essayée, modifiée ou générée à nouveau. À la livraison, un seul fichier .mbz contient tout le cours : sections, activités, consignes. Il se restaure dans un cours existant de la plateforme. S’y ajoutent la fiche de séquence et le détail des activités en Word, LibreOffice ou PDF, et un fichier de scénario qui permet de rouvrir le parcours dans Caramel pour le reprendre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Sucrerie est la bibliothèque publique qui accompagne Caramel. On y consulte et on y essaie les activités des collègues, on les télécharge dans de nombreux formats, et on y dépose les siennes — directement depuis Caramel avec le bouton « Vers la Sucrerie ». Déposer est un choix volontaire qui vaut publication : l’activité est diffusée sous licence libre CC BY-SA, et l’adresse académique sert seulement d’identifiant. On certifie détenir les droits et qu’aucune donnée personnelle n’y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appuis accompagnent les collègues après la formation. Caramelia, l’assistante intégrée — la bulle en bas à droite — répond aux questions sur l’outil et peut préparer une activité ou un parcours avec vous. Le tutoriel, en haut de l’écran, reprend chaque étape pas à pas. Le wiki est le guide complet. Et le salon Tchap réunit la communauté : questions, idées, entraide.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réflexes à transmettre. Relire avant de diffuser : l’IA peut se tromper sur un fait, une réponse, une consigne ; l’enseignant reste l’auteur de ce qu’il donne aux élèves. Protéger les élèves : aucune donnée personnelle. Respecter les droits des documents et des images utilisés. Tester l’activité sur un espace de test avant la classe. Et signaler les problèmes : c’est ainsi que Caramel s’améliore.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proposition de déroulé pour une séance d’établissement. Cinq minutes de vidéo pour poser le décor, dix minutes de démonstration en direct sur une activité de la discipline du groupe, vingt minutes d’atelier où chacun prépare une activité pour sa classe, la relit et la corrige, puis dix minutes de retour collectif. Pour un format plus ludique, testé au MoodleMoot 2026 : chaque groupe prépare au moins trois activités sur un même thème et les rassemble dans une collection sur la Sucrerie, que les autres découvrent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liens utiles, cliquables dans le diaporama. Le premier QR code ouvre Caramel directement sur un téléphone ou une tablette ; le second mène à la page de présentation, où l’on retrouve ce diaporama, la vidéo et des activités à essayer. Le bac à sable permet aux curieux de tester les nouveautés avant tout le monde, et de les commenter sur Tchap.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Caramel s’ouvre à l’adresse caramel.forge.apps.education.fr, gratuitement et sans compte. Invitez chacun à préparer une activité pour sa propre classe, à la relire dans l’éditeur, puis à la déposer sur un espace de test. Les contacts des deux co-créateurs figurent ici pour toute question. Ce support correspond à Caramel 7.0.1, dans sa version du 30 septembre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aramel.forge.apps.education.fr/" TargetMode="External"/><Relationship Id="rId1" Type="http://schemas.openxmlformats.org/officeDocument/2006/relationships/image" Target="../media/image-1-1.png"/><Relationship Id="rId3" Type="http://schemas.openxmlformats.org/officeDocument/2006/relationships/image" Target="../media/image-1-2.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mailto:emmanuel.gaunard@ac-grenoble.fr" TargetMode="External"/><Relationship Id="rId6" Type="http://schemas.openxmlformats.org/officeDocument/2006/relationships/hyperlink" Target="mailto:gauthier.remande@ac-nantes.fr" TargetMode="External"/><Relationship Id="rId1" Type="http://schemas.openxmlformats.org/officeDocument/2006/relationships/image" Target="../media/image-2-1.jpg"/><Relationship Id="rId2" Type="http://schemas.openxmlformats.org/officeDocument/2006/relationships/image" Target="../media/image-2-2.png"/><Relationship Id="rId4" Type="http://schemas.openxmlformats.org/officeDocument/2006/relationships/image" Target="../media/image-2-3.jpg"/><Relationship Id="rId5" Type="http://schemas.openxmlformats.org/officeDocument/2006/relationships/image" Target="../media/image-2-2.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jp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sucrerie.forge.apps.education.fr/" TargetMode="External"/><Relationship Id="rId1" Type="http://schemas.openxmlformats.org/officeDocument/2006/relationships/image" Target="../media/image-19-1.png"/><Relationship Id="rId2" Type="http://schemas.openxmlformats.org/officeDocument/2006/relationships/image" Target="../media/image-19-2.png"/><Relationship Id="rId4" Type="http://schemas.openxmlformats.org/officeDocument/2006/relationships/image" Target="../media/image-19-3.jp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caramel.forge.apps.education.fr/" TargetMode="External"/><Relationship Id="rId4" Type="http://schemas.openxmlformats.org/officeDocument/2006/relationships/hyperlink" Target="https://caramel.forge.apps.education.fr/decouvrir/" TargetMode="External"/><Relationship Id="rId6" Type="http://schemas.openxmlformats.org/officeDocument/2006/relationships/hyperlink" Target="https://sucrerie.forge.apps.education.fr/" TargetMode="External"/><Relationship Id="rId7" Type="http://schemas.openxmlformats.org/officeDocument/2006/relationships/hyperlink" Target="https://edurl.fr/sucrerie-tchap" TargetMode="External"/><Relationship Id="rId9" Type="http://schemas.openxmlformats.org/officeDocument/2006/relationships/hyperlink" Target="https://forge.apps.education.fr/caramel/caramel/-/wikis/home" TargetMode="External"/><Relationship Id="rId11" Type="http://schemas.openxmlformats.org/officeDocument/2006/relationships/hyperlink" Target="https://edurl.fr/caramel-tchap" TargetMode="External"/><Relationship Id="rId13" Type="http://schemas.openxmlformats.org/officeDocument/2006/relationships/hyperlink" Target="https://podeduc.apps.education.fr/video/161411-caramel-7/" TargetMode="External"/><Relationship Id="rId15" Type="http://schemas.openxmlformats.org/officeDocument/2006/relationships/hyperlink" Target="https://forge.apps.education.fr/caramel/caramel" TargetMode="External"/><Relationship Id="rId17" Type="http://schemas.openxmlformats.org/officeDocument/2006/relationships/hyperlink" Target="https://caramel.forge.apps.education.fr/bas/" TargetMode="External"/><Relationship Id="rId1" Type="http://schemas.openxmlformats.org/officeDocument/2006/relationships/image" Target="../media/image-23-1.png"/><Relationship Id="rId3" Type="http://schemas.openxmlformats.org/officeDocument/2006/relationships/image" Target="../media/image-23-2.png"/><Relationship Id="rId5" Type="http://schemas.openxmlformats.org/officeDocument/2006/relationships/image" Target="../media/image-23-3.png"/><Relationship Id="rId8" Type="http://schemas.openxmlformats.org/officeDocument/2006/relationships/image" Target="../media/image-23-4.png"/><Relationship Id="rId10" Type="http://schemas.openxmlformats.org/officeDocument/2006/relationships/image" Target="../media/image-23-5.png"/><Relationship Id="rId12" Type="http://schemas.openxmlformats.org/officeDocument/2006/relationships/image" Target="../media/image-23-6.png"/><Relationship Id="rId14" Type="http://schemas.openxmlformats.org/officeDocument/2006/relationships/image" Target="../media/image-23-7.png"/><Relationship Id="rId16" Type="http://schemas.openxmlformats.org/officeDocument/2006/relationships/image" Target="../media/image-23-8.png"/><Relationship Id="rId18" Type="http://schemas.openxmlformats.org/officeDocument/2006/relationships/image" Target="../media/image-23-9.png"/><Relationship Id="rId19" Type="http://schemas.openxmlformats.org/officeDocument/2006/relationships/image" Target="../media/image-23-10.png"/><Relationship Id="rId20" Type="http://schemas.openxmlformats.org/officeDocument/2006/relationships/slideLayout" Target="../slideLayouts/slideLayout1.xml"/><Relationship Id="rId2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caramel.forge.apps.education.fr/" TargetMode="External"/><Relationship Id="rId4" Type="http://schemas.openxmlformats.org/officeDocument/2006/relationships/hyperlink" Target="mailto:emmanuel.gaunard@ac-grenoble.fr" TargetMode="External"/><Relationship Id="rId5" Type="http://schemas.openxmlformats.org/officeDocument/2006/relationships/hyperlink" Target="mailto:gauthier.remande@ac-nantes.fr" TargetMode="External"/><Relationship Id="rId1" Type="http://schemas.openxmlformats.org/officeDocument/2006/relationships/image" Target="../media/image-24-1.png"/><Relationship Id="rId2" Type="http://schemas.openxmlformats.org/officeDocument/2006/relationships/image" Target="../media/image-24-2.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var/folders/b7/tkzbyvzx72qcg9wb0t1jybvm0000gn/T/diaporama-zLbeHS/logo-caramel.png">    </p:cNvPr>
          <p:cNvPicPr>
            <a:picLocks noChangeAspect="1"/>
          </p:cNvPicPr>
          <p:nvPr/>
        </p:nvPicPr>
        <p:blipFill>
          <a:blip r:embed="rId1"/>
          <a:stretch>
            <a:fillRect/>
          </a:stretch>
        </p:blipFill>
        <p:spPr>
          <a:xfrm>
            <a:off x="777240" y="1051560"/>
            <a:ext cx="1051560" cy="1051560"/>
          </a:xfrm>
          <a:prstGeom prst="rect">
            <a:avLst/>
          </a:prstGeom>
        </p:spPr>
      </p:pic>
      <p:sp>
        <p:nvSpPr>
          <p:cNvPr id="3" name="Text 0"/>
          <p:cNvSpPr txBox="1"/>
          <p:nvPr/>
        </p:nvSpPr>
        <p:spPr>
          <a:xfrm>
            <a:off x="777240" y="2240280"/>
            <a:ext cx="5120640" cy="868680"/>
          </a:xfrm>
          <a:prstGeom prst="rect">
            <a:avLst/>
          </a:prstGeom>
          <a:noFill/>
          <a:ln/>
        </p:spPr>
        <p:txBody>
          <a:bodyPr wrap="square" lIns="0" tIns="0" rIns="0" bIns="0" rtlCol="0" anchor="t"/>
          <a:lstStyle/>
          <a:p>
            <a:pPr indent="0" marL="0">
              <a:buNone/>
            </a:pPr>
            <a:r>
              <a:rPr lang="en-US" sz="5400" b="1" dirty="0">
                <a:solidFill>
                  <a:srgbClr val="1D1D1F"/>
                </a:solidFill>
                <a:latin typeface="Arial" pitchFamily="34" charset="0"/>
                <a:ea typeface="Arial" pitchFamily="34" charset="-122"/>
                <a:cs typeface="Arial" pitchFamily="34" charset="-120"/>
              </a:rPr>
              <a:t>Caramel</a:t>
            </a:r>
            <a:endParaRPr lang="en-US" sz="5400" dirty="0"/>
          </a:p>
        </p:txBody>
      </p:sp>
      <p:sp>
        <p:nvSpPr>
          <p:cNvPr id="4" name="Text 1"/>
          <p:cNvSpPr txBox="1"/>
          <p:nvPr/>
        </p:nvSpPr>
        <p:spPr>
          <a:xfrm>
            <a:off x="777240" y="3154680"/>
            <a:ext cx="4937760" cy="1143000"/>
          </a:xfrm>
          <a:prstGeom prst="rect">
            <a:avLst/>
          </a:prstGeom>
          <a:noFill/>
          <a:ln/>
        </p:spPr>
        <p:txBody>
          <a:bodyPr wrap="square" lIns="0" tIns="0" rIns="0" bIns="0" rtlCol="0" anchor="t"/>
          <a:lstStyle/>
          <a:p>
            <a:pPr indent="0" marL="0">
              <a:lnSpc>
                <a:spcPct val="110000"/>
              </a:lnSpc>
              <a:buNone/>
            </a:pPr>
            <a:r>
              <a:rPr lang="en-US" sz="2100" dirty="0">
                <a:solidFill>
                  <a:srgbClr val="4A4A4F"/>
                </a:solidFill>
                <a:latin typeface="Arial" pitchFamily="34" charset="0"/>
                <a:ea typeface="Arial" pitchFamily="34" charset="-122"/>
                <a:cs typeface="Arial" pitchFamily="34" charset="-120"/>
              </a:rPr>
              <a:t>Préparer avec l’IA des activités interactives et des parcours pour Éléa, Magistère et Moodle</a:t>
            </a:r>
            <a:endParaRPr lang="en-US" sz="2100" dirty="0"/>
          </a:p>
        </p:txBody>
      </p:sp>
      <p:sp>
        <p:nvSpPr>
          <p:cNvPr id="5" name="Text 2"/>
          <p:cNvSpPr txBox="1"/>
          <p:nvPr/>
        </p:nvSpPr>
        <p:spPr>
          <a:xfrm>
            <a:off x="777240" y="4315968"/>
            <a:ext cx="4937760" cy="274320"/>
          </a:xfrm>
          <a:prstGeom prst="rect">
            <a:avLst/>
          </a:prstGeom>
          <a:noFill/>
          <a:ln/>
        </p:spPr>
        <p:txBody>
          <a:bodyPr wrap="square" lIns="0" tIns="0" rIns="0" bIns="0" rtlCol="0" anchor="t"/>
          <a:lstStyle/>
          <a:p>
            <a:pPr indent="0" marL="0">
              <a:buNone/>
            </a:pPr>
            <a:r>
              <a:rPr lang="en-US" sz="1200" i="1" dirty="0">
                <a:solidFill>
                  <a:srgbClr val="6E6E73"/>
                </a:solidFill>
                <a:latin typeface="Arial" pitchFamily="34" charset="0"/>
                <a:ea typeface="Arial" pitchFamily="34" charset="-122"/>
                <a:cs typeface="Arial" pitchFamily="34" charset="-120"/>
              </a:rPr>
              <a:t>Création Assistée de Ressources et d’Activités Magistère et Éléa</a:t>
            </a:r>
            <a:endParaRPr lang="en-US" sz="1200" dirty="0"/>
          </a:p>
        </p:txBody>
      </p:sp>
      <p:sp>
        <p:nvSpPr>
          <p:cNvPr id="6" name="Text 3"/>
          <p:cNvSpPr txBox="1"/>
          <p:nvPr/>
        </p:nvSpPr>
        <p:spPr>
          <a:xfrm>
            <a:off x="777240" y="5074920"/>
            <a:ext cx="4937760" cy="320040"/>
          </a:xfrm>
          <a:prstGeom prst="rect">
            <a:avLst/>
          </a:prstGeom>
          <a:noFill/>
          <a:ln/>
        </p:spPr>
        <p:txBody>
          <a:bodyPr wrap="square" lIns="0" tIns="0" rIns="0" bIns="0" rtlCol="0" anchor="t"/>
          <a:lstStyle/>
          <a:p>
            <a:pPr indent="0" marL="0">
              <a:buNone/>
            </a:pPr>
            <a:r>
              <a:rPr lang="en-US" sz="1600" b="1" u="sng" dirty="0">
                <a:solidFill>
                  <a:srgbClr val="0056B3"/>
                </a:solidFill>
                <a:latin typeface="Arial" pitchFamily="34" charset="0"/>
                <a:ea typeface="Arial" pitchFamily="34" charset="-122"/>
                <a:cs typeface="Arial" pitchFamily="34" charset="-120"/>
                <a:hlinkClick r:id="rId2" invalidUrl="" action="" tgtFrame="" tooltip="https://caramel.forge.apps.education.fr/" history="1" highlightClick="0" endSnd="0">
                  <a:extLst>
                    <a:ext uri="{A12FA001-AC4F-418D-AE19-62706E023703}">
                      <ahyp:hlinkClr xmlns:ahyp="http://schemas.microsoft.com/office/drawing/2018/hyperlinkcolor" val="tx"/>
                    </a:ext>
                  </a:extLst>
                </a:hlinkClick>
              </a:rPr>
              <a:t>caramel.forge.apps.education.fr</a:t>
            </a:r>
            <a:endParaRPr lang="en-US" sz="1600" dirty="0"/>
          </a:p>
        </p:txBody>
      </p:sp>
      <p:sp>
        <p:nvSpPr>
          <p:cNvPr id="7" name="Text 4"/>
          <p:cNvSpPr txBox="1"/>
          <p:nvPr/>
        </p:nvSpPr>
        <p:spPr>
          <a:xfrm>
            <a:off x="777240" y="5532120"/>
            <a:ext cx="5120640" cy="27432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Support de présentation · Caramel v7.0.1 · 30 septembre 2026</a:t>
            </a:r>
            <a:endParaRPr lang="en-US" sz="1200" dirty="0"/>
          </a:p>
        </p:txBody>
      </p:sp>
      <p:sp>
        <p:nvSpPr>
          <p:cNvPr id="8" name="Shape 5"/>
          <p:cNvSpPr/>
          <p:nvPr/>
        </p:nvSpPr>
        <p:spPr>
          <a:xfrm>
            <a:off x="6053328" y="1252728"/>
            <a:ext cx="5724144" cy="3632454"/>
          </a:xfrm>
          <a:prstGeom prst="roundRect">
            <a:avLst>
              <a:gd name="adj" fmla="val 30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9" name="Image 1" descr="/var/folders/b7/tkzbyvzx72qcg9wb0t1jybvm0000gn/T/diaporama-zLbeHS/accueil.jpg">    </p:cNvPr>
          <p:cNvPicPr>
            <a:picLocks noChangeAspect="1"/>
          </p:cNvPicPr>
          <p:nvPr/>
        </p:nvPicPr>
        <p:blipFill>
          <a:blip r:embed="rId3"/>
          <a:stretch>
            <a:fillRect/>
          </a:stretch>
        </p:blipFill>
        <p:spPr>
          <a:xfrm>
            <a:off x="6126480" y="1325880"/>
            <a:ext cx="5577840" cy="34861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Qui sommes-nous ?</a:t>
            </a:r>
            <a:endParaRPr lang="en-US" sz="3000" dirty="0"/>
          </a:p>
        </p:txBody>
      </p:sp>
      <p:sp>
        <p:nvSpPr>
          <p:cNvPr id="3" name="Text 1"/>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700" dirty="0">
                <a:solidFill>
                  <a:srgbClr val="4A4A4F"/>
                </a:solidFill>
                <a:latin typeface="Arial" pitchFamily="34" charset="0"/>
                <a:ea typeface="Arial" pitchFamily="34" charset="-122"/>
                <a:cs typeface="Arial" pitchFamily="34" charset="-120"/>
              </a:rPr>
              <a:t>Deux enseignants, un projet commun pour préparer et partager des activités pédagogiques.</a:t>
            </a:r>
            <a:endParaRPr lang="en-US" sz="1700" dirty="0"/>
          </a:p>
        </p:txBody>
      </p:sp>
      <p:sp>
        <p:nvSpPr>
          <p:cNvPr id="4" name="Shape 2"/>
          <p:cNvSpPr/>
          <p:nvPr/>
        </p:nvSpPr>
        <p:spPr>
          <a:xfrm>
            <a:off x="548640" y="2011680"/>
            <a:ext cx="5364328" cy="2377440"/>
          </a:xfrm>
          <a:prstGeom prst="roundRect">
            <a:avLst>
              <a:gd name="adj" fmla="val 6154"/>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Portrait de Emmanuel Gaunard">    </p:cNvPr>
          <p:cNvPicPr>
            <a:picLocks noChangeAspect="1"/>
          </p:cNvPicPr>
          <p:nvPr/>
        </p:nvPicPr>
        <p:blipFill>
          <a:blip r:embed="rId1"/>
          <a:stretch>
            <a:fillRect/>
          </a:stretch>
        </p:blipFill>
        <p:spPr>
          <a:xfrm>
            <a:off x="868680" y="2354580"/>
            <a:ext cx="1691640" cy="1691640"/>
          </a:xfrm>
          <a:prstGeom prst="ellipse">
            <a:avLst/>
          </a:prstGeom>
        </p:spPr>
      </p:pic>
      <p:sp>
        <p:nvSpPr>
          <p:cNvPr id="6" name="Text 3"/>
          <p:cNvSpPr txBox="1"/>
          <p:nvPr/>
        </p:nvSpPr>
        <p:spPr>
          <a:xfrm>
            <a:off x="2880360" y="2286000"/>
            <a:ext cx="2804008" cy="411480"/>
          </a:xfrm>
          <a:prstGeom prst="rect">
            <a:avLst/>
          </a:prstGeom>
          <a:noFill/>
          <a:ln/>
        </p:spPr>
        <p:txBody>
          <a:bodyPr wrap="square" lIns="0" tIns="0" rIns="0" bIns="0" rtlCol="0" anchor="t"/>
          <a:lstStyle/>
          <a:p>
            <a:pPr indent="0" marL="0">
              <a:buNone/>
            </a:pPr>
            <a:r>
              <a:rPr lang="en-US" sz="2100" b="1" dirty="0">
                <a:solidFill>
                  <a:srgbClr val="1D1D1F"/>
                </a:solidFill>
                <a:latin typeface="Arial" pitchFamily="34" charset="0"/>
                <a:ea typeface="Arial" pitchFamily="34" charset="-122"/>
                <a:cs typeface="Arial" pitchFamily="34" charset="-120"/>
              </a:rPr>
              <a:t>Emmanuel Gaunard</a:t>
            </a:r>
            <a:endParaRPr lang="en-US" sz="2100" dirty="0"/>
          </a:p>
        </p:txBody>
      </p:sp>
      <p:sp>
        <p:nvSpPr>
          <p:cNvPr id="7" name="Text 4"/>
          <p:cNvSpPr txBox="1"/>
          <p:nvPr/>
        </p:nvSpPr>
        <p:spPr>
          <a:xfrm>
            <a:off x="2880360" y="2743200"/>
            <a:ext cx="2804008" cy="731520"/>
          </a:xfrm>
          <a:prstGeom prst="rect">
            <a:avLst/>
          </a:prstGeom>
          <a:noFill/>
          <a:ln/>
        </p:spPr>
        <p:txBody>
          <a:bodyPr wrap="square" lIns="0" tIns="0" rIns="0" bIns="0" rtlCol="0" anchor="t"/>
          <a:lstStyle/>
          <a:p>
            <a:pPr indent="0" marL="0">
              <a:lnSpc>
                <a:spcPct val="105000"/>
              </a:lnSpc>
              <a:buNone/>
            </a:pPr>
            <a:r>
              <a:rPr lang="en-US" sz="1350" dirty="0">
                <a:solidFill>
                  <a:srgbClr val="4A4A4F"/>
                </a:solidFill>
                <a:latin typeface="Arial" pitchFamily="34" charset="0"/>
                <a:ea typeface="Arial" pitchFamily="34" charset="-122"/>
                <a:cs typeface="Arial" pitchFamily="34" charset="-120"/>
              </a:rPr>
              <a:t>Professeur de mathématiques</a:t>
            </a:r>
            <a:endParaRPr lang="en-US" sz="1350" dirty="0"/>
          </a:p>
          <a:p>
            <a:pPr indent="0" marL="0">
              <a:lnSpc>
                <a:spcPct val="105000"/>
              </a:lnSpc>
              <a:buNone/>
            </a:pPr>
            <a:r>
              <a:rPr lang="en-US" sz="1350" dirty="0">
                <a:solidFill>
                  <a:srgbClr val="4A4A4F"/>
                </a:solidFill>
                <a:latin typeface="Arial" pitchFamily="34" charset="0"/>
                <a:ea typeface="Arial" pitchFamily="34" charset="-122"/>
                <a:cs typeface="Arial" pitchFamily="34" charset="-120"/>
              </a:rPr>
              <a:t>Chargé de mission DRANE</a:t>
            </a:r>
            <a:endParaRPr lang="en-US" sz="1350" dirty="0"/>
          </a:p>
        </p:txBody>
      </p:sp>
      <p:sp>
        <p:nvSpPr>
          <p:cNvPr id="8" name="Text 5"/>
          <p:cNvSpPr txBox="1"/>
          <p:nvPr/>
        </p:nvSpPr>
        <p:spPr>
          <a:xfrm>
            <a:off x="2880360" y="3529584"/>
            <a:ext cx="2804008" cy="274320"/>
          </a:xfrm>
          <a:prstGeom prst="rect">
            <a:avLst/>
          </a:prstGeom>
          <a:noFill/>
          <a:ln/>
        </p:spPr>
        <p:txBody>
          <a:bodyPr wrap="square" lIns="0" tIns="0" rIns="0" bIns="0" rtlCol="0" anchor="t"/>
          <a:lstStyle/>
          <a:p>
            <a:pPr indent="0" marL="0">
              <a:buNone/>
            </a:pPr>
            <a:r>
              <a:rPr lang="en-US" sz="1300" dirty="0">
                <a:solidFill>
                  <a:srgbClr val="6E6E73"/>
                </a:solidFill>
                <a:latin typeface="Arial" pitchFamily="34" charset="0"/>
                <a:ea typeface="Arial" pitchFamily="34" charset="-122"/>
                <a:cs typeface="Arial" pitchFamily="34" charset="-120"/>
              </a:rPr>
              <a:t>Académie de Grenoble</a:t>
            </a:r>
            <a:endParaRPr lang="en-US" sz="1300" dirty="0"/>
          </a:p>
        </p:txBody>
      </p:sp>
      <p:pic>
        <p:nvPicPr>
          <p:cNvPr id="9" name="Image 1" descr="/var/folders/b7/tkzbyvzx72qcg9wb0t1jybvm0000gn/T/diaporama-zLbeHS/icone-36.png">    </p:cNvPr>
          <p:cNvPicPr>
            <a:picLocks noChangeAspect="1"/>
          </p:cNvPicPr>
          <p:nvPr/>
        </p:nvPicPr>
        <p:blipFill>
          <a:blip r:embed="rId2"/>
          <a:stretch>
            <a:fillRect/>
          </a:stretch>
        </p:blipFill>
        <p:spPr>
          <a:xfrm>
            <a:off x="2880360" y="3922776"/>
            <a:ext cx="182880" cy="182880"/>
          </a:xfrm>
          <a:prstGeom prst="rect">
            <a:avLst/>
          </a:prstGeom>
        </p:spPr>
      </p:pic>
      <p:sp>
        <p:nvSpPr>
          <p:cNvPr id="10" name="Text 6"/>
          <p:cNvSpPr txBox="1"/>
          <p:nvPr/>
        </p:nvSpPr>
        <p:spPr>
          <a:xfrm>
            <a:off x="3154680" y="3886200"/>
            <a:ext cx="2621128" cy="274320"/>
          </a:xfrm>
          <a:prstGeom prst="rect">
            <a:avLst/>
          </a:prstGeom>
          <a:noFill/>
          <a:ln/>
        </p:spPr>
        <p:txBody>
          <a:bodyPr wrap="square" lIns="0" tIns="0" rIns="0" bIns="0" rtlCol="0" anchor="t"/>
          <a:lstStyle/>
          <a:p>
            <a:pPr indent="0" marL="0">
              <a:buNone/>
            </a:pPr>
            <a:r>
              <a:rPr lang="en-US" sz="1300" u="sng" dirty="0">
                <a:solidFill>
                  <a:srgbClr val="0056B3"/>
                </a:solidFill>
                <a:latin typeface="Arial" pitchFamily="34" charset="0"/>
                <a:ea typeface="Arial" pitchFamily="34" charset="-122"/>
                <a:cs typeface="Arial" pitchFamily="34" charset="-120"/>
                <a:hlinkClick r:id="rId3" invalidUrl="" action="" tgtFrame="" tooltip="mailto:emmanuel.gaunard@ac-grenoble.fr" history="1" highlightClick="0" endSnd="0">
                  <a:extLst>
                    <a:ext uri="{A12FA001-AC4F-418D-AE19-62706E023703}">
                      <ahyp:hlinkClr xmlns:ahyp="http://schemas.microsoft.com/office/drawing/2018/hyperlinkcolor" val="tx"/>
                    </a:ext>
                  </a:extLst>
                </a:hlinkClick>
              </a:rPr>
              <a:t>emmanuel.gaunard@ac-grenoble.fr</a:t>
            </a:r>
            <a:endParaRPr lang="en-US" sz="1300" dirty="0"/>
          </a:p>
        </p:txBody>
      </p:sp>
      <p:sp>
        <p:nvSpPr>
          <p:cNvPr id="11" name="Shape 7"/>
          <p:cNvSpPr/>
          <p:nvPr/>
        </p:nvSpPr>
        <p:spPr>
          <a:xfrm>
            <a:off x="6278728" y="2011680"/>
            <a:ext cx="5364328" cy="2377440"/>
          </a:xfrm>
          <a:prstGeom prst="roundRect">
            <a:avLst>
              <a:gd name="adj" fmla="val 6154"/>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12" name="Image 2" descr="Portrait de Gauthier Remande">    </p:cNvPr>
          <p:cNvPicPr>
            <a:picLocks noChangeAspect="1"/>
          </p:cNvPicPr>
          <p:nvPr/>
        </p:nvPicPr>
        <p:blipFill>
          <a:blip r:embed="rId4"/>
          <a:stretch>
            <a:fillRect/>
          </a:stretch>
        </p:blipFill>
        <p:spPr>
          <a:xfrm>
            <a:off x="6598768" y="2354580"/>
            <a:ext cx="1691640" cy="1691640"/>
          </a:xfrm>
          <a:prstGeom prst="ellipse">
            <a:avLst/>
          </a:prstGeom>
        </p:spPr>
      </p:pic>
      <p:sp>
        <p:nvSpPr>
          <p:cNvPr id="13" name="Text 8"/>
          <p:cNvSpPr txBox="1"/>
          <p:nvPr/>
        </p:nvSpPr>
        <p:spPr>
          <a:xfrm>
            <a:off x="8610448" y="2286000"/>
            <a:ext cx="2804008" cy="411480"/>
          </a:xfrm>
          <a:prstGeom prst="rect">
            <a:avLst/>
          </a:prstGeom>
          <a:noFill/>
          <a:ln/>
        </p:spPr>
        <p:txBody>
          <a:bodyPr wrap="square" lIns="0" tIns="0" rIns="0" bIns="0" rtlCol="0" anchor="t"/>
          <a:lstStyle/>
          <a:p>
            <a:pPr indent="0" marL="0">
              <a:buNone/>
            </a:pPr>
            <a:r>
              <a:rPr lang="en-US" sz="2100" b="1" dirty="0">
                <a:solidFill>
                  <a:srgbClr val="1D1D1F"/>
                </a:solidFill>
                <a:latin typeface="Arial" pitchFamily="34" charset="0"/>
                <a:ea typeface="Arial" pitchFamily="34" charset="-122"/>
                <a:cs typeface="Arial" pitchFamily="34" charset="-120"/>
              </a:rPr>
              <a:t>Gauthier Remande</a:t>
            </a:r>
            <a:endParaRPr lang="en-US" sz="2100" dirty="0"/>
          </a:p>
        </p:txBody>
      </p:sp>
      <p:sp>
        <p:nvSpPr>
          <p:cNvPr id="14" name="Text 9"/>
          <p:cNvSpPr txBox="1"/>
          <p:nvPr/>
        </p:nvSpPr>
        <p:spPr>
          <a:xfrm>
            <a:off x="8610448" y="2743200"/>
            <a:ext cx="2804008" cy="731520"/>
          </a:xfrm>
          <a:prstGeom prst="rect">
            <a:avLst/>
          </a:prstGeom>
          <a:noFill/>
          <a:ln/>
        </p:spPr>
        <p:txBody>
          <a:bodyPr wrap="square" lIns="0" tIns="0" rIns="0" bIns="0" rtlCol="0" anchor="t"/>
          <a:lstStyle/>
          <a:p>
            <a:pPr indent="0" marL="0">
              <a:lnSpc>
                <a:spcPct val="105000"/>
              </a:lnSpc>
              <a:buNone/>
            </a:pPr>
            <a:r>
              <a:rPr lang="en-US" sz="1350" dirty="0">
                <a:solidFill>
                  <a:srgbClr val="4A4A4F"/>
                </a:solidFill>
                <a:latin typeface="Arial" pitchFamily="34" charset="0"/>
                <a:ea typeface="Arial" pitchFamily="34" charset="-122"/>
                <a:cs typeface="Arial" pitchFamily="34" charset="-120"/>
              </a:rPr>
              <a:t>Professeur de Lettres-Histoire</a:t>
            </a:r>
            <a:endParaRPr lang="en-US" sz="1350" dirty="0"/>
          </a:p>
          <a:p>
            <a:pPr indent="0" marL="0">
              <a:lnSpc>
                <a:spcPct val="105000"/>
              </a:lnSpc>
              <a:buNone/>
            </a:pPr>
            <a:r>
              <a:rPr lang="en-US" sz="1350" dirty="0">
                <a:solidFill>
                  <a:srgbClr val="4A4A4F"/>
                </a:solidFill>
                <a:latin typeface="Arial" pitchFamily="34" charset="0"/>
                <a:ea typeface="Arial" pitchFamily="34" charset="-122"/>
                <a:cs typeface="Arial" pitchFamily="34" charset="-120"/>
              </a:rPr>
              <a:t>en lycée professionnel</a:t>
            </a:r>
            <a:endParaRPr lang="en-US" sz="1350" dirty="0"/>
          </a:p>
          <a:p>
            <a:pPr indent="0" marL="0">
              <a:lnSpc>
                <a:spcPct val="105000"/>
              </a:lnSpc>
              <a:buNone/>
            </a:pPr>
            <a:r>
              <a:rPr lang="en-US" sz="1350" dirty="0">
                <a:solidFill>
                  <a:srgbClr val="4A4A4F"/>
                </a:solidFill>
                <a:latin typeface="Arial" pitchFamily="34" charset="0"/>
                <a:ea typeface="Arial" pitchFamily="34" charset="-122"/>
                <a:cs typeface="Arial" pitchFamily="34" charset="-120"/>
              </a:rPr>
              <a:t>Membre de l’équipe nationale Éléa</a:t>
            </a:r>
            <a:endParaRPr lang="en-US" sz="1350" dirty="0"/>
          </a:p>
        </p:txBody>
      </p:sp>
      <p:sp>
        <p:nvSpPr>
          <p:cNvPr id="15" name="Text 10"/>
          <p:cNvSpPr txBox="1"/>
          <p:nvPr/>
        </p:nvSpPr>
        <p:spPr>
          <a:xfrm>
            <a:off x="8610448" y="3529584"/>
            <a:ext cx="2804008" cy="274320"/>
          </a:xfrm>
          <a:prstGeom prst="rect">
            <a:avLst/>
          </a:prstGeom>
          <a:noFill/>
          <a:ln/>
        </p:spPr>
        <p:txBody>
          <a:bodyPr wrap="square" lIns="0" tIns="0" rIns="0" bIns="0" rtlCol="0" anchor="t"/>
          <a:lstStyle/>
          <a:p>
            <a:pPr indent="0" marL="0">
              <a:buNone/>
            </a:pPr>
            <a:r>
              <a:rPr lang="en-US" sz="1300" dirty="0">
                <a:solidFill>
                  <a:srgbClr val="6E6E73"/>
                </a:solidFill>
                <a:latin typeface="Arial" pitchFamily="34" charset="0"/>
                <a:ea typeface="Arial" pitchFamily="34" charset="-122"/>
                <a:cs typeface="Arial" pitchFamily="34" charset="-120"/>
              </a:rPr>
              <a:t>Académie de Nantes</a:t>
            </a:r>
            <a:endParaRPr lang="en-US" sz="1300" dirty="0"/>
          </a:p>
        </p:txBody>
      </p:sp>
      <p:pic>
        <p:nvPicPr>
          <p:cNvPr id="16" name="Image 3" descr="/var/folders/b7/tkzbyvzx72qcg9wb0t1jybvm0000gn/T/diaporama-zLbeHS/icone-36.png">    </p:cNvPr>
          <p:cNvPicPr>
            <a:picLocks noChangeAspect="1"/>
          </p:cNvPicPr>
          <p:nvPr/>
        </p:nvPicPr>
        <p:blipFill>
          <a:blip r:embed="rId5"/>
          <a:stretch>
            <a:fillRect/>
          </a:stretch>
        </p:blipFill>
        <p:spPr>
          <a:xfrm>
            <a:off x="8610448" y="3922776"/>
            <a:ext cx="182880" cy="182880"/>
          </a:xfrm>
          <a:prstGeom prst="rect">
            <a:avLst/>
          </a:prstGeom>
        </p:spPr>
      </p:pic>
      <p:sp>
        <p:nvSpPr>
          <p:cNvPr id="17" name="Text 11"/>
          <p:cNvSpPr txBox="1"/>
          <p:nvPr/>
        </p:nvSpPr>
        <p:spPr>
          <a:xfrm>
            <a:off x="8884768" y="3886200"/>
            <a:ext cx="2621128" cy="274320"/>
          </a:xfrm>
          <a:prstGeom prst="rect">
            <a:avLst/>
          </a:prstGeom>
          <a:noFill/>
          <a:ln/>
        </p:spPr>
        <p:txBody>
          <a:bodyPr wrap="square" lIns="0" tIns="0" rIns="0" bIns="0" rtlCol="0" anchor="t"/>
          <a:lstStyle/>
          <a:p>
            <a:pPr indent="0" marL="0">
              <a:buNone/>
            </a:pPr>
            <a:r>
              <a:rPr lang="en-US" sz="1300" u="sng" dirty="0">
                <a:solidFill>
                  <a:srgbClr val="0056B3"/>
                </a:solidFill>
                <a:latin typeface="Arial" pitchFamily="34" charset="0"/>
                <a:ea typeface="Arial" pitchFamily="34" charset="-122"/>
                <a:cs typeface="Arial" pitchFamily="34" charset="-120"/>
                <a:hlinkClick r:id="rId6" invalidUrl="" action="" tgtFrame="" tooltip="mailto:gauthier.remande@ac-nantes.fr" history="1" highlightClick="0" endSnd="0">
                  <a:extLst>
                    <a:ext uri="{A12FA001-AC4F-418D-AE19-62706E023703}">
                      <ahyp:hlinkClr xmlns:ahyp="http://schemas.microsoft.com/office/drawing/2018/hyperlinkcolor" val="tx"/>
                    </a:ext>
                  </a:extLst>
                </a:hlinkClick>
              </a:rPr>
              <a:t>gauthier.remande@ac-nantes.fr</a:t>
            </a:r>
            <a:endParaRPr lang="en-US" sz="1300" dirty="0"/>
          </a:p>
        </p:txBody>
      </p:sp>
      <p:sp>
        <p:nvSpPr>
          <p:cNvPr id="18" name="Shape 12"/>
          <p:cNvSpPr/>
          <p:nvPr/>
        </p:nvSpPr>
        <p:spPr>
          <a:xfrm>
            <a:off x="548640" y="4754880"/>
            <a:ext cx="512064" cy="512064"/>
          </a:xfrm>
          <a:prstGeom prst="roundRect">
            <a:avLst>
              <a:gd name="adj" fmla="val 28000"/>
            </a:avLst>
          </a:prstGeom>
          <a:solidFill>
            <a:srgbClr val="FFECD4"/>
          </a:solidFill>
          <a:ln/>
        </p:spPr>
      </p:sp>
      <p:pic>
        <p:nvPicPr>
          <p:cNvPr id="19" name="Image 4" descr="/var/folders/b7/tkzbyvzx72qcg9wb0t1jybvm0000gn/T/diaporama-zLbeHS/icone-28.png">    </p:cNvPr>
          <p:cNvPicPr>
            <a:picLocks noChangeAspect="1"/>
          </p:cNvPicPr>
          <p:nvPr/>
        </p:nvPicPr>
        <p:blipFill>
          <a:blip r:embed="rId7"/>
          <a:stretch>
            <a:fillRect/>
          </a:stretch>
        </p:blipFill>
        <p:spPr>
          <a:xfrm>
            <a:off x="671535" y="4877775"/>
            <a:ext cx="266273" cy="266273"/>
          </a:xfrm>
          <a:prstGeom prst="rect">
            <a:avLst/>
          </a:prstGeom>
        </p:spPr>
      </p:pic>
      <p:sp>
        <p:nvSpPr>
          <p:cNvPr id="20" name="Text 13"/>
          <p:cNvSpPr txBox="1"/>
          <p:nvPr/>
        </p:nvSpPr>
        <p:spPr>
          <a:xfrm>
            <a:off x="1207008" y="4736592"/>
            <a:ext cx="2829458" cy="27432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Un logiciel libre</a:t>
            </a:r>
            <a:endParaRPr lang="en-US" sz="1400" dirty="0"/>
          </a:p>
        </p:txBody>
      </p:sp>
      <p:sp>
        <p:nvSpPr>
          <p:cNvPr id="21" name="Text 14"/>
          <p:cNvSpPr txBox="1"/>
          <p:nvPr/>
        </p:nvSpPr>
        <p:spPr>
          <a:xfrm>
            <a:off x="1207008" y="5029200"/>
            <a:ext cx="2829458" cy="685800"/>
          </a:xfrm>
          <a:prstGeom prst="rect">
            <a:avLst/>
          </a:prstGeom>
          <a:noFill/>
          <a:ln/>
        </p:spPr>
        <p:txBody>
          <a:bodyPr wrap="square" lIns="0" tIns="0" rIns="0" bIns="0" rtlCol="0" anchor="t"/>
          <a:lstStyle/>
          <a:p>
            <a:pPr indent="0" marL="0">
              <a:buNone/>
            </a:pPr>
            <a:r>
              <a:rPr lang="en-US" sz="1200" dirty="0">
                <a:solidFill>
                  <a:srgbClr val="4A4A4F"/>
                </a:solidFill>
                <a:latin typeface="Arial" pitchFamily="34" charset="0"/>
                <a:ea typeface="Arial" pitchFamily="34" charset="-122"/>
                <a:cs typeface="Arial" pitchFamily="34" charset="-120"/>
              </a:rPr>
              <a:t>Licence GNU AGPL v3, code ouvert sur la Forge des communs numériques éducatifs.</a:t>
            </a:r>
            <a:endParaRPr lang="en-US" sz="1200" dirty="0"/>
          </a:p>
        </p:txBody>
      </p:sp>
      <p:sp>
        <p:nvSpPr>
          <p:cNvPr id="22" name="Shape 15"/>
          <p:cNvSpPr/>
          <p:nvPr/>
        </p:nvSpPr>
        <p:spPr>
          <a:xfrm>
            <a:off x="4338218" y="4754880"/>
            <a:ext cx="512064" cy="512064"/>
          </a:xfrm>
          <a:prstGeom prst="roundRect">
            <a:avLst>
              <a:gd name="adj" fmla="val 28000"/>
            </a:avLst>
          </a:prstGeom>
          <a:solidFill>
            <a:srgbClr val="FFECD4"/>
          </a:solidFill>
          <a:ln/>
        </p:spPr>
      </p:sp>
      <p:pic>
        <p:nvPicPr>
          <p:cNvPr id="23" name="Image 5" descr="/var/folders/b7/tkzbyvzx72qcg9wb0t1jybvm0000gn/T/diaporama-zLbeHS/icone-29.png">    </p:cNvPr>
          <p:cNvPicPr>
            <a:picLocks noChangeAspect="1"/>
          </p:cNvPicPr>
          <p:nvPr/>
        </p:nvPicPr>
        <p:blipFill>
          <a:blip r:embed="rId8"/>
          <a:stretch>
            <a:fillRect/>
          </a:stretch>
        </p:blipFill>
        <p:spPr>
          <a:xfrm>
            <a:off x="4461114" y="4877775"/>
            <a:ext cx="266273" cy="266273"/>
          </a:xfrm>
          <a:prstGeom prst="rect">
            <a:avLst/>
          </a:prstGeom>
        </p:spPr>
      </p:pic>
      <p:sp>
        <p:nvSpPr>
          <p:cNvPr id="24" name="Text 16"/>
          <p:cNvSpPr txBox="1"/>
          <p:nvPr/>
        </p:nvSpPr>
        <p:spPr>
          <a:xfrm>
            <a:off x="4996586" y="4736592"/>
            <a:ext cx="2829458" cy="27432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Une communauté</a:t>
            </a:r>
            <a:endParaRPr lang="en-US" sz="1400" dirty="0"/>
          </a:p>
        </p:txBody>
      </p:sp>
      <p:sp>
        <p:nvSpPr>
          <p:cNvPr id="25" name="Text 17"/>
          <p:cNvSpPr txBox="1"/>
          <p:nvPr/>
        </p:nvSpPr>
        <p:spPr>
          <a:xfrm>
            <a:off x="4996586" y="5029200"/>
            <a:ext cx="2829458" cy="685800"/>
          </a:xfrm>
          <a:prstGeom prst="rect">
            <a:avLst/>
          </a:prstGeom>
          <a:noFill/>
          <a:ln/>
        </p:spPr>
        <p:txBody>
          <a:bodyPr wrap="square" lIns="0" tIns="0" rIns="0" bIns="0" rtlCol="0" anchor="t"/>
          <a:lstStyle/>
          <a:p>
            <a:pPr indent="0" marL="0">
              <a:buNone/>
            </a:pPr>
            <a:r>
              <a:rPr lang="en-US" sz="1200" dirty="0">
                <a:solidFill>
                  <a:srgbClr val="4A4A4F"/>
                </a:solidFill>
                <a:latin typeface="Arial" pitchFamily="34" charset="0"/>
                <a:ea typeface="Arial" pitchFamily="34" charset="-122"/>
                <a:cs typeface="Arial" pitchFamily="34" charset="-120"/>
              </a:rPr>
              <a:t>Des collègues qui testent, signalent et proposent, sur Tchap et dans les tickets.</a:t>
            </a:r>
            <a:endParaRPr lang="en-US" sz="1200" dirty="0"/>
          </a:p>
        </p:txBody>
      </p:sp>
      <p:sp>
        <p:nvSpPr>
          <p:cNvPr id="26" name="Shape 18"/>
          <p:cNvSpPr/>
          <p:nvPr/>
        </p:nvSpPr>
        <p:spPr>
          <a:xfrm>
            <a:off x="8127797" y="4754880"/>
            <a:ext cx="512064" cy="512064"/>
          </a:xfrm>
          <a:prstGeom prst="roundRect">
            <a:avLst>
              <a:gd name="adj" fmla="val 28000"/>
            </a:avLst>
          </a:prstGeom>
          <a:solidFill>
            <a:srgbClr val="FFECD4"/>
          </a:solidFill>
          <a:ln/>
        </p:spPr>
      </p:sp>
      <p:pic>
        <p:nvPicPr>
          <p:cNvPr id="27" name="Image 6" descr="/var/folders/b7/tkzbyvzx72qcg9wb0t1jybvm0000gn/T/diaporama-zLbeHS/icone-32.png">    </p:cNvPr>
          <p:cNvPicPr>
            <a:picLocks noChangeAspect="1"/>
          </p:cNvPicPr>
          <p:nvPr/>
        </p:nvPicPr>
        <p:blipFill>
          <a:blip r:embed="rId9"/>
          <a:stretch>
            <a:fillRect/>
          </a:stretch>
        </p:blipFill>
        <p:spPr>
          <a:xfrm>
            <a:off x="8250692" y="4877775"/>
            <a:ext cx="266273" cy="266273"/>
          </a:xfrm>
          <a:prstGeom prst="rect">
            <a:avLst/>
          </a:prstGeom>
        </p:spPr>
      </p:pic>
      <p:sp>
        <p:nvSpPr>
          <p:cNvPr id="28" name="Text 19"/>
          <p:cNvSpPr txBox="1"/>
          <p:nvPr/>
        </p:nvSpPr>
        <p:spPr>
          <a:xfrm>
            <a:off x="8786165" y="4736592"/>
            <a:ext cx="2829458" cy="27432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Gratuit, sans compte</a:t>
            </a:r>
            <a:endParaRPr lang="en-US" sz="1400" dirty="0"/>
          </a:p>
        </p:txBody>
      </p:sp>
      <p:sp>
        <p:nvSpPr>
          <p:cNvPr id="29" name="Text 20"/>
          <p:cNvSpPr txBox="1"/>
          <p:nvPr/>
        </p:nvSpPr>
        <p:spPr>
          <a:xfrm>
            <a:off x="8786165" y="5029200"/>
            <a:ext cx="2829458" cy="685800"/>
          </a:xfrm>
          <a:prstGeom prst="rect">
            <a:avLst/>
          </a:prstGeom>
          <a:noFill/>
          <a:ln/>
        </p:spPr>
        <p:txBody>
          <a:bodyPr wrap="square" lIns="0" tIns="0" rIns="0" bIns="0" rtlCol="0" anchor="t"/>
          <a:lstStyle/>
          <a:p>
            <a:pPr indent="0" marL="0">
              <a:buNone/>
            </a:pPr>
            <a:r>
              <a:rPr lang="en-US" sz="1200" dirty="0">
                <a:solidFill>
                  <a:srgbClr val="4A4A4F"/>
                </a:solidFill>
                <a:latin typeface="Arial" pitchFamily="34" charset="0"/>
                <a:ea typeface="Arial" pitchFamily="34" charset="-122"/>
                <a:cs typeface="Arial" pitchFamily="34" charset="-120"/>
              </a:rPr>
              <a:t>Ni abonnement, ni inscription, ni publicité : Caramel s’ouvre dans le navigateur.</a:t>
            </a:r>
            <a:endParaRPr lang="en-US" sz="1200" dirty="0"/>
          </a:p>
        </p:txBody>
      </p:sp>
      <p:sp>
        <p:nvSpPr>
          <p:cNvPr id="30" name="Text 21"/>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31" name="Text 22"/>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 / 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D’où vient Caramel ?</a:t>
            </a:r>
            <a:endParaRPr lang="en-US" sz="3000" dirty="0"/>
          </a:p>
        </p:txBody>
      </p:sp>
      <p:sp>
        <p:nvSpPr>
          <p:cNvPr id="3" name="Text 1"/>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700" dirty="0">
                <a:solidFill>
                  <a:srgbClr val="4A4A4F"/>
                </a:solidFill>
                <a:latin typeface="Arial" pitchFamily="34" charset="0"/>
                <a:ea typeface="Arial" pitchFamily="34" charset="-122"/>
                <a:cs typeface="Arial" pitchFamily="34" charset="-120"/>
              </a:rPr>
              <a:t>Deux enseignants, deux outils, un même besoin : gagner du temps grâce à l’IA.</a:t>
            </a:r>
            <a:endParaRPr lang="en-US" sz="1700" dirty="0"/>
          </a:p>
        </p:txBody>
      </p:sp>
      <p:sp>
        <p:nvSpPr>
          <p:cNvPr id="4" name="Shape 2"/>
          <p:cNvSpPr/>
          <p:nvPr/>
        </p:nvSpPr>
        <p:spPr>
          <a:xfrm>
            <a:off x="548640" y="1965960"/>
            <a:ext cx="3515258" cy="2011680"/>
          </a:xfrm>
          <a:prstGeom prst="roundRect">
            <a:avLst>
              <a:gd name="adj" fmla="val 7273"/>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5" name="Text 3"/>
          <p:cNvSpPr txBox="1"/>
          <p:nvPr/>
        </p:nvSpPr>
        <p:spPr>
          <a:xfrm>
            <a:off x="822960" y="2194560"/>
            <a:ext cx="2966618"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Début 2025</a:t>
            </a:r>
            <a:endParaRPr lang="en-US" sz="1200" dirty="0"/>
          </a:p>
        </p:txBody>
      </p:sp>
      <p:sp>
        <p:nvSpPr>
          <p:cNvPr id="6" name="Text 4"/>
          <p:cNvSpPr txBox="1"/>
          <p:nvPr/>
        </p:nvSpPr>
        <p:spPr>
          <a:xfrm>
            <a:off x="822960" y="2468880"/>
            <a:ext cx="2966618"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Côté Gauthier</a:t>
            </a:r>
            <a:endParaRPr lang="en-US" sz="1800" dirty="0"/>
          </a:p>
        </p:txBody>
      </p:sp>
      <p:sp>
        <p:nvSpPr>
          <p:cNvPr id="7" name="Text 5"/>
          <p:cNvSpPr txBox="1"/>
          <p:nvPr/>
        </p:nvSpPr>
        <p:spPr>
          <a:xfrm>
            <a:off x="822960" y="2880360"/>
            <a:ext cx="2966618" cy="100584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Gagner du temps sur la création des H5P pour Éléa. Une première interface, présentée au MoodleMoot de juin 2025.</a:t>
            </a:r>
            <a:endParaRPr lang="en-US" sz="1350" dirty="0"/>
          </a:p>
        </p:txBody>
      </p:sp>
      <p:pic>
        <p:nvPicPr>
          <p:cNvPr id="8" name="Image 0" descr="/var/folders/b7/tkzbyvzx72qcg9wb0t1jybvm0000gn/T/diaporama-zLbeHS/icone-35.png">    </p:cNvPr>
          <p:cNvPicPr>
            <a:picLocks noChangeAspect="1"/>
          </p:cNvPicPr>
          <p:nvPr/>
        </p:nvPicPr>
        <p:blipFill>
          <a:blip r:embed="rId1"/>
          <a:stretch>
            <a:fillRect/>
          </a:stretch>
        </p:blipFill>
        <p:spPr>
          <a:xfrm>
            <a:off x="4118762" y="2862072"/>
            <a:ext cx="164592" cy="164592"/>
          </a:xfrm>
          <a:prstGeom prst="rect">
            <a:avLst/>
          </a:prstGeom>
        </p:spPr>
      </p:pic>
      <p:sp>
        <p:nvSpPr>
          <p:cNvPr id="9" name="Shape 6"/>
          <p:cNvSpPr/>
          <p:nvPr/>
        </p:nvSpPr>
        <p:spPr>
          <a:xfrm>
            <a:off x="4338218" y="1965960"/>
            <a:ext cx="3515258" cy="2011680"/>
          </a:xfrm>
          <a:prstGeom prst="roundRect">
            <a:avLst>
              <a:gd name="adj" fmla="val 7273"/>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0" name="Text 7"/>
          <p:cNvSpPr txBox="1"/>
          <p:nvPr/>
        </p:nvSpPr>
        <p:spPr>
          <a:xfrm>
            <a:off x="4612538" y="2194560"/>
            <a:ext cx="2966618"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Début 2025</a:t>
            </a:r>
            <a:endParaRPr lang="en-US" sz="1200" dirty="0"/>
          </a:p>
        </p:txBody>
      </p:sp>
      <p:sp>
        <p:nvSpPr>
          <p:cNvPr id="11" name="Text 8"/>
          <p:cNvSpPr txBox="1"/>
          <p:nvPr/>
        </p:nvSpPr>
        <p:spPr>
          <a:xfrm>
            <a:off x="4612538" y="2468880"/>
            <a:ext cx="2966618"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Côté Emmanuel</a:t>
            </a:r>
            <a:endParaRPr lang="en-US" sz="1800" dirty="0"/>
          </a:p>
        </p:txBody>
      </p:sp>
      <p:sp>
        <p:nvSpPr>
          <p:cNvPr id="12" name="Text 9"/>
          <p:cNvSpPr txBox="1"/>
          <p:nvPr/>
        </p:nvSpPr>
        <p:spPr>
          <a:xfrm>
            <a:off x="4612538" y="2880360"/>
            <a:ext cx="2966618" cy="100584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Refaire plus vite ses parcours Magistère. Un site qui génère des activités H5P avec l’IA.</a:t>
            </a:r>
            <a:endParaRPr lang="en-US" sz="1350" dirty="0"/>
          </a:p>
        </p:txBody>
      </p:sp>
      <p:pic>
        <p:nvPicPr>
          <p:cNvPr id="13" name="Image 1" descr="/var/folders/b7/tkzbyvzx72qcg9wb0t1jybvm0000gn/T/diaporama-zLbeHS/icone-35.png">    </p:cNvPr>
          <p:cNvPicPr>
            <a:picLocks noChangeAspect="1"/>
          </p:cNvPicPr>
          <p:nvPr/>
        </p:nvPicPr>
        <p:blipFill>
          <a:blip r:embed="rId2"/>
          <a:stretch>
            <a:fillRect/>
          </a:stretch>
        </p:blipFill>
        <p:spPr>
          <a:xfrm>
            <a:off x="7908341" y="2862072"/>
            <a:ext cx="164592" cy="164592"/>
          </a:xfrm>
          <a:prstGeom prst="rect">
            <a:avLst/>
          </a:prstGeom>
        </p:spPr>
      </p:pic>
      <p:sp>
        <p:nvSpPr>
          <p:cNvPr id="14" name="Shape 10"/>
          <p:cNvSpPr/>
          <p:nvPr/>
        </p:nvSpPr>
        <p:spPr>
          <a:xfrm>
            <a:off x="8127797" y="1965960"/>
            <a:ext cx="3515258" cy="2011680"/>
          </a:xfrm>
          <a:prstGeom prst="roundRect">
            <a:avLst>
              <a:gd name="adj" fmla="val 7273"/>
            </a:avLst>
          </a:prstGeom>
          <a:solidFill>
            <a:srgbClr val="FFF7EC"/>
          </a:solidFill>
          <a:ln w="9525">
            <a:solidFill>
              <a:srgbClr val="EEE0CF"/>
            </a:solidFill>
            <a:prstDash val="solid"/>
          </a:ln>
          <a:effectLst>
            <a:outerShdw sx="100000" sy="100000" kx="0" ky="0" algn="bl" rotWithShape="0" blurRad="114300" dist="25400" dir="5400000">
              <a:srgbClr val="000000">
                <a:alpha val="9000"/>
              </a:srgbClr>
            </a:outerShdw>
          </a:effectLst>
        </p:spPr>
      </p:sp>
      <p:sp>
        <p:nvSpPr>
          <p:cNvPr id="15" name="Text 11"/>
          <p:cNvSpPr txBox="1"/>
          <p:nvPr/>
        </p:nvSpPr>
        <p:spPr>
          <a:xfrm>
            <a:off x="8402117" y="2194560"/>
            <a:ext cx="2966618"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Été 2025</a:t>
            </a:r>
            <a:endParaRPr lang="en-US" sz="1200" dirty="0"/>
          </a:p>
        </p:txBody>
      </p:sp>
      <p:sp>
        <p:nvSpPr>
          <p:cNvPr id="16" name="Text 12"/>
          <p:cNvSpPr txBox="1"/>
          <p:nvPr/>
        </p:nvSpPr>
        <p:spPr>
          <a:xfrm>
            <a:off x="8402117" y="2468880"/>
            <a:ext cx="2966618"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Naissance de Caramel</a:t>
            </a:r>
            <a:endParaRPr lang="en-US" sz="1800" dirty="0"/>
          </a:p>
        </p:txBody>
      </p:sp>
      <p:sp>
        <p:nvSpPr>
          <p:cNvPr id="17" name="Text 13"/>
          <p:cNvSpPr txBox="1"/>
          <p:nvPr/>
        </p:nvSpPr>
        <p:spPr>
          <a:xfrm>
            <a:off x="8402117" y="2880360"/>
            <a:ext cx="2966618" cy="100584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Leur rencontre, grâce à Bertrand Chartier, réunit les deux projets en un outil commun, sur la Forge.</a:t>
            </a:r>
            <a:endParaRPr lang="en-US" sz="1350" dirty="0"/>
          </a:p>
        </p:txBody>
      </p:sp>
      <p:sp>
        <p:nvSpPr>
          <p:cNvPr id="18" name="Text 14"/>
          <p:cNvSpPr txBox="1"/>
          <p:nvPr/>
        </p:nvSpPr>
        <p:spPr>
          <a:xfrm>
            <a:off x="548640" y="4251960"/>
            <a:ext cx="3515258" cy="548640"/>
          </a:xfrm>
          <a:prstGeom prst="rect">
            <a:avLst/>
          </a:prstGeom>
          <a:noFill/>
          <a:ln/>
        </p:spPr>
        <p:txBody>
          <a:bodyPr wrap="square" lIns="0" tIns="0" rIns="0" bIns="0" rtlCol="0" anchor="t"/>
          <a:lstStyle/>
          <a:p>
            <a:pPr indent="0" marL="0">
              <a:buNone/>
            </a:pPr>
            <a:r>
              <a:rPr lang="en-US" sz="3200" b="1" dirty="0">
                <a:solidFill>
                  <a:srgbClr val="B4551A"/>
                </a:solidFill>
                <a:latin typeface="Arial" pitchFamily="34" charset="0"/>
                <a:ea typeface="Arial" pitchFamily="34" charset="-122"/>
                <a:cs typeface="Arial" pitchFamily="34" charset="-120"/>
              </a:rPr>
              <a:t>159 000</a:t>
            </a:r>
            <a:endParaRPr lang="en-US" sz="3200" dirty="0"/>
          </a:p>
        </p:txBody>
      </p:sp>
      <p:sp>
        <p:nvSpPr>
          <p:cNvPr id="19" name="Text 15"/>
          <p:cNvSpPr txBox="1"/>
          <p:nvPr/>
        </p:nvSpPr>
        <p:spPr>
          <a:xfrm>
            <a:off x="548640" y="4818888"/>
            <a:ext cx="3515258" cy="502920"/>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générations d’activités </a:t>
            </a:r>
            <a:pPr indent="0" marL="0">
              <a:buNone/>
            </a:pPr>
            <a:r>
              <a:rPr lang="en-US" sz="1300" dirty="0">
                <a:solidFill>
                  <a:srgbClr val="6E6E73"/>
                </a:solidFill>
                <a:latin typeface="Arial" pitchFamily="34" charset="0"/>
                <a:ea typeface="Arial" pitchFamily="34" charset="-122"/>
                <a:cs typeface="Arial" pitchFamily="34" charset="-120"/>
              </a:rPr>
              <a:t>depuis novembre 2025</a:t>
            </a:r>
            <a:endParaRPr lang="en-US" sz="1300" dirty="0"/>
          </a:p>
        </p:txBody>
      </p:sp>
      <p:sp>
        <p:nvSpPr>
          <p:cNvPr id="20" name="Text 16"/>
          <p:cNvSpPr txBox="1"/>
          <p:nvPr/>
        </p:nvSpPr>
        <p:spPr>
          <a:xfrm>
            <a:off x="4338218" y="4251960"/>
            <a:ext cx="3515258" cy="548640"/>
          </a:xfrm>
          <a:prstGeom prst="rect">
            <a:avLst/>
          </a:prstGeom>
          <a:noFill/>
          <a:ln/>
        </p:spPr>
        <p:txBody>
          <a:bodyPr wrap="square" lIns="0" tIns="0" rIns="0" bIns="0" rtlCol="0" anchor="t"/>
          <a:lstStyle/>
          <a:p>
            <a:pPr indent="0" marL="0">
              <a:buNone/>
            </a:pPr>
            <a:r>
              <a:rPr lang="en-US" sz="3200" b="1" dirty="0">
                <a:solidFill>
                  <a:srgbClr val="B4551A"/>
                </a:solidFill>
                <a:latin typeface="Arial" pitchFamily="34" charset="0"/>
                <a:ea typeface="Arial" pitchFamily="34" charset="-122"/>
                <a:cs typeface="Arial" pitchFamily="34" charset="-120"/>
              </a:rPr>
              <a:t>300+</a:t>
            </a:r>
            <a:endParaRPr lang="en-US" sz="3200" dirty="0"/>
          </a:p>
        </p:txBody>
      </p:sp>
      <p:sp>
        <p:nvSpPr>
          <p:cNvPr id="21" name="Text 17"/>
          <p:cNvSpPr txBox="1"/>
          <p:nvPr/>
        </p:nvSpPr>
        <p:spPr>
          <a:xfrm>
            <a:off x="4338218" y="4818888"/>
            <a:ext cx="3515258" cy="502920"/>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membres </a:t>
            </a:r>
            <a:pPr indent="0" marL="0">
              <a:buNone/>
            </a:pPr>
            <a:r>
              <a:rPr lang="en-US" sz="1300" dirty="0">
                <a:solidFill>
                  <a:srgbClr val="6E6E73"/>
                </a:solidFill>
                <a:latin typeface="Arial" pitchFamily="34" charset="0"/>
                <a:ea typeface="Arial" pitchFamily="34" charset="-122"/>
                <a:cs typeface="Arial" pitchFamily="34" charset="-120"/>
              </a:rPr>
              <a:t>dans la communauté Tchap</a:t>
            </a:r>
            <a:endParaRPr lang="en-US" sz="1300" dirty="0"/>
          </a:p>
        </p:txBody>
      </p:sp>
      <p:sp>
        <p:nvSpPr>
          <p:cNvPr id="22" name="Text 18"/>
          <p:cNvSpPr txBox="1"/>
          <p:nvPr/>
        </p:nvSpPr>
        <p:spPr>
          <a:xfrm>
            <a:off x="8127797" y="4251960"/>
            <a:ext cx="3515258" cy="548640"/>
          </a:xfrm>
          <a:prstGeom prst="rect">
            <a:avLst/>
          </a:prstGeom>
          <a:noFill/>
          <a:ln/>
        </p:spPr>
        <p:txBody>
          <a:bodyPr wrap="square" lIns="0" tIns="0" rIns="0" bIns="0" rtlCol="0" anchor="t"/>
          <a:lstStyle/>
          <a:p>
            <a:pPr indent="0" marL="0">
              <a:buNone/>
            </a:pPr>
            <a:r>
              <a:rPr lang="en-US" sz="3200" b="1" dirty="0">
                <a:solidFill>
                  <a:srgbClr val="B4551A"/>
                </a:solidFill>
                <a:latin typeface="Arial" pitchFamily="34" charset="0"/>
                <a:ea typeface="Arial" pitchFamily="34" charset="-122"/>
                <a:cs typeface="Arial" pitchFamily="34" charset="-120"/>
              </a:rPr>
              <a:t>Pépite</a:t>
            </a:r>
            <a:endParaRPr lang="en-US" sz="3200" dirty="0"/>
          </a:p>
        </p:txBody>
      </p:sp>
      <p:sp>
        <p:nvSpPr>
          <p:cNvPr id="23" name="Text 19"/>
          <p:cNvSpPr txBox="1"/>
          <p:nvPr/>
        </p:nvSpPr>
        <p:spPr>
          <a:xfrm>
            <a:off x="8127797" y="4818888"/>
            <a:ext cx="3515258" cy="502920"/>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de la Forge </a:t>
            </a:r>
            <a:pPr indent="0" marL="0">
              <a:buNone/>
            </a:pPr>
            <a:r>
              <a:rPr lang="en-US" sz="1300" dirty="0">
                <a:solidFill>
                  <a:srgbClr val="6E6E73"/>
                </a:solidFill>
                <a:latin typeface="Arial" pitchFamily="34" charset="0"/>
                <a:ea typeface="Arial" pitchFamily="34" charset="-122"/>
                <a:cs typeface="Arial" pitchFamily="34" charset="-120"/>
              </a:rPr>
              <a:t>2026</a:t>
            </a:r>
            <a:endParaRPr lang="en-US" sz="1300" dirty="0"/>
          </a:p>
        </p:txBody>
      </p:sp>
      <p:sp>
        <p:nvSpPr>
          <p:cNvPr id="24" name="Text 20"/>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dirty="0">
                <a:solidFill>
                  <a:srgbClr val="6E6E73"/>
                </a:solidFill>
                <a:latin typeface="Arial" pitchFamily="34" charset="0"/>
                <a:ea typeface="Arial" pitchFamily="34" charset="-122"/>
                <a:cs typeface="Arial" pitchFamily="34" charset="-120"/>
              </a:rPr>
              <a:t>Un projet bénévole, soutenu par la Direction du numérique pour l’éducation (DNE) et son incubateur. Chiffres de septembre 2026.</a:t>
            </a:r>
            <a:endParaRPr lang="en-US" sz="950" dirty="0"/>
          </a:p>
        </p:txBody>
      </p:sp>
      <p:sp>
        <p:nvSpPr>
          <p:cNvPr id="25" name="Text 21"/>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6" name="Text 22"/>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3 / 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Caramel en bref</a:t>
            </a:r>
            <a:endParaRPr lang="en-US" sz="3000" dirty="0"/>
          </a:p>
        </p:txBody>
      </p:sp>
      <p:sp>
        <p:nvSpPr>
          <p:cNvPr id="3" name="Text 1"/>
          <p:cNvSpPr txBox="1"/>
          <p:nvPr/>
        </p:nvSpPr>
        <p:spPr>
          <a:xfrm>
            <a:off x="548640" y="1371600"/>
            <a:ext cx="11094415" cy="640080"/>
          </a:xfrm>
          <a:prstGeom prst="rect">
            <a:avLst/>
          </a:prstGeom>
          <a:noFill/>
          <a:ln/>
        </p:spPr>
        <p:txBody>
          <a:bodyPr wrap="square" lIns="0" tIns="0" rIns="0" bIns="0" rtlCol="0" anchor="t"/>
          <a:lstStyle/>
          <a:p>
            <a:pPr indent="0" marL="0">
              <a:buNone/>
            </a:pPr>
            <a:r>
              <a:rPr lang="en-US" sz="1700" dirty="0">
                <a:solidFill>
                  <a:srgbClr val="4A4A4F"/>
                </a:solidFill>
                <a:latin typeface="Arial" pitchFamily="34" charset="0"/>
                <a:ea typeface="Arial" pitchFamily="34" charset="-122"/>
                <a:cs typeface="Arial" pitchFamily="34" charset="-120"/>
              </a:rPr>
              <a:t>Une application web qui prépare avec l’IA des activités prêtes à importer dans votre plateforme. Vous relisez, vous corrigez, vous décidez.</a:t>
            </a:r>
            <a:endParaRPr lang="en-US" sz="1700" dirty="0"/>
          </a:p>
        </p:txBody>
      </p:sp>
      <p:sp>
        <p:nvSpPr>
          <p:cNvPr id="4" name="Shape 2"/>
          <p:cNvSpPr/>
          <p:nvPr/>
        </p:nvSpPr>
        <p:spPr>
          <a:xfrm>
            <a:off x="548640" y="2240280"/>
            <a:ext cx="2602154" cy="1783080"/>
          </a:xfrm>
          <a:prstGeom prst="roundRect">
            <a:avLst>
              <a:gd name="adj" fmla="val 820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5" name="Text 3"/>
          <p:cNvSpPr txBox="1"/>
          <p:nvPr/>
        </p:nvSpPr>
        <p:spPr>
          <a:xfrm>
            <a:off x="822960" y="2468880"/>
            <a:ext cx="2053514" cy="731520"/>
          </a:xfrm>
          <a:prstGeom prst="rect">
            <a:avLst/>
          </a:prstGeom>
          <a:noFill/>
          <a:ln/>
        </p:spPr>
        <p:txBody>
          <a:bodyPr wrap="square" lIns="0" tIns="0" rIns="0" bIns="0" rtlCol="0" anchor="t"/>
          <a:lstStyle/>
          <a:p>
            <a:pPr indent="0" marL="0">
              <a:buNone/>
            </a:pPr>
            <a:r>
              <a:rPr lang="en-US" sz="4400" b="1" dirty="0">
                <a:solidFill>
                  <a:srgbClr val="B4551A"/>
                </a:solidFill>
                <a:latin typeface="Arial" pitchFamily="34" charset="0"/>
                <a:ea typeface="Arial" pitchFamily="34" charset="-122"/>
                <a:cs typeface="Arial" pitchFamily="34" charset="-120"/>
              </a:rPr>
              <a:t>35</a:t>
            </a:r>
            <a:endParaRPr lang="en-US" sz="4400" dirty="0"/>
          </a:p>
        </p:txBody>
      </p:sp>
      <p:sp>
        <p:nvSpPr>
          <p:cNvPr id="6" name="Text 4"/>
          <p:cNvSpPr txBox="1"/>
          <p:nvPr/>
        </p:nvSpPr>
        <p:spPr>
          <a:xfrm>
            <a:off x="822960" y="3200400"/>
            <a:ext cx="2053514" cy="320040"/>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types d’activités</a:t>
            </a:r>
            <a:endParaRPr lang="en-US" sz="1500" dirty="0"/>
          </a:p>
        </p:txBody>
      </p:sp>
      <p:sp>
        <p:nvSpPr>
          <p:cNvPr id="7" name="Text 5"/>
          <p:cNvSpPr txBox="1"/>
          <p:nvPr/>
        </p:nvSpPr>
        <p:spPr>
          <a:xfrm>
            <a:off x="822960" y="3538728"/>
            <a:ext cx="2053514" cy="32004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27 H5P¹ · 8 Moodle</a:t>
            </a:r>
            <a:endParaRPr lang="en-US" sz="1200" dirty="0"/>
          </a:p>
        </p:txBody>
      </p:sp>
      <p:sp>
        <p:nvSpPr>
          <p:cNvPr id="8" name="Shape 6"/>
          <p:cNvSpPr/>
          <p:nvPr/>
        </p:nvSpPr>
        <p:spPr>
          <a:xfrm>
            <a:off x="3379394" y="2240280"/>
            <a:ext cx="2602154" cy="1783080"/>
          </a:xfrm>
          <a:prstGeom prst="roundRect">
            <a:avLst>
              <a:gd name="adj" fmla="val 820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9" name="Text 7"/>
          <p:cNvSpPr txBox="1"/>
          <p:nvPr/>
        </p:nvSpPr>
        <p:spPr>
          <a:xfrm>
            <a:off x="3653714" y="2468880"/>
            <a:ext cx="2053514" cy="731520"/>
          </a:xfrm>
          <a:prstGeom prst="rect">
            <a:avLst/>
          </a:prstGeom>
          <a:noFill/>
          <a:ln/>
        </p:spPr>
        <p:txBody>
          <a:bodyPr wrap="square" lIns="0" tIns="0" rIns="0" bIns="0" rtlCol="0" anchor="t"/>
          <a:lstStyle/>
          <a:p>
            <a:pPr indent="0" marL="0">
              <a:buNone/>
            </a:pPr>
            <a:r>
              <a:rPr lang="en-US" sz="4400" b="1" dirty="0">
                <a:solidFill>
                  <a:srgbClr val="B4551A"/>
                </a:solidFill>
                <a:latin typeface="Arial" pitchFamily="34" charset="0"/>
                <a:ea typeface="Arial" pitchFamily="34" charset="-122"/>
                <a:cs typeface="Arial" pitchFamily="34" charset="-120"/>
              </a:rPr>
              <a:t>3</a:t>
            </a:r>
            <a:endParaRPr lang="en-US" sz="4400" dirty="0"/>
          </a:p>
        </p:txBody>
      </p:sp>
      <p:sp>
        <p:nvSpPr>
          <p:cNvPr id="10" name="Text 8"/>
          <p:cNvSpPr txBox="1"/>
          <p:nvPr/>
        </p:nvSpPr>
        <p:spPr>
          <a:xfrm>
            <a:off x="3653714" y="3200400"/>
            <a:ext cx="2053514" cy="320040"/>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plateformes</a:t>
            </a:r>
            <a:endParaRPr lang="en-US" sz="1500" dirty="0"/>
          </a:p>
        </p:txBody>
      </p:sp>
      <p:sp>
        <p:nvSpPr>
          <p:cNvPr id="11" name="Text 9"/>
          <p:cNvSpPr txBox="1"/>
          <p:nvPr/>
        </p:nvSpPr>
        <p:spPr>
          <a:xfrm>
            <a:off x="3653714" y="3538728"/>
            <a:ext cx="2053514" cy="32004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Éléa · Magistère · Moodle</a:t>
            </a:r>
            <a:endParaRPr lang="en-US" sz="1200" dirty="0"/>
          </a:p>
        </p:txBody>
      </p:sp>
      <p:sp>
        <p:nvSpPr>
          <p:cNvPr id="12" name="Shape 10"/>
          <p:cNvSpPr/>
          <p:nvPr/>
        </p:nvSpPr>
        <p:spPr>
          <a:xfrm>
            <a:off x="6210148" y="2240280"/>
            <a:ext cx="2602154" cy="1783080"/>
          </a:xfrm>
          <a:prstGeom prst="roundRect">
            <a:avLst>
              <a:gd name="adj" fmla="val 820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3" name="Text 11"/>
          <p:cNvSpPr txBox="1"/>
          <p:nvPr/>
        </p:nvSpPr>
        <p:spPr>
          <a:xfrm>
            <a:off x="6484468" y="2468880"/>
            <a:ext cx="2053514" cy="731520"/>
          </a:xfrm>
          <a:prstGeom prst="rect">
            <a:avLst/>
          </a:prstGeom>
          <a:noFill/>
          <a:ln/>
        </p:spPr>
        <p:txBody>
          <a:bodyPr wrap="square" lIns="0" tIns="0" rIns="0" bIns="0" rtlCol="0" anchor="t"/>
          <a:lstStyle/>
          <a:p>
            <a:pPr indent="0" marL="0">
              <a:buNone/>
            </a:pPr>
            <a:r>
              <a:rPr lang="en-US" sz="4400" b="1" dirty="0">
                <a:solidFill>
                  <a:srgbClr val="B4551A"/>
                </a:solidFill>
                <a:latin typeface="Arial" pitchFamily="34" charset="0"/>
                <a:ea typeface="Arial" pitchFamily="34" charset="-122"/>
                <a:cs typeface="Arial" pitchFamily="34" charset="-120"/>
              </a:rPr>
              <a:t>12</a:t>
            </a:r>
            <a:endParaRPr lang="en-US" sz="4400" dirty="0"/>
          </a:p>
        </p:txBody>
      </p:sp>
      <p:sp>
        <p:nvSpPr>
          <p:cNvPr id="14" name="Text 12"/>
          <p:cNvSpPr txBox="1"/>
          <p:nvPr/>
        </p:nvSpPr>
        <p:spPr>
          <a:xfrm>
            <a:off x="6484468" y="3200400"/>
            <a:ext cx="2053514" cy="320040"/>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langues d’interface</a:t>
            </a:r>
            <a:endParaRPr lang="en-US" sz="1500" dirty="0"/>
          </a:p>
        </p:txBody>
      </p:sp>
      <p:sp>
        <p:nvSpPr>
          <p:cNvPr id="15" name="Text 13"/>
          <p:cNvSpPr txBox="1"/>
          <p:nvPr/>
        </p:nvSpPr>
        <p:spPr>
          <a:xfrm>
            <a:off x="6484468" y="3538728"/>
            <a:ext cx="2053514" cy="32004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du breton au japonais</a:t>
            </a:r>
            <a:endParaRPr lang="en-US" sz="1200" dirty="0"/>
          </a:p>
        </p:txBody>
      </p:sp>
      <p:sp>
        <p:nvSpPr>
          <p:cNvPr id="16" name="Shape 14"/>
          <p:cNvSpPr/>
          <p:nvPr/>
        </p:nvSpPr>
        <p:spPr>
          <a:xfrm>
            <a:off x="9040901" y="2240280"/>
            <a:ext cx="2602154" cy="1783080"/>
          </a:xfrm>
          <a:prstGeom prst="roundRect">
            <a:avLst>
              <a:gd name="adj" fmla="val 820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7" name="Text 15"/>
          <p:cNvSpPr txBox="1"/>
          <p:nvPr/>
        </p:nvSpPr>
        <p:spPr>
          <a:xfrm>
            <a:off x="9315221" y="2468880"/>
            <a:ext cx="2053514" cy="731520"/>
          </a:xfrm>
          <a:prstGeom prst="rect">
            <a:avLst/>
          </a:prstGeom>
          <a:noFill/>
          <a:ln/>
        </p:spPr>
        <p:txBody>
          <a:bodyPr wrap="square" lIns="0" tIns="0" rIns="0" bIns="0" rtlCol="0" anchor="t"/>
          <a:lstStyle/>
          <a:p>
            <a:pPr indent="0" marL="0">
              <a:buNone/>
            </a:pPr>
            <a:r>
              <a:rPr lang="en-US" sz="4400" b="1" dirty="0">
                <a:solidFill>
                  <a:srgbClr val="B4551A"/>
                </a:solidFill>
                <a:latin typeface="Arial" pitchFamily="34" charset="0"/>
                <a:ea typeface="Arial" pitchFamily="34" charset="-122"/>
                <a:cs typeface="Arial" pitchFamily="34" charset="-120"/>
              </a:rPr>
              <a:t>0 €</a:t>
            </a:r>
            <a:endParaRPr lang="en-US" sz="4400" dirty="0"/>
          </a:p>
        </p:txBody>
      </p:sp>
      <p:sp>
        <p:nvSpPr>
          <p:cNvPr id="18" name="Text 16"/>
          <p:cNvSpPr txBox="1"/>
          <p:nvPr/>
        </p:nvSpPr>
        <p:spPr>
          <a:xfrm>
            <a:off x="9315221" y="3200400"/>
            <a:ext cx="2053514" cy="320040"/>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et aucun compte</a:t>
            </a:r>
            <a:endParaRPr lang="en-US" sz="1500" dirty="0"/>
          </a:p>
        </p:txBody>
      </p:sp>
      <p:sp>
        <p:nvSpPr>
          <p:cNvPr id="19" name="Text 17"/>
          <p:cNvSpPr txBox="1"/>
          <p:nvPr/>
        </p:nvSpPr>
        <p:spPr>
          <a:xfrm>
            <a:off x="9315221" y="3538728"/>
            <a:ext cx="2053514" cy="32004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tout se passe dans le navigateur</a:t>
            </a:r>
            <a:endParaRPr lang="en-US" sz="1200" dirty="0"/>
          </a:p>
        </p:txBody>
      </p:sp>
      <p:sp>
        <p:nvSpPr>
          <p:cNvPr id="20" name="Text 18"/>
          <p:cNvSpPr txBox="1"/>
          <p:nvPr/>
        </p:nvSpPr>
        <p:spPr>
          <a:xfrm>
            <a:off x="548640" y="4343400"/>
            <a:ext cx="4572000" cy="320040"/>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Ce que Caramel produit</a:t>
            </a:r>
            <a:endParaRPr lang="en-US" sz="1500" dirty="0"/>
          </a:p>
        </p:txBody>
      </p:sp>
      <p:sp>
        <p:nvSpPr>
          <p:cNvPr id="21" name="Shape 19"/>
          <p:cNvSpPr/>
          <p:nvPr/>
        </p:nvSpPr>
        <p:spPr>
          <a:xfrm>
            <a:off x="548640" y="4754880"/>
            <a:ext cx="1696669" cy="713232"/>
          </a:xfrm>
          <a:prstGeom prst="roundRect">
            <a:avLst>
              <a:gd name="adj" fmla="val 15385"/>
            </a:avLst>
          </a:prstGeom>
          <a:solidFill>
            <a:srgbClr val="FFFFFF"/>
          </a:solidFill>
          <a:ln w="12700">
            <a:solidFill>
              <a:srgbClr val="0862C4"/>
            </a:solidFill>
            <a:prstDash val="solid"/>
          </a:ln>
        </p:spPr>
      </p:sp>
      <p:sp>
        <p:nvSpPr>
          <p:cNvPr id="22" name="Text 20"/>
          <p:cNvSpPr txBox="1"/>
          <p:nvPr/>
        </p:nvSpPr>
        <p:spPr>
          <a:xfrm>
            <a:off x="548640" y="4846320"/>
            <a:ext cx="1696669" cy="292608"/>
          </a:xfrm>
          <a:prstGeom prst="rect">
            <a:avLst/>
          </a:prstGeom>
          <a:noFill/>
          <a:ln/>
        </p:spPr>
        <p:txBody>
          <a:bodyPr wrap="square" lIns="0" tIns="0" rIns="0" bIns="0" rtlCol="0" anchor="t"/>
          <a:lstStyle/>
          <a:p>
            <a:pPr algn="ctr" indent="0" marL="0">
              <a:buNone/>
            </a:pPr>
            <a:r>
              <a:rPr lang="en-US" sz="1500" b="1" dirty="0">
                <a:solidFill>
                  <a:srgbClr val="0862C4"/>
                </a:solidFill>
                <a:latin typeface="Arial" pitchFamily="34" charset="0"/>
                <a:ea typeface="Arial" pitchFamily="34" charset="-122"/>
                <a:cs typeface="Arial" pitchFamily="34" charset="-120"/>
              </a:rPr>
              <a:t>.h5p</a:t>
            </a:r>
            <a:endParaRPr lang="en-US" sz="1500" dirty="0"/>
          </a:p>
        </p:txBody>
      </p:sp>
      <p:sp>
        <p:nvSpPr>
          <p:cNvPr id="23" name="Text 21"/>
          <p:cNvSpPr txBox="1"/>
          <p:nvPr/>
        </p:nvSpPr>
        <p:spPr>
          <a:xfrm>
            <a:off x="548640" y="5157216"/>
            <a:ext cx="1696669" cy="237744"/>
          </a:xfrm>
          <a:prstGeom prst="rect">
            <a:avLst/>
          </a:prstGeom>
          <a:noFill/>
          <a:ln/>
        </p:spPr>
        <p:txBody>
          <a:bodyPr wrap="square" lIns="0" tIns="0" rIns="0" bIns="0" rtlCol="0" anchor="t"/>
          <a:lstStyle/>
          <a:p>
            <a:pPr algn="ctr" indent="0" marL="0">
              <a:buNone/>
            </a:pPr>
            <a:r>
              <a:rPr lang="en-US" sz="1100" dirty="0">
                <a:solidFill>
                  <a:srgbClr val="6E6E73"/>
                </a:solidFill>
                <a:latin typeface="Arial" pitchFamily="34" charset="0"/>
                <a:ea typeface="Arial" pitchFamily="34" charset="-122"/>
                <a:cs typeface="Arial" pitchFamily="34" charset="-120"/>
              </a:rPr>
              <a:t>activité interactive</a:t>
            </a:r>
            <a:endParaRPr lang="en-US" sz="1100" dirty="0"/>
          </a:p>
        </p:txBody>
      </p:sp>
      <p:sp>
        <p:nvSpPr>
          <p:cNvPr id="24" name="Shape 22"/>
          <p:cNvSpPr/>
          <p:nvPr/>
        </p:nvSpPr>
        <p:spPr>
          <a:xfrm>
            <a:off x="2428189" y="4754880"/>
            <a:ext cx="1696669" cy="713232"/>
          </a:xfrm>
          <a:prstGeom prst="roundRect">
            <a:avLst>
              <a:gd name="adj" fmla="val 15385"/>
            </a:avLst>
          </a:prstGeom>
          <a:solidFill>
            <a:srgbClr val="FFFFFF"/>
          </a:solidFill>
          <a:ln w="12700">
            <a:solidFill>
              <a:srgbClr val="8F4800"/>
            </a:solidFill>
            <a:prstDash val="solid"/>
          </a:ln>
        </p:spPr>
      </p:sp>
      <p:sp>
        <p:nvSpPr>
          <p:cNvPr id="25" name="Text 23"/>
          <p:cNvSpPr txBox="1"/>
          <p:nvPr/>
        </p:nvSpPr>
        <p:spPr>
          <a:xfrm>
            <a:off x="2428189" y="4846320"/>
            <a:ext cx="1696669" cy="292608"/>
          </a:xfrm>
          <a:prstGeom prst="rect">
            <a:avLst/>
          </a:prstGeom>
          <a:noFill/>
          <a:ln/>
        </p:spPr>
        <p:txBody>
          <a:bodyPr wrap="square" lIns="0" tIns="0" rIns="0" bIns="0" rtlCol="0" anchor="t"/>
          <a:lstStyle/>
          <a:p>
            <a:pPr algn="ctr" indent="0" marL="0">
              <a:buNone/>
            </a:pPr>
            <a:r>
              <a:rPr lang="en-US" sz="1500" b="1" dirty="0">
                <a:solidFill>
                  <a:srgbClr val="8F4800"/>
                </a:solidFill>
                <a:latin typeface="Arial" pitchFamily="34" charset="0"/>
                <a:ea typeface="Arial" pitchFamily="34" charset="-122"/>
                <a:cs typeface="Arial" pitchFamily="34" charset="-120"/>
              </a:rPr>
              <a:t>.mbz</a:t>
            </a:r>
            <a:endParaRPr lang="en-US" sz="1500" dirty="0"/>
          </a:p>
        </p:txBody>
      </p:sp>
      <p:sp>
        <p:nvSpPr>
          <p:cNvPr id="26" name="Text 24"/>
          <p:cNvSpPr txBox="1"/>
          <p:nvPr/>
        </p:nvSpPr>
        <p:spPr>
          <a:xfrm>
            <a:off x="2428189" y="5157216"/>
            <a:ext cx="1696669" cy="237744"/>
          </a:xfrm>
          <a:prstGeom prst="rect">
            <a:avLst/>
          </a:prstGeom>
          <a:noFill/>
          <a:ln/>
        </p:spPr>
        <p:txBody>
          <a:bodyPr wrap="square" lIns="0" tIns="0" rIns="0" bIns="0" rtlCol="0" anchor="t"/>
          <a:lstStyle/>
          <a:p>
            <a:pPr algn="ctr" indent="0" marL="0">
              <a:buNone/>
            </a:pPr>
            <a:r>
              <a:rPr lang="en-US" sz="1100" dirty="0">
                <a:solidFill>
                  <a:srgbClr val="6E6E73"/>
                </a:solidFill>
                <a:latin typeface="Arial" pitchFamily="34" charset="0"/>
                <a:ea typeface="Arial" pitchFamily="34" charset="-122"/>
                <a:cs typeface="Arial" pitchFamily="34" charset="-120"/>
              </a:rPr>
              <a:t>activité ou cours Moodle</a:t>
            </a:r>
            <a:endParaRPr lang="en-US" sz="1100" dirty="0"/>
          </a:p>
        </p:txBody>
      </p:sp>
      <p:sp>
        <p:nvSpPr>
          <p:cNvPr id="27" name="Shape 25"/>
          <p:cNvSpPr/>
          <p:nvPr/>
        </p:nvSpPr>
        <p:spPr>
          <a:xfrm>
            <a:off x="4307738" y="4754880"/>
            <a:ext cx="1696669" cy="713232"/>
          </a:xfrm>
          <a:prstGeom prst="roundRect">
            <a:avLst>
              <a:gd name="adj" fmla="val 15385"/>
            </a:avLst>
          </a:prstGeom>
          <a:solidFill>
            <a:srgbClr val="FFFFFF"/>
          </a:solidFill>
          <a:ln w="12700">
            <a:solidFill>
              <a:srgbClr val="064CA4"/>
            </a:solidFill>
            <a:prstDash val="solid"/>
          </a:ln>
        </p:spPr>
      </p:sp>
      <p:sp>
        <p:nvSpPr>
          <p:cNvPr id="28" name="Text 26"/>
          <p:cNvSpPr txBox="1"/>
          <p:nvPr/>
        </p:nvSpPr>
        <p:spPr>
          <a:xfrm>
            <a:off x="4307738" y="4846320"/>
            <a:ext cx="1696669" cy="292608"/>
          </a:xfrm>
          <a:prstGeom prst="rect">
            <a:avLst/>
          </a:prstGeom>
          <a:noFill/>
          <a:ln/>
        </p:spPr>
        <p:txBody>
          <a:bodyPr wrap="square" lIns="0" tIns="0" rIns="0" bIns="0" rtlCol="0" anchor="t"/>
          <a:lstStyle/>
          <a:p>
            <a:pPr algn="ctr" indent="0" marL="0">
              <a:buNone/>
            </a:pPr>
            <a:r>
              <a:rPr lang="en-US" sz="1500" b="1" dirty="0">
                <a:solidFill>
                  <a:srgbClr val="064CA4"/>
                </a:solidFill>
                <a:latin typeface="Arial" pitchFamily="34" charset="0"/>
                <a:ea typeface="Arial" pitchFamily="34" charset="-122"/>
                <a:cs typeface="Arial" pitchFamily="34" charset="-120"/>
              </a:rPr>
              <a:t>.xml</a:t>
            </a:r>
            <a:endParaRPr lang="en-US" sz="1500" dirty="0"/>
          </a:p>
        </p:txBody>
      </p:sp>
      <p:sp>
        <p:nvSpPr>
          <p:cNvPr id="29" name="Text 27"/>
          <p:cNvSpPr txBox="1"/>
          <p:nvPr/>
        </p:nvSpPr>
        <p:spPr>
          <a:xfrm>
            <a:off x="4307738" y="5157216"/>
            <a:ext cx="1696669" cy="237744"/>
          </a:xfrm>
          <a:prstGeom prst="rect">
            <a:avLst/>
          </a:prstGeom>
          <a:noFill/>
          <a:ln/>
        </p:spPr>
        <p:txBody>
          <a:bodyPr wrap="square" lIns="0" tIns="0" rIns="0" bIns="0" rtlCol="0" anchor="t"/>
          <a:lstStyle/>
          <a:p>
            <a:pPr algn="ctr" indent="0" marL="0">
              <a:buNone/>
            </a:pPr>
            <a:r>
              <a:rPr lang="en-US" sz="1100" dirty="0">
                <a:solidFill>
                  <a:srgbClr val="6E6E73"/>
                </a:solidFill>
                <a:latin typeface="Arial" pitchFamily="34" charset="0"/>
                <a:ea typeface="Arial" pitchFamily="34" charset="-122"/>
                <a:cs typeface="Arial" pitchFamily="34" charset="-120"/>
              </a:rPr>
              <a:t>questions, glossaire</a:t>
            </a:r>
            <a:endParaRPr lang="en-US" sz="1100" dirty="0"/>
          </a:p>
        </p:txBody>
      </p:sp>
      <p:sp>
        <p:nvSpPr>
          <p:cNvPr id="30" name="Shape 28"/>
          <p:cNvSpPr/>
          <p:nvPr/>
        </p:nvSpPr>
        <p:spPr>
          <a:xfrm>
            <a:off x="6187288" y="4754880"/>
            <a:ext cx="1696669" cy="713232"/>
          </a:xfrm>
          <a:prstGeom prst="roundRect">
            <a:avLst>
              <a:gd name="adj" fmla="val 15385"/>
            </a:avLst>
          </a:prstGeom>
          <a:solidFill>
            <a:srgbClr val="FFFFFF"/>
          </a:solidFill>
          <a:ln w="12700">
            <a:solidFill>
              <a:srgbClr val="4A4A4F"/>
            </a:solidFill>
            <a:prstDash val="solid"/>
          </a:ln>
        </p:spPr>
      </p:sp>
      <p:sp>
        <p:nvSpPr>
          <p:cNvPr id="31" name="Text 29"/>
          <p:cNvSpPr txBox="1"/>
          <p:nvPr/>
        </p:nvSpPr>
        <p:spPr>
          <a:xfrm>
            <a:off x="6187288" y="4846320"/>
            <a:ext cx="1696669" cy="292608"/>
          </a:xfrm>
          <a:prstGeom prst="rect">
            <a:avLst/>
          </a:prstGeom>
          <a:noFill/>
          <a:ln/>
        </p:spPr>
        <p:txBody>
          <a:bodyPr wrap="square" lIns="0" tIns="0" rIns="0" bIns="0" rtlCol="0" anchor="t"/>
          <a:lstStyle/>
          <a:p>
            <a:pPr algn="ctr" indent="0" marL="0">
              <a:buNone/>
            </a:pPr>
            <a:r>
              <a:rPr lang="en-US" sz="1500" b="1" dirty="0">
                <a:solidFill>
                  <a:srgbClr val="4A4A4F"/>
                </a:solidFill>
                <a:latin typeface="Arial" pitchFamily="34" charset="0"/>
                <a:ea typeface="Arial" pitchFamily="34" charset="-122"/>
                <a:cs typeface="Arial" pitchFamily="34" charset="-120"/>
              </a:rPr>
              <a:t>DOCX</a:t>
            </a:r>
            <a:endParaRPr lang="en-US" sz="1500" dirty="0"/>
          </a:p>
        </p:txBody>
      </p:sp>
      <p:sp>
        <p:nvSpPr>
          <p:cNvPr id="32" name="Text 30"/>
          <p:cNvSpPr txBox="1"/>
          <p:nvPr/>
        </p:nvSpPr>
        <p:spPr>
          <a:xfrm>
            <a:off x="6187288" y="5157216"/>
            <a:ext cx="1696669" cy="237744"/>
          </a:xfrm>
          <a:prstGeom prst="rect">
            <a:avLst/>
          </a:prstGeom>
          <a:noFill/>
          <a:ln/>
        </p:spPr>
        <p:txBody>
          <a:bodyPr wrap="square" lIns="0" tIns="0" rIns="0" bIns="0" rtlCol="0" anchor="t"/>
          <a:lstStyle/>
          <a:p>
            <a:pPr algn="ctr" indent="0" marL="0">
              <a:buNone/>
            </a:pPr>
            <a:r>
              <a:rPr lang="en-US" sz="1100" dirty="0">
                <a:solidFill>
                  <a:srgbClr val="6E6E73"/>
                </a:solidFill>
                <a:latin typeface="Arial" pitchFamily="34" charset="0"/>
                <a:ea typeface="Arial" pitchFamily="34" charset="-122"/>
                <a:cs typeface="Arial" pitchFamily="34" charset="-120"/>
              </a:rPr>
              <a:t>Word</a:t>
            </a:r>
            <a:endParaRPr lang="en-US" sz="1100" dirty="0"/>
          </a:p>
        </p:txBody>
      </p:sp>
      <p:sp>
        <p:nvSpPr>
          <p:cNvPr id="33" name="Shape 31"/>
          <p:cNvSpPr/>
          <p:nvPr/>
        </p:nvSpPr>
        <p:spPr>
          <a:xfrm>
            <a:off x="8066837" y="4754880"/>
            <a:ext cx="1696669" cy="713232"/>
          </a:xfrm>
          <a:prstGeom prst="roundRect">
            <a:avLst>
              <a:gd name="adj" fmla="val 15385"/>
            </a:avLst>
          </a:prstGeom>
          <a:solidFill>
            <a:srgbClr val="FFFFFF"/>
          </a:solidFill>
          <a:ln w="12700">
            <a:solidFill>
              <a:srgbClr val="4A4A4F"/>
            </a:solidFill>
            <a:prstDash val="solid"/>
          </a:ln>
        </p:spPr>
      </p:sp>
      <p:sp>
        <p:nvSpPr>
          <p:cNvPr id="34" name="Text 32"/>
          <p:cNvSpPr txBox="1"/>
          <p:nvPr/>
        </p:nvSpPr>
        <p:spPr>
          <a:xfrm>
            <a:off x="8066837" y="4846320"/>
            <a:ext cx="1696669" cy="292608"/>
          </a:xfrm>
          <a:prstGeom prst="rect">
            <a:avLst/>
          </a:prstGeom>
          <a:noFill/>
          <a:ln/>
        </p:spPr>
        <p:txBody>
          <a:bodyPr wrap="square" lIns="0" tIns="0" rIns="0" bIns="0" rtlCol="0" anchor="t"/>
          <a:lstStyle/>
          <a:p>
            <a:pPr algn="ctr" indent="0" marL="0">
              <a:buNone/>
            </a:pPr>
            <a:r>
              <a:rPr lang="en-US" sz="1500" b="1" dirty="0">
                <a:solidFill>
                  <a:srgbClr val="4A4A4F"/>
                </a:solidFill>
                <a:latin typeface="Arial" pitchFamily="34" charset="0"/>
                <a:ea typeface="Arial" pitchFamily="34" charset="-122"/>
                <a:cs typeface="Arial" pitchFamily="34" charset="-120"/>
              </a:rPr>
              <a:t>ODT</a:t>
            </a:r>
            <a:endParaRPr lang="en-US" sz="1500" dirty="0"/>
          </a:p>
        </p:txBody>
      </p:sp>
      <p:sp>
        <p:nvSpPr>
          <p:cNvPr id="35" name="Text 33"/>
          <p:cNvSpPr txBox="1"/>
          <p:nvPr/>
        </p:nvSpPr>
        <p:spPr>
          <a:xfrm>
            <a:off x="8066837" y="5157216"/>
            <a:ext cx="1696669" cy="237744"/>
          </a:xfrm>
          <a:prstGeom prst="rect">
            <a:avLst/>
          </a:prstGeom>
          <a:noFill/>
          <a:ln/>
        </p:spPr>
        <p:txBody>
          <a:bodyPr wrap="square" lIns="0" tIns="0" rIns="0" bIns="0" rtlCol="0" anchor="t"/>
          <a:lstStyle/>
          <a:p>
            <a:pPr algn="ctr" indent="0" marL="0">
              <a:buNone/>
            </a:pPr>
            <a:r>
              <a:rPr lang="en-US" sz="1100" dirty="0">
                <a:solidFill>
                  <a:srgbClr val="6E6E73"/>
                </a:solidFill>
                <a:latin typeface="Arial" pitchFamily="34" charset="0"/>
                <a:ea typeface="Arial" pitchFamily="34" charset="-122"/>
                <a:cs typeface="Arial" pitchFamily="34" charset="-120"/>
              </a:rPr>
              <a:t>LibreOffice</a:t>
            </a:r>
            <a:endParaRPr lang="en-US" sz="1100" dirty="0"/>
          </a:p>
        </p:txBody>
      </p:sp>
      <p:sp>
        <p:nvSpPr>
          <p:cNvPr id="36" name="Shape 34"/>
          <p:cNvSpPr/>
          <p:nvPr/>
        </p:nvSpPr>
        <p:spPr>
          <a:xfrm>
            <a:off x="9946386" y="4754880"/>
            <a:ext cx="1696669" cy="713232"/>
          </a:xfrm>
          <a:prstGeom prst="roundRect">
            <a:avLst>
              <a:gd name="adj" fmla="val 15385"/>
            </a:avLst>
          </a:prstGeom>
          <a:solidFill>
            <a:srgbClr val="FFFFFF"/>
          </a:solidFill>
          <a:ln w="12700">
            <a:solidFill>
              <a:srgbClr val="4A4A4F"/>
            </a:solidFill>
            <a:prstDash val="solid"/>
          </a:ln>
        </p:spPr>
      </p:sp>
      <p:sp>
        <p:nvSpPr>
          <p:cNvPr id="37" name="Text 35"/>
          <p:cNvSpPr txBox="1"/>
          <p:nvPr/>
        </p:nvSpPr>
        <p:spPr>
          <a:xfrm>
            <a:off x="9946386" y="4846320"/>
            <a:ext cx="1696669" cy="292608"/>
          </a:xfrm>
          <a:prstGeom prst="rect">
            <a:avLst/>
          </a:prstGeom>
          <a:noFill/>
          <a:ln/>
        </p:spPr>
        <p:txBody>
          <a:bodyPr wrap="square" lIns="0" tIns="0" rIns="0" bIns="0" rtlCol="0" anchor="t"/>
          <a:lstStyle/>
          <a:p>
            <a:pPr algn="ctr" indent="0" marL="0">
              <a:buNone/>
            </a:pPr>
            <a:r>
              <a:rPr lang="en-US" sz="1500" b="1" dirty="0">
                <a:solidFill>
                  <a:srgbClr val="4A4A4F"/>
                </a:solidFill>
                <a:latin typeface="Arial" pitchFamily="34" charset="0"/>
                <a:ea typeface="Arial" pitchFamily="34" charset="-122"/>
                <a:cs typeface="Arial" pitchFamily="34" charset="-120"/>
              </a:rPr>
              <a:t>PDF</a:t>
            </a:r>
            <a:endParaRPr lang="en-US" sz="1500" dirty="0"/>
          </a:p>
        </p:txBody>
      </p:sp>
      <p:sp>
        <p:nvSpPr>
          <p:cNvPr id="38" name="Text 36"/>
          <p:cNvSpPr txBox="1"/>
          <p:nvPr/>
        </p:nvSpPr>
        <p:spPr>
          <a:xfrm>
            <a:off x="9946386" y="5157216"/>
            <a:ext cx="1696669" cy="237744"/>
          </a:xfrm>
          <a:prstGeom prst="rect">
            <a:avLst/>
          </a:prstGeom>
          <a:noFill/>
          <a:ln/>
        </p:spPr>
        <p:txBody>
          <a:bodyPr wrap="square" lIns="0" tIns="0" rIns="0" bIns="0" rtlCol="0" anchor="t"/>
          <a:lstStyle/>
          <a:p>
            <a:pPr algn="ctr" indent="0" marL="0">
              <a:buNone/>
            </a:pPr>
            <a:r>
              <a:rPr lang="en-US" sz="1100" dirty="0">
                <a:solidFill>
                  <a:srgbClr val="6E6E73"/>
                </a:solidFill>
                <a:latin typeface="Arial" pitchFamily="34" charset="0"/>
                <a:ea typeface="Arial" pitchFamily="34" charset="-122"/>
                <a:cs typeface="Arial" pitchFamily="34" charset="-120"/>
              </a:rPr>
              <a:t>à imprimer</a:t>
            </a:r>
            <a:endParaRPr lang="en-US" sz="1100" dirty="0"/>
          </a:p>
        </p:txBody>
      </p:sp>
      <p:sp>
        <p:nvSpPr>
          <p:cNvPr id="39" name="Text 37"/>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baseline="30000" dirty="0">
                <a:solidFill>
                  <a:srgbClr val="6E6E73"/>
                </a:solidFill>
                <a:latin typeface="Arial" pitchFamily="34" charset="0"/>
                <a:ea typeface="Arial" pitchFamily="34" charset="-122"/>
                <a:cs typeface="Arial" pitchFamily="34" charset="-120"/>
              </a:rPr>
              <a:t>1</a:t>
            </a:r>
            <a:pPr indent="0" marL="0">
              <a:lnSpc>
                <a:spcPct val="105000"/>
              </a:lnSpc>
              <a:buNone/>
            </a:pPr>
            <a:r>
              <a:rPr lang="en-US" sz="950" dirty="0">
                <a:solidFill>
                  <a:srgbClr val="6E6E73"/>
                </a:solidFill>
                <a:latin typeface="Arial" pitchFamily="34" charset="0"/>
                <a:ea typeface="Arial" pitchFamily="34" charset="-122"/>
                <a:cs typeface="Arial" pitchFamily="34" charset="-120"/>
              </a:rPr>
              <a:t> H5P : format libre d’activités interactives (quiz, textes à trous, vidéos interactives…), lu nativement par Éléa, Magistère et Moodle. Un fichier .mbz est une sauvegarde Moodle : une activité seule, ou un cours entier.</a:t>
            </a:r>
            <a:endParaRPr lang="en-US" sz="950" dirty="0"/>
          </a:p>
        </p:txBody>
      </p:sp>
      <p:sp>
        <p:nvSpPr>
          <p:cNvPr id="40" name="Text 38"/>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41" name="Text 39"/>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4 / 24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Au programme</a:t>
            </a:r>
            <a:endParaRPr lang="en-US" sz="3000" dirty="0"/>
          </a:p>
        </p:txBody>
      </p:sp>
      <p:sp>
        <p:nvSpPr>
          <p:cNvPr id="3" name="Shape 1"/>
          <p:cNvSpPr/>
          <p:nvPr/>
        </p:nvSpPr>
        <p:spPr>
          <a:xfrm>
            <a:off x="548640" y="1600200"/>
            <a:ext cx="5364328" cy="1965960"/>
          </a:xfrm>
          <a:prstGeom prst="roundRect">
            <a:avLst>
              <a:gd name="adj" fmla="val 744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4" name="Shape 2"/>
          <p:cNvSpPr/>
          <p:nvPr/>
        </p:nvSpPr>
        <p:spPr>
          <a:xfrm>
            <a:off x="914400" y="2057400"/>
            <a:ext cx="603504" cy="603504"/>
          </a:xfrm>
          <a:prstGeom prst="ellipse">
            <a:avLst/>
          </a:prstGeom>
          <a:solidFill>
            <a:srgbClr val="007AFF"/>
          </a:solidFill>
          <a:ln/>
        </p:spPr>
      </p:sp>
      <p:sp>
        <p:nvSpPr>
          <p:cNvPr id="5" name="Text 3"/>
          <p:cNvSpPr txBox="1"/>
          <p:nvPr/>
        </p:nvSpPr>
        <p:spPr>
          <a:xfrm>
            <a:off x="914400" y="2057400"/>
            <a:ext cx="603504" cy="603504"/>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6" name="Text 4"/>
          <p:cNvSpPr txBox="1"/>
          <p:nvPr/>
        </p:nvSpPr>
        <p:spPr>
          <a:xfrm>
            <a:off x="1828800" y="2039112"/>
            <a:ext cx="3764128" cy="411480"/>
          </a:xfrm>
          <a:prstGeom prst="rect">
            <a:avLst/>
          </a:prstGeom>
          <a:noFill/>
          <a:ln/>
        </p:spPr>
        <p:txBody>
          <a:bodyPr wrap="square" lIns="0" tIns="0" rIns="0" bIns="0" rtlCol="0" anchor="t"/>
          <a:lstStyle/>
          <a:p>
            <a:pPr indent="0" marL="0">
              <a:buNone/>
            </a:pPr>
            <a:r>
              <a:rPr lang="en-US" sz="2200" b="1" dirty="0">
                <a:solidFill>
                  <a:srgbClr val="1D1D1F"/>
                </a:solidFill>
                <a:latin typeface="Arial" pitchFamily="34" charset="0"/>
                <a:ea typeface="Arial" pitchFamily="34" charset="-122"/>
                <a:cs typeface="Arial" pitchFamily="34" charset="-120"/>
              </a:rPr>
              <a:t>Nos principes</a:t>
            </a:r>
            <a:endParaRPr lang="en-US" sz="2200" dirty="0"/>
          </a:p>
        </p:txBody>
      </p:sp>
      <p:sp>
        <p:nvSpPr>
          <p:cNvPr id="7" name="Text 5"/>
          <p:cNvSpPr txBox="1"/>
          <p:nvPr/>
        </p:nvSpPr>
        <p:spPr>
          <a:xfrm>
            <a:off x="1828800" y="2514600"/>
            <a:ext cx="3764128" cy="868680"/>
          </a:xfrm>
          <a:prstGeom prst="rect">
            <a:avLst/>
          </a:prstGeom>
          <a:noFill/>
          <a:ln/>
        </p:spPr>
        <p:txBody>
          <a:bodyPr wrap="square" lIns="0" tIns="0" rIns="0" bIns="0" rtlCol="0" anchor="t"/>
          <a:lstStyle/>
          <a:p>
            <a:pPr indent="0" marL="0">
              <a:buNone/>
            </a:pPr>
            <a:r>
              <a:rPr lang="en-US" sz="1500" dirty="0">
                <a:solidFill>
                  <a:srgbClr val="4A4A4F"/>
                </a:solidFill>
                <a:latin typeface="Arial" pitchFamily="34" charset="0"/>
                <a:ea typeface="Arial" pitchFamily="34" charset="-122"/>
                <a:cs typeface="Arial" pitchFamily="34" charset="-120"/>
              </a:rPr>
              <a:t>Vous gardez la main, vos données sont protégées, les programmes sont intégrés quand c’est utile.</a:t>
            </a:r>
            <a:endParaRPr lang="en-US" sz="1500" dirty="0"/>
          </a:p>
        </p:txBody>
      </p:sp>
      <p:sp>
        <p:nvSpPr>
          <p:cNvPr id="8" name="Shape 6"/>
          <p:cNvSpPr/>
          <p:nvPr/>
        </p:nvSpPr>
        <p:spPr>
          <a:xfrm>
            <a:off x="6278728" y="1600200"/>
            <a:ext cx="5364328" cy="1965960"/>
          </a:xfrm>
          <a:prstGeom prst="roundRect">
            <a:avLst>
              <a:gd name="adj" fmla="val 744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9" name="Shape 7"/>
          <p:cNvSpPr/>
          <p:nvPr/>
        </p:nvSpPr>
        <p:spPr>
          <a:xfrm>
            <a:off x="6644488" y="2057400"/>
            <a:ext cx="603504" cy="603504"/>
          </a:xfrm>
          <a:prstGeom prst="ellipse">
            <a:avLst/>
          </a:prstGeom>
          <a:solidFill>
            <a:srgbClr val="007AFF"/>
          </a:solidFill>
          <a:ln/>
        </p:spPr>
      </p:sp>
      <p:sp>
        <p:nvSpPr>
          <p:cNvPr id="10" name="Text 8"/>
          <p:cNvSpPr txBox="1"/>
          <p:nvPr/>
        </p:nvSpPr>
        <p:spPr>
          <a:xfrm>
            <a:off x="6644488" y="2057400"/>
            <a:ext cx="603504" cy="603504"/>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11" name="Text 9"/>
          <p:cNvSpPr txBox="1"/>
          <p:nvPr/>
        </p:nvSpPr>
        <p:spPr>
          <a:xfrm>
            <a:off x="7558888" y="2039112"/>
            <a:ext cx="3764128" cy="411480"/>
          </a:xfrm>
          <a:prstGeom prst="rect">
            <a:avLst/>
          </a:prstGeom>
          <a:noFill/>
          <a:ln/>
        </p:spPr>
        <p:txBody>
          <a:bodyPr wrap="square" lIns="0" tIns="0" rIns="0" bIns="0" rtlCol="0" anchor="t"/>
          <a:lstStyle/>
          <a:p>
            <a:pPr indent="0" marL="0">
              <a:buNone/>
            </a:pPr>
            <a:r>
              <a:rPr lang="en-US" sz="2200" b="1" dirty="0">
                <a:solidFill>
                  <a:srgbClr val="1D1D1F"/>
                </a:solidFill>
                <a:latin typeface="Arial" pitchFamily="34" charset="0"/>
                <a:ea typeface="Arial" pitchFamily="34" charset="-122"/>
                <a:cs typeface="Arial" pitchFamily="34" charset="-120"/>
              </a:rPr>
              <a:t>Créer une activité</a:t>
            </a:r>
            <a:endParaRPr lang="en-US" sz="2200" dirty="0"/>
          </a:p>
        </p:txBody>
      </p:sp>
      <p:sp>
        <p:nvSpPr>
          <p:cNvPr id="12" name="Text 10"/>
          <p:cNvSpPr txBox="1"/>
          <p:nvPr/>
        </p:nvSpPr>
        <p:spPr>
          <a:xfrm>
            <a:off x="7558888" y="2514600"/>
            <a:ext cx="3764128" cy="868680"/>
          </a:xfrm>
          <a:prstGeom prst="rect">
            <a:avLst/>
          </a:prstGeom>
          <a:noFill/>
          <a:ln/>
        </p:spPr>
        <p:txBody>
          <a:bodyPr wrap="square" lIns="0" tIns="0" rIns="0" bIns="0" rtlCol="0" anchor="t"/>
          <a:lstStyle/>
          <a:p>
            <a:pPr indent="0" marL="0">
              <a:buNone/>
            </a:pPr>
            <a:r>
              <a:rPr lang="en-US" sz="1500" dirty="0">
                <a:solidFill>
                  <a:srgbClr val="4A4A4F"/>
                </a:solidFill>
                <a:latin typeface="Arial" pitchFamily="34" charset="0"/>
                <a:ea typeface="Arial" pitchFamily="34" charset="-122"/>
                <a:cs typeface="Arial" pitchFamily="34" charset="-120"/>
              </a:rPr>
              <a:t>Décrire, ajouter ses sources, choisir, générer, relire, télécharger, importer.</a:t>
            </a:r>
            <a:endParaRPr lang="en-US" sz="1500" dirty="0"/>
          </a:p>
        </p:txBody>
      </p:sp>
      <p:sp>
        <p:nvSpPr>
          <p:cNvPr id="13" name="Shape 11"/>
          <p:cNvSpPr/>
          <p:nvPr/>
        </p:nvSpPr>
        <p:spPr>
          <a:xfrm>
            <a:off x="548640" y="3840480"/>
            <a:ext cx="5364328" cy="1965960"/>
          </a:xfrm>
          <a:prstGeom prst="roundRect">
            <a:avLst>
              <a:gd name="adj" fmla="val 744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4" name="Shape 12"/>
          <p:cNvSpPr/>
          <p:nvPr/>
        </p:nvSpPr>
        <p:spPr>
          <a:xfrm>
            <a:off x="914400" y="4297680"/>
            <a:ext cx="603504" cy="603504"/>
          </a:xfrm>
          <a:prstGeom prst="ellipse">
            <a:avLst/>
          </a:prstGeom>
          <a:solidFill>
            <a:srgbClr val="007AFF"/>
          </a:solidFill>
          <a:ln/>
        </p:spPr>
      </p:sp>
      <p:sp>
        <p:nvSpPr>
          <p:cNvPr id="15" name="Text 13"/>
          <p:cNvSpPr txBox="1"/>
          <p:nvPr/>
        </p:nvSpPr>
        <p:spPr>
          <a:xfrm>
            <a:off x="914400" y="4297680"/>
            <a:ext cx="603504" cy="603504"/>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16" name="Text 14"/>
          <p:cNvSpPr txBox="1"/>
          <p:nvPr/>
        </p:nvSpPr>
        <p:spPr>
          <a:xfrm>
            <a:off x="1828800" y="4279392"/>
            <a:ext cx="3764128" cy="411480"/>
          </a:xfrm>
          <a:prstGeom prst="rect">
            <a:avLst/>
          </a:prstGeom>
          <a:noFill/>
          <a:ln/>
        </p:spPr>
        <p:txBody>
          <a:bodyPr wrap="square" lIns="0" tIns="0" rIns="0" bIns="0" rtlCol="0" anchor="t"/>
          <a:lstStyle/>
          <a:p>
            <a:pPr indent="0" marL="0">
              <a:buNone/>
            </a:pPr>
            <a:r>
              <a:rPr lang="en-US" sz="2200" b="1" dirty="0">
                <a:solidFill>
                  <a:srgbClr val="1D1D1F"/>
                </a:solidFill>
                <a:latin typeface="Arial" pitchFamily="34" charset="0"/>
                <a:ea typeface="Arial" pitchFamily="34" charset="-122"/>
                <a:cs typeface="Arial" pitchFamily="34" charset="-120"/>
              </a:rPr>
              <a:t>Créer un parcours</a:t>
            </a:r>
            <a:endParaRPr lang="en-US" sz="2200" dirty="0"/>
          </a:p>
        </p:txBody>
      </p:sp>
      <p:sp>
        <p:nvSpPr>
          <p:cNvPr id="17" name="Text 15"/>
          <p:cNvSpPr txBox="1"/>
          <p:nvPr/>
        </p:nvSpPr>
        <p:spPr>
          <a:xfrm>
            <a:off x="1828800" y="4754880"/>
            <a:ext cx="3764128" cy="868680"/>
          </a:xfrm>
          <a:prstGeom prst="rect">
            <a:avLst/>
          </a:prstGeom>
          <a:noFill/>
          <a:ln/>
        </p:spPr>
        <p:txBody>
          <a:bodyPr wrap="square" lIns="0" tIns="0" rIns="0" bIns="0" rtlCol="0" anchor="t"/>
          <a:lstStyle/>
          <a:p>
            <a:pPr indent="0" marL="0">
              <a:buNone/>
            </a:pPr>
            <a:r>
              <a:rPr lang="en-US" sz="1500" dirty="0">
                <a:solidFill>
                  <a:srgbClr val="4A4A4F"/>
                </a:solidFill>
                <a:latin typeface="Arial" pitchFamily="34" charset="0"/>
                <a:ea typeface="Arial" pitchFamily="34" charset="-122"/>
                <a:cs typeface="Arial" pitchFamily="34" charset="-120"/>
              </a:rPr>
              <a:t>Cadrage, plan, fabrication, livraison : un cours complet dans un seul fichier.</a:t>
            </a:r>
            <a:endParaRPr lang="en-US" sz="1500" dirty="0"/>
          </a:p>
        </p:txBody>
      </p:sp>
      <p:sp>
        <p:nvSpPr>
          <p:cNvPr id="18" name="Shape 16"/>
          <p:cNvSpPr/>
          <p:nvPr/>
        </p:nvSpPr>
        <p:spPr>
          <a:xfrm>
            <a:off x="6278728" y="3840480"/>
            <a:ext cx="5364328" cy="1965960"/>
          </a:xfrm>
          <a:prstGeom prst="roundRect">
            <a:avLst>
              <a:gd name="adj" fmla="val 744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9" name="Shape 17"/>
          <p:cNvSpPr/>
          <p:nvPr/>
        </p:nvSpPr>
        <p:spPr>
          <a:xfrm>
            <a:off x="6644488" y="4297680"/>
            <a:ext cx="603504" cy="603504"/>
          </a:xfrm>
          <a:prstGeom prst="ellipse">
            <a:avLst/>
          </a:prstGeom>
          <a:solidFill>
            <a:srgbClr val="007AFF"/>
          </a:solidFill>
          <a:ln/>
        </p:spPr>
      </p:sp>
      <p:sp>
        <p:nvSpPr>
          <p:cNvPr id="20" name="Text 18"/>
          <p:cNvSpPr txBox="1"/>
          <p:nvPr/>
        </p:nvSpPr>
        <p:spPr>
          <a:xfrm>
            <a:off x="6644488" y="4297680"/>
            <a:ext cx="603504" cy="603504"/>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4</a:t>
            </a:r>
            <a:endParaRPr lang="en-US" sz="2100" dirty="0"/>
          </a:p>
        </p:txBody>
      </p:sp>
      <p:sp>
        <p:nvSpPr>
          <p:cNvPr id="21" name="Text 19"/>
          <p:cNvSpPr txBox="1"/>
          <p:nvPr/>
        </p:nvSpPr>
        <p:spPr>
          <a:xfrm>
            <a:off x="7558888" y="4279392"/>
            <a:ext cx="3764128" cy="411480"/>
          </a:xfrm>
          <a:prstGeom prst="rect">
            <a:avLst/>
          </a:prstGeom>
          <a:noFill/>
          <a:ln/>
        </p:spPr>
        <p:txBody>
          <a:bodyPr wrap="square" lIns="0" tIns="0" rIns="0" bIns="0" rtlCol="0" anchor="t"/>
          <a:lstStyle/>
          <a:p>
            <a:pPr indent="0" marL="0">
              <a:buNone/>
            </a:pPr>
            <a:r>
              <a:rPr lang="en-US" sz="2200" b="1" dirty="0">
                <a:solidFill>
                  <a:srgbClr val="1D1D1F"/>
                </a:solidFill>
                <a:latin typeface="Arial" pitchFamily="34" charset="0"/>
                <a:ea typeface="Arial" pitchFamily="34" charset="-122"/>
                <a:cs typeface="Arial" pitchFamily="34" charset="-120"/>
              </a:rPr>
              <a:t>Partager et se faire aider</a:t>
            </a:r>
            <a:endParaRPr lang="en-US" sz="2200" dirty="0"/>
          </a:p>
        </p:txBody>
      </p:sp>
      <p:sp>
        <p:nvSpPr>
          <p:cNvPr id="22" name="Text 20"/>
          <p:cNvSpPr txBox="1"/>
          <p:nvPr/>
        </p:nvSpPr>
        <p:spPr>
          <a:xfrm>
            <a:off x="7558888" y="4754880"/>
            <a:ext cx="3764128" cy="868680"/>
          </a:xfrm>
          <a:prstGeom prst="rect">
            <a:avLst/>
          </a:prstGeom>
          <a:noFill/>
          <a:ln/>
        </p:spPr>
        <p:txBody>
          <a:bodyPr wrap="square" lIns="0" tIns="0" rIns="0" bIns="0" rtlCol="0" anchor="t"/>
          <a:lstStyle/>
          <a:p>
            <a:pPr indent="0" marL="0">
              <a:buNone/>
            </a:pPr>
            <a:r>
              <a:rPr lang="en-US" sz="1500" dirty="0">
                <a:solidFill>
                  <a:srgbClr val="4A4A4F"/>
                </a:solidFill>
                <a:latin typeface="Arial" pitchFamily="34" charset="0"/>
                <a:ea typeface="Arial" pitchFamily="34" charset="-122"/>
                <a:cs typeface="Arial" pitchFamily="34" charset="-120"/>
              </a:rPr>
              <a:t>La Sucrerie, Caramelia, le tutoriel, le wiki, et les bons réflexes.</a:t>
            </a:r>
            <a:endParaRPr lang="en-US" sz="1500" dirty="0"/>
          </a:p>
        </p:txBody>
      </p:sp>
      <p:sp>
        <p:nvSpPr>
          <p:cNvPr id="23" name="Text 21"/>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4" name="Text 22"/>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5 / 24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1 · Nos principes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L’IA propose, vous décidez</a:t>
            </a:r>
            <a:endParaRPr lang="en-US" sz="3000" dirty="0"/>
          </a:p>
        </p:txBody>
      </p:sp>
      <p:sp>
        <p:nvSpPr>
          <p:cNvPr id="4" name="Text 2"/>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700" dirty="0">
                <a:solidFill>
                  <a:srgbClr val="4A4A4F"/>
                </a:solidFill>
                <a:latin typeface="Arial" pitchFamily="34" charset="0"/>
                <a:ea typeface="Arial" pitchFamily="34" charset="-122"/>
                <a:cs typeface="Arial" pitchFamily="34" charset="-120"/>
              </a:rPr>
              <a:t>À chaque étape, l’enseignant garde la main : avant, pendant et après la génération.</a:t>
            </a:r>
            <a:endParaRPr lang="en-US" sz="1700" dirty="0"/>
          </a:p>
        </p:txBody>
      </p:sp>
      <p:sp>
        <p:nvSpPr>
          <p:cNvPr id="5" name="Shape 3"/>
          <p:cNvSpPr/>
          <p:nvPr/>
        </p:nvSpPr>
        <p:spPr>
          <a:xfrm>
            <a:off x="548640" y="2011680"/>
            <a:ext cx="3515258" cy="3703320"/>
          </a:xfrm>
          <a:prstGeom prst="roundRect">
            <a:avLst>
              <a:gd name="adj" fmla="val 416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6" name="Shape 4"/>
          <p:cNvSpPr/>
          <p:nvPr/>
        </p:nvSpPr>
        <p:spPr>
          <a:xfrm>
            <a:off x="868680" y="2331720"/>
            <a:ext cx="566928" cy="566928"/>
          </a:xfrm>
          <a:prstGeom prst="roundRect">
            <a:avLst>
              <a:gd name="adj" fmla="val 28000"/>
            </a:avLst>
          </a:prstGeom>
          <a:solidFill>
            <a:srgbClr val="FFECD4"/>
          </a:solidFill>
          <a:ln/>
        </p:spPr>
      </p:sp>
      <p:pic>
        <p:nvPicPr>
          <p:cNvPr id="7" name="Image 0" descr="/var/folders/b7/tkzbyvzx72qcg9wb0t1jybvm0000gn/T/diaporama-zLbeHS/icone-0.png">    </p:cNvPr>
          <p:cNvPicPr>
            <a:picLocks noChangeAspect="1"/>
          </p:cNvPicPr>
          <p:nvPr/>
        </p:nvPicPr>
        <p:blipFill>
          <a:blip r:embed="rId1"/>
          <a:stretch>
            <a:fillRect/>
          </a:stretch>
        </p:blipFill>
        <p:spPr>
          <a:xfrm>
            <a:off x="1004743" y="2467783"/>
            <a:ext cx="294803" cy="294803"/>
          </a:xfrm>
          <a:prstGeom prst="rect">
            <a:avLst/>
          </a:prstGeom>
        </p:spPr>
      </p:pic>
      <p:sp>
        <p:nvSpPr>
          <p:cNvPr id="8" name="Text 5"/>
          <p:cNvSpPr txBox="1"/>
          <p:nvPr/>
        </p:nvSpPr>
        <p:spPr>
          <a:xfrm>
            <a:off x="1600200" y="2377440"/>
            <a:ext cx="2235098"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Avant</a:t>
            </a:r>
            <a:endParaRPr lang="en-US" sz="2200" dirty="0"/>
          </a:p>
        </p:txBody>
      </p:sp>
      <p:sp>
        <p:nvSpPr>
          <p:cNvPr id="9" name="Text 6"/>
          <p:cNvSpPr txBox="1"/>
          <p:nvPr/>
        </p:nvSpPr>
        <p:spPr>
          <a:xfrm>
            <a:off x="868680" y="3108960"/>
            <a:ext cx="2920898" cy="2468880"/>
          </a:xfrm>
          <a:prstGeom prst="rect">
            <a:avLst/>
          </a:prstGeom>
          <a:noFill/>
          <a:ln/>
        </p:spPr>
        <p:txBody>
          <a:bodyPr wrap="square" lIns="0" tIns="0" rIns="0" bIns="0" rtlCol="0" anchor="t"/>
          <a:lstStyle/>
          <a:p>
            <a:pPr marL="186690" indent="-186690">
              <a:lnSpc>
                <a:spcPct val="105000"/>
              </a:lnSpc>
              <a:spcAft>
                <a:spcPts val="1000"/>
              </a:spcAft>
              <a:buSzPct val="100000"/>
              <a:buChar char="•"/>
            </a:pPr>
            <a:r>
              <a:rPr lang="en-US" sz="1400" dirty="0">
                <a:solidFill>
                  <a:srgbClr val="4A4A4F"/>
                </a:solidFill>
                <a:latin typeface="Arial" pitchFamily="34" charset="0"/>
                <a:ea typeface="Arial" pitchFamily="34" charset="-122"/>
                <a:cs typeface="Arial" pitchFamily="34" charset="-120"/>
              </a:rPr>
              <a:t>Vous décrivez le besoin : public, thème, niveau, nombre de questions.</a:t>
            </a:r>
            <a:endParaRPr lang="en-US" sz="1400" dirty="0"/>
          </a:p>
          <a:p>
            <a:pPr marL="186690" indent="-186690">
              <a:lnSpc>
                <a:spcPct val="105000"/>
              </a:lnSpc>
              <a:spcAft>
                <a:spcPts val="1000"/>
              </a:spcAft>
              <a:buSzPct val="100000"/>
              <a:buChar char="•"/>
            </a:pPr>
            <a:r>
              <a:rPr lang="en-US" sz="1400" dirty="0">
                <a:solidFill>
                  <a:srgbClr val="4A4A4F"/>
                </a:solidFill>
                <a:latin typeface="Arial" pitchFamily="34" charset="0"/>
                <a:ea typeface="Arial" pitchFamily="34" charset="-122"/>
                <a:cs typeface="Arial" pitchFamily="34" charset="-120"/>
              </a:rPr>
              <a:t>Vous choisissez vos sources : un cours, un PDF, une page web.</a:t>
            </a:r>
            <a:endParaRPr lang="en-US" sz="1400" dirty="0"/>
          </a:p>
          <a:p>
            <a:pPr marL="186690" indent="-186690">
              <a:lnSpc>
                <a:spcPct val="105000"/>
              </a:lnSpc>
              <a:spcAft>
                <a:spcPts val="1000"/>
              </a:spcAft>
              <a:buSzPct val="100000"/>
              <a:buChar char="•"/>
            </a:pPr>
            <a:r>
              <a:rPr lang="en-US" sz="1400" dirty="0">
                <a:solidFill>
                  <a:srgbClr val="4A4A4F"/>
                </a:solidFill>
                <a:latin typeface="Arial" pitchFamily="34" charset="0"/>
                <a:ea typeface="Arial" pitchFamily="34" charset="-122"/>
                <a:cs typeface="Arial" pitchFamily="34" charset="-120"/>
              </a:rPr>
              <a:t>Le prompt envoyé à l’IA est visible et modifiable.</a:t>
            </a:r>
            <a:endParaRPr lang="en-US" sz="1400" dirty="0"/>
          </a:p>
        </p:txBody>
      </p:sp>
      <p:sp>
        <p:nvSpPr>
          <p:cNvPr id="10" name="Shape 7"/>
          <p:cNvSpPr/>
          <p:nvPr/>
        </p:nvSpPr>
        <p:spPr>
          <a:xfrm>
            <a:off x="4338218" y="2011680"/>
            <a:ext cx="3515258" cy="3703320"/>
          </a:xfrm>
          <a:prstGeom prst="roundRect">
            <a:avLst>
              <a:gd name="adj" fmla="val 416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1" name="Shape 8"/>
          <p:cNvSpPr/>
          <p:nvPr/>
        </p:nvSpPr>
        <p:spPr>
          <a:xfrm>
            <a:off x="4658258" y="2331720"/>
            <a:ext cx="566928" cy="566928"/>
          </a:xfrm>
          <a:prstGeom prst="roundRect">
            <a:avLst>
              <a:gd name="adj" fmla="val 28000"/>
            </a:avLst>
          </a:prstGeom>
          <a:solidFill>
            <a:srgbClr val="FFECD4"/>
          </a:solidFill>
          <a:ln/>
        </p:spPr>
      </p:sp>
      <p:pic>
        <p:nvPicPr>
          <p:cNvPr id="12" name="Image 1" descr="/var/folders/b7/tkzbyvzx72qcg9wb0t1jybvm0000gn/T/diaporama-zLbeHS/icone-1.png">    </p:cNvPr>
          <p:cNvPicPr>
            <a:picLocks noChangeAspect="1"/>
          </p:cNvPicPr>
          <p:nvPr/>
        </p:nvPicPr>
        <p:blipFill>
          <a:blip r:embed="rId2"/>
          <a:stretch>
            <a:fillRect/>
          </a:stretch>
        </p:blipFill>
        <p:spPr>
          <a:xfrm>
            <a:off x="4794321" y="2467783"/>
            <a:ext cx="294803" cy="294803"/>
          </a:xfrm>
          <a:prstGeom prst="rect">
            <a:avLst/>
          </a:prstGeom>
        </p:spPr>
      </p:pic>
      <p:sp>
        <p:nvSpPr>
          <p:cNvPr id="13" name="Text 9"/>
          <p:cNvSpPr txBox="1"/>
          <p:nvPr/>
        </p:nvSpPr>
        <p:spPr>
          <a:xfrm>
            <a:off x="5389778" y="2377440"/>
            <a:ext cx="2235098"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Pendant</a:t>
            </a:r>
            <a:endParaRPr lang="en-US" sz="2200" dirty="0"/>
          </a:p>
        </p:txBody>
      </p:sp>
      <p:sp>
        <p:nvSpPr>
          <p:cNvPr id="14" name="Text 10"/>
          <p:cNvSpPr txBox="1"/>
          <p:nvPr/>
        </p:nvSpPr>
        <p:spPr>
          <a:xfrm>
            <a:off x="4658258" y="3108960"/>
            <a:ext cx="2920898" cy="2468880"/>
          </a:xfrm>
          <a:prstGeom prst="rect">
            <a:avLst/>
          </a:prstGeom>
          <a:noFill/>
          <a:ln/>
        </p:spPr>
        <p:txBody>
          <a:bodyPr wrap="square" lIns="0" tIns="0" rIns="0" bIns="0" rtlCol="0" anchor="t"/>
          <a:lstStyle/>
          <a:p>
            <a:pPr marL="186690" indent="-186690">
              <a:lnSpc>
                <a:spcPct val="105000"/>
              </a:lnSpc>
              <a:spcAft>
                <a:spcPts val="1000"/>
              </a:spcAft>
              <a:buSzPct val="100000"/>
              <a:buChar char="•"/>
            </a:pPr>
            <a:r>
              <a:rPr lang="en-US" sz="1400" dirty="0">
                <a:solidFill>
                  <a:srgbClr val="4A4A4F"/>
                </a:solidFill>
                <a:latin typeface="Arial" pitchFamily="34" charset="0"/>
                <a:ea typeface="Arial" pitchFamily="34" charset="-122"/>
                <a:cs typeface="Arial" pitchFamily="34" charset="-120"/>
              </a:rPr>
              <a:t>Génération en un clic avec l’IA intégrée, ou copie du prompt vers l’IA de votre choix.</a:t>
            </a:r>
            <a:endParaRPr lang="en-US" sz="1400" dirty="0"/>
          </a:p>
          <a:p>
            <a:pPr marL="186690" indent="-186690">
              <a:lnSpc>
                <a:spcPct val="105000"/>
              </a:lnSpc>
              <a:spcAft>
                <a:spcPts val="1000"/>
              </a:spcAft>
              <a:buSzPct val="100000"/>
              <a:buChar char="•"/>
            </a:pPr>
            <a:r>
              <a:rPr lang="en-US" sz="1400" dirty="0">
                <a:solidFill>
                  <a:srgbClr val="4A4A4F"/>
                </a:solidFill>
                <a:latin typeface="Arial" pitchFamily="34" charset="0"/>
                <a:ea typeface="Arial" pitchFamily="34" charset="-122"/>
                <a:cs typeface="Arial" pitchFamily="34" charset="-120"/>
              </a:rPr>
              <a:t>L’aperçu montre l’activité telle que les élèves la verront.</a:t>
            </a:r>
            <a:endParaRPr lang="en-US" sz="1400" dirty="0"/>
          </a:p>
          <a:p>
            <a:pPr marL="186690" indent="-186690">
              <a:lnSpc>
                <a:spcPct val="105000"/>
              </a:lnSpc>
              <a:spcAft>
                <a:spcPts val="1000"/>
              </a:spcAft>
              <a:buSzPct val="100000"/>
              <a:buChar char="•"/>
            </a:pPr>
            <a:r>
              <a:rPr lang="en-US" sz="1400" dirty="0">
                <a:solidFill>
                  <a:srgbClr val="4A4A4F"/>
                </a:solidFill>
                <a:latin typeface="Arial" pitchFamily="34" charset="0"/>
                <a:ea typeface="Arial" pitchFamily="34" charset="-122"/>
                <a:cs typeface="Arial" pitchFamily="34" charset="-120"/>
              </a:rPr>
              <a:t>L’éditeur visuel corrige chaque question, réponse et retour.</a:t>
            </a:r>
            <a:endParaRPr lang="en-US" sz="1400" dirty="0"/>
          </a:p>
        </p:txBody>
      </p:sp>
      <p:sp>
        <p:nvSpPr>
          <p:cNvPr id="15" name="Shape 11"/>
          <p:cNvSpPr/>
          <p:nvPr/>
        </p:nvSpPr>
        <p:spPr>
          <a:xfrm>
            <a:off x="8127797" y="2011680"/>
            <a:ext cx="3515258" cy="3703320"/>
          </a:xfrm>
          <a:prstGeom prst="roundRect">
            <a:avLst>
              <a:gd name="adj" fmla="val 416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6" name="Shape 12"/>
          <p:cNvSpPr/>
          <p:nvPr/>
        </p:nvSpPr>
        <p:spPr>
          <a:xfrm>
            <a:off x="8447837" y="2331720"/>
            <a:ext cx="566928" cy="566928"/>
          </a:xfrm>
          <a:prstGeom prst="roundRect">
            <a:avLst>
              <a:gd name="adj" fmla="val 28000"/>
            </a:avLst>
          </a:prstGeom>
          <a:solidFill>
            <a:srgbClr val="FFECD4"/>
          </a:solidFill>
          <a:ln/>
        </p:spPr>
      </p:sp>
      <p:pic>
        <p:nvPicPr>
          <p:cNvPr id="17" name="Image 2" descr="/var/folders/b7/tkzbyvzx72qcg9wb0t1jybvm0000gn/T/diaporama-zLbeHS/icone-2.png">    </p:cNvPr>
          <p:cNvPicPr>
            <a:picLocks noChangeAspect="1"/>
          </p:cNvPicPr>
          <p:nvPr/>
        </p:nvPicPr>
        <p:blipFill>
          <a:blip r:embed="rId3"/>
          <a:stretch>
            <a:fillRect/>
          </a:stretch>
        </p:blipFill>
        <p:spPr>
          <a:xfrm>
            <a:off x="8583900" y="2467783"/>
            <a:ext cx="294803" cy="294803"/>
          </a:xfrm>
          <a:prstGeom prst="rect">
            <a:avLst/>
          </a:prstGeom>
        </p:spPr>
      </p:pic>
      <p:sp>
        <p:nvSpPr>
          <p:cNvPr id="18" name="Text 13"/>
          <p:cNvSpPr txBox="1"/>
          <p:nvPr/>
        </p:nvSpPr>
        <p:spPr>
          <a:xfrm>
            <a:off x="9179357" y="2377440"/>
            <a:ext cx="2235098"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Après</a:t>
            </a:r>
            <a:endParaRPr lang="en-US" sz="2200" dirty="0"/>
          </a:p>
        </p:txBody>
      </p:sp>
      <p:sp>
        <p:nvSpPr>
          <p:cNvPr id="19" name="Text 14"/>
          <p:cNvSpPr txBox="1"/>
          <p:nvPr/>
        </p:nvSpPr>
        <p:spPr>
          <a:xfrm>
            <a:off x="8447837" y="3108960"/>
            <a:ext cx="2920898" cy="2468880"/>
          </a:xfrm>
          <a:prstGeom prst="rect">
            <a:avLst/>
          </a:prstGeom>
          <a:noFill/>
          <a:ln/>
        </p:spPr>
        <p:txBody>
          <a:bodyPr wrap="square" lIns="0" tIns="0" rIns="0" bIns="0" rtlCol="0" anchor="t"/>
          <a:lstStyle/>
          <a:p>
            <a:pPr marL="186690" indent="-186690">
              <a:lnSpc>
                <a:spcPct val="105000"/>
              </a:lnSpc>
              <a:spcAft>
                <a:spcPts val="1000"/>
              </a:spcAft>
              <a:buSzPct val="100000"/>
              <a:buChar char="•"/>
            </a:pPr>
            <a:r>
              <a:rPr lang="en-US" sz="1400" dirty="0">
                <a:solidFill>
                  <a:srgbClr val="4A4A4F"/>
                </a:solidFill>
                <a:latin typeface="Arial" pitchFamily="34" charset="0"/>
                <a:ea typeface="Arial" pitchFamily="34" charset="-122"/>
                <a:cs typeface="Arial" pitchFamily="34" charset="-120"/>
              </a:rPr>
              <a:t>L’activité importée se modifie dans l’éditeur H5P de la plateforme.</a:t>
            </a:r>
            <a:endParaRPr lang="en-US" sz="1400" dirty="0"/>
          </a:p>
          <a:p>
            <a:pPr marL="186690" indent="-186690">
              <a:lnSpc>
                <a:spcPct val="105000"/>
              </a:lnSpc>
              <a:spcAft>
                <a:spcPts val="1000"/>
              </a:spcAft>
              <a:buSzPct val="100000"/>
              <a:buChar char="•"/>
            </a:pPr>
            <a:r>
              <a:rPr lang="en-US" sz="1400" dirty="0">
                <a:solidFill>
                  <a:srgbClr val="4A4A4F"/>
                </a:solidFill>
                <a:latin typeface="Arial" pitchFamily="34" charset="0"/>
                <a:ea typeface="Arial" pitchFamily="34" charset="-122"/>
                <a:cs typeface="Arial" pitchFamily="34" charset="-120"/>
              </a:rPr>
              <a:t>Les exports Word et LibreOffice gardent des formules éditables.</a:t>
            </a:r>
            <a:endParaRPr lang="en-US" sz="1400" dirty="0"/>
          </a:p>
          <a:p>
            <a:pPr marL="186690" indent="-186690">
              <a:lnSpc>
                <a:spcPct val="105000"/>
              </a:lnSpc>
              <a:spcAft>
                <a:spcPts val="1000"/>
              </a:spcAft>
              <a:buSzPct val="100000"/>
              <a:buChar char="•"/>
            </a:pPr>
            <a:r>
              <a:rPr lang="en-US" sz="1400" dirty="0">
                <a:solidFill>
                  <a:srgbClr val="4A4A4F"/>
                </a:solidFill>
                <a:latin typeface="Arial" pitchFamily="34" charset="0"/>
                <a:ea typeface="Arial" pitchFamily="34" charset="-122"/>
                <a:cs typeface="Arial" pitchFamily="34" charset="-120"/>
              </a:rPr>
              <a:t>Un parcours se rouvre dans Caramel pour être repris.</a:t>
            </a:r>
            <a:endParaRPr lang="en-US" sz="1400" dirty="0"/>
          </a:p>
        </p:txBody>
      </p:sp>
      <p:sp>
        <p:nvSpPr>
          <p:cNvPr id="20" name="Text 15"/>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1" name="Text 16"/>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6 / 24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1 · Nos principes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Vos données sont protégées</a:t>
            </a:r>
            <a:endParaRPr lang="en-US" sz="3000" dirty="0"/>
          </a:p>
        </p:txBody>
      </p:sp>
      <p:sp>
        <p:nvSpPr>
          <p:cNvPr id="4" name="Shape 2"/>
          <p:cNvSpPr/>
          <p:nvPr/>
        </p:nvSpPr>
        <p:spPr>
          <a:xfrm>
            <a:off x="548640" y="1554480"/>
            <a:ext cx="5410048" cy="1298448"/>
          </a:xfrm>
          <a:prstGeom prst="roundRect">
            <a:avLst>
              <a:gd name="adj" fmla="val 1126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5" name="Shape 3"/>
          <p:cNvSpPr/>
          <p:nvPr/>
        </p:nvSpPr>
        <p:spPr>
          <a:xfrm>
            <a:off x="822960" y="1847088"/>
            <a:ext cx="566928" cy="566928"/>
          </a:xfrm>
          <a:prstGeom prst="roundRect">
            <a:avLst>
              <a:gd name="adj" fmla="val 28000"/>
            </a:avLst>
          </a:prstGeom>
          <a:solidFill>
            <a:srgbClr val="FFECD4"/>
          </a:solidFill>
          <a:ln/>
        </p:spPr>
      </p:sp>
      <p:pic>
        <p:nvPicPr>
          <p:cNvPr id="6" name="Image 0" descr="/var/folders/b7/tkzbyvzx72qcg9wb0t1jybvm0000gn/T/diaporama-zLbeHS/icone-3.png">    </p:cNvPr>
          <p:cNvPicPr>
            <a:picLocks noChangeAspect="1"/>
          </p:cNvPicPr>
          <p:nvPr/>
        </p:nvPicPr>
        <p:blipFill>
          <a:blip r:embed="rId1"/>
          <a:stretch>
            <a:fillRect/>
          </a:stretch>
        </p:blipFill>
        <p:spPr>
          <a:xfrm>
            <a:off x="959023" y="1983151"/>
            <a:ext cx="294803" cy="294803"/>
          </a:xfrm>
          <a:prstGeom prst="rect">
            <a:avLst/>
          </a:prstGeom>
        </p:spPr>
      </p:pic>
      <p:sp>
        <p:nvSpPr>
          <p:cNvPr id="7" name="Text 4"/>
          <p:cNvSpPr txBox="1"/>
          <p:nvPr/>
        </p:nvSpPr>
        <p:spPr>
          <a:xfrm>
            <a:off x="1600200" y="1783080"/>
            <a:ext cx="4129888"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Ni compte, ni suivi</a:t>
            </a:r>
            <a:endParaRPr lang="en-US" sz="1700" dirty="0"/>
          </a:p>
        </p:txBody>
      </p:sp>
      <p:sp>
        <p:nvSpPr>
          <p:cNvPr id="8" name="Text 5"/>
          <p:cNvSpPr txBox="1"/>
          <p:nvPr/>
        </p:nvSpPr>
        <p:spPr>
          <a:xfrm>
            <a:off x="1600200" y="2130552"/>
            <a:ext cx="4129888" cy="64008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Aucune donnée personnelle collectée, aucun cookie de suivi. Rien à créer pour commencer.</a:t>
            </a:r>
            <a:endParaRPr lang="en-US" sz="1300" dirty="0"/>
          </a:p>
        </p:txBody>
      </p:sp>
      <p:sp>
        <p:nvSpPr>
          <p:cNvPr id="9" name="Shape 6"/>
          <p:cNvSpPr/>
          <p:nvPr/>
        </p:nvSpPr>
        <p:spPr>
          <a:xfrm>
            <a:off x="6233008" y="1554480"/>
            <a:ext cx="5410048" cy="1298448"/>
          </a:xfrm>
          <a:prstGeom prst="roundRect">
            <a:avLst>
              <a:gd name="adj" fmla="val 1126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0" name="Shape 7"/>
          <p:cNvSpPr/>
          <p:nvPr/>
        </p:nvSpPr>
        <p:spPr>
          <a:xfrm>
            <a:off x="6507328" y="1847088"/>
            <a:ext cx="566928" cy="566928"/>
          </a:xfrm>
          <a:prstGeom prst="roundRect">
            <a:avLst>
              <a:gd name="adj" fmla="val 28000"/>
            </a:avLst>
          </a:prstGeom>
          <a:solidFill>
            <a:srgbClr val="FFECD4"/>
          </a:solidFill>
          <a:ln/>
        </p:spPr>
      </p:sp>
      <p:pic>
        <p:nvPicPr>
          <p:cNvPr id="11" name="Image 1" descr="/var/folders/b7/tkzbyvzx72qcg9wb0t1jybvm0000gn/T/diaporama-zLbeHS/icone-4.png">    </p:cNvPr>
          <p:cNvPicPr>
            <a:picLocks noChangeAspect="1"/>
          </p:cNvPicPr>
          <p:nvPr/>
        </p:nvPicPr>
        <p:blipFill>
          <a:blip r:embed="rId2"/>
          <a:stretch>
            <a:fillRect/>
          </a:stretch>
        </p:blipFill>
        <p:spPr>
          <a:xfrm>
            <a:off x="6643390" y="1983151"/>
            <a:ext cx="294803" cy="294803"/>
          </a:xfrm>
          <a:prstGeom prst="rect">
            <a:avLst/>
          </a:prstGeom>
        </p:spPr>
      </p:pic>
      <p:sp>
        <p:nvSpPr>
          <p:cNvPr id="12" name="Text 8"/>
          <p:cNvSpPr txBox="1"/>
          <p:nvPr/>
        </p:nvSpPr>
        <p:spPr>
          <a:xfrm>
            <a:off x="7284568" y="1783080"/>
            <a:ext cx="4129888"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Vos documents restent chez vous</a:t>
            </a:r>
            <a:endParaRPr lang="en-US" sz="1700" dirty="0"/>
          </a:p>
        </p:txBody>
      </p:sp>
      <p:sp>
        <p:nvSpPr>
          <p:cNvPr id="13" name="Text 9"/>
          <p:cNvSpPr txBox="1"/>
          <p:nvPr/>
        </p:nvSpPr>
        <p:spPr>
          <a:xfrm>
            <a:off x="7284568" y="2130552"/>
            <a:ext cx="4129888" cy="64008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Le texte des PDF, DOCX, images… est extrait dans votre navigateur : les fichiers ne partent sur aucun serveur.</a:t>
            </a:r>
            <a:endParaRPr lang="en-US" sz="1300" dirty="0"/>
          </a:p>
        </p:txBody>
      </p:sp>
      <p:sp>
        <p:nvSpPr>
          <p:cNvPr id="14" name="Shape 10"/>
          <p:cNvSpPr/>
          <p:nvPr/>
        </p:nvSpPr>
        <p:spPr>
          <a:xfrm>
            <a:off x="548640" y="3035808"/>
            <a:ext cx="5410048" cy="1298448"/>
          </a:xfrm>
          <a:prstGeom prst="roundRect">
            <a:avLst>
              <a:gd name="adj" fmla="val 1126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5" name="Shape 11"/>
          <p:cNvSpPr/>
          <p:nvPr/>
        </p:nvSpPr>
        <p:spPr>
          <a:xfrm>
            <a:off x="822960" y="3328416"/>
            <a:ext cx="566928" cy="566928"/>
          </a:xfrm>
          <a:prstGeom prst="roundRect">
            <a:avLst>
              <a:gd name="adj" fmla="val 28000"/>
            </a:avLst>
          </a:prstGeom>
          <a:solidFill>
            <a:srgbClr val="FFECD4"/>
          </a:solidFill>
          <a:ln/>
        </p:spPr>
      </p:sp>
      <p:pic>
        <p:nvPicPr>
          <p:cNvPr id="16" name="Image 2" descr="/var/folders/b7/tkzbyvzx72qcg9wb0t1jybvm0000gn/T/diaporama-zLbeHS/icone-5.png">    </p:cNvPr>
          <p:cNvPicPr>
            <a:picLocks noChangeAspect="1"/>
          </p:cNvPicPr>
          <p:nvPr/>
        </p:nvPicPr>
        <p:blipFill>
          <a:blip r:embed="rId3"/>
          <a:stretch>
            <a:fillRect/>
          </a:stretch>
        </p:blipFill>
        <p:spPr>
          <a:xfrm>
            <a:off x="959023" y="3464479"/>
            <a:ext cx="294803" cy="294803"/>
          </a:xfrm>
          <a:prstGeom prst="rect">
            <a:avLst/>
          </a:prstGeom>
        </p:spPr>
      </p:pic>
      <p:sp>
        <p:nvSpPr>
          <p:cNvPr id="17" name="Text 12"/>
          <p:cNvSpPr txBox="1"/>
          <p:nvPr/>
        </p:nvSpPr>
        <p:spPr>
          <a:xfrm>
            <a:off x="1600200" y="3264408"/>
            <a:ext cx="4129888"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Des IA hébergées en France</a:t>
            </a:r>
            <a:endParaRPr lang="en-US" sz="1700" dirty="0"/>
          </a:p>
        </p:txBody>
      </p:sp>
      <p:sp>
        <p:nvSpPr>
          <p:cNvPr id="18" name="Text 13"/>
          <p:cNvSpPr txBox="1"/>
          <p:nvPr/>
        </p:nvSpPr>
        <p:spPr>
          <a:xfrm>
            <a:off x="1600200" y="3611880"/>
            <a:ext cx="4129888" cy="64008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La génération en un clic passe par ILaaS, des serveurs de l’Enseignement supérieur et de la recherche. Aucune IA grand public</a:t>
            </a:r>
            <a:pPr indent="0" marL="0">
              <a:buNone/>
            </a:pPr>
            <a:r>
              <a:rPr lang="en-US" sz="1300" baseline="30000" dirty="0">
                <a:solidFill>
                  <a:srgbClr val="4A4A4F"/>
                </a:solidFill>
                <a:latin typeface="Arial" pitchFamily="34" charset="0"/>
                <a:ea typeface="Arial" pitchFamily="34" charset="-122"/>
                <a:cs typeface="Arial" pitchFamily="34" charset="-120"/>
              </a:rPr>
              <a:t>1</a:t>
            </a:r>
            <a:pPr indent="0" marL="0">
              <a:buNone/>
            </a:pPr>
            <a:r>
              <a:rPr lang="en-US" sz="1300" dirty="0">
                <a:solidFill>
                  <a:srgbClr val="4A4A4F"/>
                </a:solidFill>
                <a:latin typeface="Arial" pitchFamily="34" charset="0"/>
                <a:ea typeface="Arial" pitchFamily="34" charset="-122"/>
                <a:cs typeface="Arial" pitchFamily="34" charset="-120"/>
              </a:rPr>
              <a:t>.</a:t>
            </a:r>
            <a:endParaRPr lang="en-US" sz="1300" dirty="0"/>
          </a:p>
        </p:txBody>
      </p:sp>
      <p:sp>
        <p:nvSpPr>
          <p:cNvPr id="19" name="Shape 14"/>
          <p:cNvSpPr/>
          <p:nvPr/>
        </p:nvSpPr>
        <p:spPr>
          <a:xfrm>
            <a:off x="6233008" y="3035808"/>
            <a:ext cx="5410048" cy="1298448"/>
          </a:xfrm>
          <a:prstGeom prst="roundRect">
            <a:avLst>
              <a:gd name="adj" fmla="val 1126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20" name="Shape 15"/>
          <p:cNvSpPr/>
          <p:nvPr/>
        </p:nvSpPr>
        <p:spPr>
          <a:xfrm>
            <a:off x="6507328" y="3328416"/>
            <a:ext cx="566928" cy="566928"/>
          </a:xfrm>
          <a:prstGeom prst="roundRect">
            <a:avLst>
              <a:gd name="adj" fmla="val 28000"/>
            </a:avLst>
          </a:prstGeom>
          <a:solidFill>
            <a:srgbClr val="FFECD4"/>
          </a:solidFill>
          <a:ln/>
        </p:spPr>
      </p:sp>
      <p:pic>
        <p:nvPicPr>
          <p:cNvPr id="21" name="Image 3" descr="/var/folders/b7/tkzbyvzx72qcg9wb0t1jybvm0000gn/T/diaporama-zLbeHS/icone-6.png">    </p:cNvPr>
          <p:cNvPicPr>
            <a:picLocks noChangeAspect="1"/>
          </p:cNvPicPr>
          <p:nvPr/>
        </p:nvPicPr>
        <p:blipFill>
          <a:blip r:embed="rId4"/>
          <a:stretch>
            <a:fillRect/>
          </a:stretch>
        </p:blipFill>
        <p:spPr>
          <a:xfrm>
            <a:off x="6643390" y="3464479"/>
            <a:ext cx="294803" cy="294803"/>
          </a:xfrm>
          <a:prstGeom prst="rect">
            <a:avLst/>
          </a:prstGeom>
        </p:spPr>
      </p:pic>
      <p:sp>
        <p:nvSpPr>
          <p:cNvPr id="22" name="Text 16"/>
          <p:cNvSpPr txBox="1"/>
          <p:nvPr/>
        </p:nvSpPr>
        <p:spPr>
          <a:xfrm>
            <a:off x="7284568" y="3264408"/>
            <a:ext cx="4129888"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La voix, transcrite en France</a:t>
            </a:r>
            <a:endParaRPr lang="en-US" sz="1700" dirty="0"/>
          </a:p>
        </p:txBody>
      </p:sp>
      <p:sp>
        <p:nvSpPr>
          <p:cNvPr id="23" name="Text 17"/>
          <p:cNvSpPr txBox="1"/>
          <p:nvPr/>
        </p:nvSpPr>
        <p:spPr>
          <a:xfrm>
            <a:off x="7284568" y="3611880"/>
            <a:ext cx="4129888" cy="64008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Dictée ou fichier audio : transcription par Albert, service souverain de la DINUM. L’audio n’est pas conservé.</a:t>
            </a:r>
            <a:endParaRPr lang="en-US" sz="1300" dirty="0"/>
          </a:p>
        </p:txBody>
      </p:sp>
      <p:sp>
        <p:nvSpPr>
          <p:cNvPr id="24" name="Shape 18"/>
          <p:cNvSpPr/>
          <p:nvPr/>
        </p:nvSpPr>
        <p:spPr>
          <a:xfrm>
            <a:off x="548640" y="4572000"/>
            <a:ext cx="11094415" cy="640080"/>
          </a:xfrm>
          <a:prstGeom prst="roundRect">
            <a:avLst>
              <a:gd name="adj" fmla="val 22857"/>
            </a:avLst>
          </a:prstGeom>
          <a:solidFill>
            <a:srgbClr val="EAF3FF"/>
          </a:solidFill>
          <a:ln w="9525">
            <a:solidFill>
              <a:srgbClr val="C5DAF2"/>
            </a:solidFill>
            <a:prstDash val="solid"/>
          </a:ln>
        </p:spPr>
      </p:sp>
      <p:pic>
        <p:nvPicPr>
          <p:cNvPr id="25" name="Image 4" descr="/var/folders/b7/tkzbyvzx72qcg9wb0t1jybvm0000gn/T/diaporama-zLbeHS/icone-7.png">    </p:cNvPr>
          <p:cNvPicPr>
            <a:picLocks noChangeAspect="1"/>
          </p:cNvPicPr>
          <p:nvPr/>
        </p:nvPicPr>
        <p:blipFill>
          <a:blip r:embed="rId5"/>
          <a:stretch>
            <a:fillRect/>
          </a:stretch>
        </p:blipFill>
        <p:spPr>
          <a:xfrm>
            <a:off x="822960" y="4754880"/>
            <a:ext cx="274320" cy="274320"/>
          </a:xfrm>
          <a:prstGeom prst="rect">
            <a:avLst/>
          </a:prstGeom>
        </p:spPr>
      </p:pic>
      <p:sp>
        <p:nvSpPr>
          <p:cNvPr id="26" name="Text 19"/>
          <p:cNvSpPr txBox="1"/>
          <p:nvPr/>
        </p:nvSpPr>
        <p:spPr>
          <a:xfrm>
            <a:off x="1280160" y="4572000"/>
            <a:ext cx="10088575" cy="64008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Bon réflexe : </a:t>
            </a:r>
            <a:pPr indent="0" marL="0">
              <a:buNone/>
            </a:pPr>
            <a:r>
              <a:rPr lang="en-US" sz="1400" dirty="0">
                <a:solidFill>
                  <a:srgbClr val="1D1D1F"/>
                </a:solidFill>
                <a:latin typeface="Arial" pitchFamily="34" charset="0"/>
                <a:ea typeface="Arial" pitchFamily="34" charset="-122"/>
                <a:cs typeface="Arial" pitchFamily="34" charset="-120"/>
              </a:rPr>
              <a:t>ne saisissez jamais de nom ni d’information personnelle d’élève, ni dans les champs, ni dans les documents.</a:t>
            </a:r>
            <a:endParaRPr lang="en-US" sz="1400" dirty="0"/>
          </a:p>
        </p:txBody>
      </p:sp>
      <p:sp>
        <p:nvSpPr>
          <p:cNvPr id="27" name="Text 20"/>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baseline="30000" dirty="0">
                <a:solidFill>
                  <a:srgbClr val="6E6E73"/>
                </a:solidFill>
                <a:latin typeface="Arial" pitchFamily="34" charset="0"/>
                <a:ea typeface="Arial" pitchFamily="34" charset="-122"/>
                <a:cs typeface="Arial" pitchFamily="34" charset="-120"/>
              </a:rPr>
              <a:t>1</a:t>
            </a:r>
            <a:pPr indent="0" marL="0">
              <a:lnSpc>
                <a:spcPct val="105000"/>
              </a:lnSpc>
              <a:buNone/>
            </a:pPr>
            <a:r>
              <a:rPr lang="en-US" sz="950" dirty="0">
                <a:solidFill>
                  <a:srgbClr val="6E6E73"/>
                </a:solidFill>
                <a:latin typeface="Arial" pitchFamily="34" charset="0"/>
                <a:ea typeface="Arial" pitchFamily="34" charset="-122"/>
                <a:cs typeface="Arial" pitchFamily="34" charset="-120"/>
              </a:rPr>
              <a:t> Deux cas, signalés dans l’application, vous engagent autrement : l’import d’une page web par son lien (le texte est extrait par nos serveurs, en France ; l’adresse n’est pas conservée) et le prompt que vous copiez vers une IA externe (les conditions de ce service s’appliquent). Détails : mentions légales de Caramel.</a:t>
            </a:r>
            <a:endParaRPr lang="en-US" sz="950" dirty="0"/>
          </a:p>
        </p:txBody>
      </p:sp>
      <p:sp>
        <p:nvSpPr>
          <p:cNvPr id="28" name="Text 21"/>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9" name="Text 22"/>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7 / 24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1 · Nos principes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Les programmes scolaires, intégrés quand c’est utile</a:t>
            </a:r>
            <a:endParaRPr lang="en-US" sz="3000" dirty="0"/>
          </a:p>
        </p:txBody>
      </p:sp>
      <p:sp>
        <p:nvSpPr>
          <p:cNvPr id="4" name="Shape 2"/>
          <p:cNvSpPr/>
          <p:nvPr/>
        </p:nvSpPr>
        <p:spPr>
          <a:xfrm>
            <a:off x="548640" y="2194560"/>
            <a:ext cx="3246120" cy="2148840"/>
          </a:xfrm>
          <a:prstGeom prst="roundRect">
            <a:avLst>
              <a:gd name="adj" fmla="val 6809"/>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5" name="Text 3"/>
          <p:cNvSpPr txBox="1"/>
          <p:nvPr/>
        </p:nvSpPr>
        <p:spPr>
          <a:xfrm>
            <a:off x="822960" y="2423160"/>
            <a:ext cx="2697480" cy="320040"/>
          </a:xfrm>
          <a:prstGeom prst="rect">
            <a:avLst/>
          </a:prstGeom>
          <a:noFill/>
          <a:ln/>
        </p:spPr>
        <p:txBody>
          <a:bodyPr wrap="square" lIns="0" tIns="0" rIns="0" bIns="0" rtlCol="0" anchor="t"/>
          <a:lstStyle/>
          <a:p>
            <a:pPr indent="0" marL="0">
              <a:buNone/>
            </a:pPr>
            <a:r>
              <a:rPr lang="en-US" sz="1600" b="1" dirty="0">
                <a:solidFill>
                  <a:srgbClr val="1D1D1F"/>
                </a:solidFill>
                <a:latin typeface="Arial" pitchFamily="34" charset="0"/>
                <a:ea typeface="Arial" pitchFamily="34" charset="-122"/>
                <a:cs typeface="Arial" pitchFamily="34" charset="-120"/>
              </a:rPr>
              <a:t>Votre demande</a:t>
            </a:r>
            <a:endParaRPr lang="en-US" sz="1600" dirty="0"/>
          </a:p>
        </p:txBody>
      </p:sp>
      <p:sp>
        <p:nvSpPr>
          <p:cNvPr id="6" name="Shape 4"/>
          <p:cNvSpPr/>
          <p:nvPr/>
        </p:nvSpPr>
        <p:spPr>
          <a:xfrm>
            <a:off x="822960" y="2880360"/>
            <a:ext cx="2697480" cy="566928"/>
          </a:xfrm>
          <a:prstGeom prst="roundRect">
            <a:avLst>
              <a:gd name="adj" fmla="val 16129"/>
            </a:avLst>
          </a:prstGeom>
          <a:solidFill>
            <a:srgbClr val="FAFAFA"/>
          </a:solidFill>
          <a:ln w="9525">
            <a:solidFill>
              <a:srgbClr val="E5E5EA"/>
            </a:solidFill>
            <a:prstDash val="solid"/>
          </a:ln>
        </p:spPr>
      </p:sp>
      <p:sp>
        <p:nvSpPr>
          <p:cNvPr id="7" name="Text 5"/>
          <p:cNvSpPr txBox="1"/>
          <p:nvPr/>
        </p:nvSpPr>
        <p:spPr>
          <a:xfrm>
            <a:off x="960120" y="2944368"/>
            <a:ext cx="2423160" cy="457200"/>
          </a:xfrm>
          <a:prstGeom prst="rect">
            <a:avLst/>
          </a:prstGeom>
          <a:noFill/>
          <a:ln/>
        </p:spPr>
        <p:txBody>
          <a:bodyPr wrap="square" lIns="0" tIns="0" rIns="0" bIns="0" rtlCol="0" anchor="t"/>
          <a:lstStyle/>
          <a:p>
            <a:pPr indent="0" marL="0">
              <a:buNone/>
            </a:pPr>
            <a:r>
              <a:rPr lang="en-US" sz="1000" dirty="0">
                <a:solidFill>
                  <a:srgbClr val="6E6E73"/>
                </a:solidFill>
                <a:latin typeface="Arial" pitchFamily="34" charset="0"/>
                <a:ea typeface="Arial" pitchFamily="34" charset="-122"/>
                <a:cs typeface="Arial" pitchFamily="34" charset="-120"/>
              </a:rPr>
              <a:t>Qui êtes-vous ?
</a:t>
            </a:r>
            <a:pPr indent="0" marL="0">
              <a:buNone/>
            </a:pPr>
            <a:r>
              <a:rPr lang="en-US" sz="1300" dirty="0">
                <a:solidFill>
                  <a:srgbClr val="1D1D1F"/>
                </a:solidFill>
                <a:latin typeface="Arial" pitchFamily="34" charset="0"/>
                <a:ea typeface="Arial" pitchFamily="34" charset="-122"/>
                <a:cs typeface="Arial" pitchFamily="34" charset="-120"/>
              </a:rPr>
              <a:t>Professeur de mathématiques</a:t>
            </a:r>
            <a:endParaRPr lang="en-US" sz="1000" dirty="0"/>
          </a:p>
        </p:txBody>
      </p:sp>
      <p:sp>
        <p:nvSpPr>
          <p:cNvPr id="8" name="Shape 6"/>
          <p:cNvSpPr/>
          <p:nvPr/>
        </p:nvSpPr>
        <p:spPr>
          <a:xfrm>
            <a:off x="822960" y="3566160"/>
            <a:ext cx="2697480" cy="566928"/>
          </a:xfrm>
          <a:prstGeom prst="roundRect">
            <a:avLst>
              <a:gd name="adj" fmla="val 16129"/>
            </a:avLst>
          </a:prstGeom>
          <a:solidFill>
            <a:srgbClr val="FAFAFA"/>
          </a:solidFill>
          <a:ln w="9525">
            <a:solidFill>
              <a:srgbClr val="E5E5EA"/>
            </a:solidFill>
            <a:prstDash val="solid"/>
          </a:ln>
        </p:spPr>
      </p:sp>
      <p:sp>
        <p:nvSpPr>
          <p:cNvPr id="9" name="Text 7"/>
          <p:cNvSpPr txBox="1"/>
          <p:nvPr/>
        </p:nvSpPr>
        <p:spPr>
          <a:xfrm>
            <a:off x="960120" y="3630168"/>
            <a:ext cx="2423160" cy="457200"/>
          </a:xfrm>
          <a:prstGeom prst="rect">
            <a:avLst/>
          </a:prstGeom>
          <a:noFill/>
          <a:ln/>
        </p:spPr>
        <p:txBody>
          <a:bodyPr wrap="square" lIns="0" tIns="0" rIns="0" bIns="0" rtlCol="0" anchor="t"/>
          <a:lstStyle/>
          <a:p>
            <a:pPr indent="0" marL="0">
              <a:buNone/>
            </a:pPr>
            <a:r>
              <a:rPr lang="en-US" sz="1000" dirty="0">
                <a:solidFill>
                  <a:srgbClr val="6E6E73"/>
                </a:solidFill>
                <a:latin typeface="Arial" pitchFamily="34" charset="0"/>
                <a:ea typeface="Arial" pitchFamily="34" charset="-122"/>
                <a:cs typeface="Arial" pitchFamily="34" charset="-120"/>
              </a:rPr>
              <a:t>Que souhaitez-vous aborder ?
</a:t>
            </a:r>
            <a:pPr indent="0" marL="0">
              <a:buNone/>
            </a:pPr>
            <a:r>
              <a:rPr lang="en-US" sz="1300" dirty="0">
                <a:solidFill>
                  <a:srgbClr val="1D1D1F"/>
                </a:solidFill>
                <a:latin typeface="Arial" pitchFamily="34" charset="0"/>
                <a:ea typeface="Arial" pitchFamily="34" charset="-122"/>
                <a:cs typeface="Arial" pitchFamily="34" charset="-120"/>
              </a:rPr>
              <a:t>Les fractions en 5e</a:t>
            </a:r>
            <a:endParaRPr lang="en-US" sz="1000" dirty="0"/>
          </a:p>
        </p:txBody>
      </p:sp>
      <p:sp>
        <p:nvSpPr>
          <p:cNvPr id="10" name="Shape 8"/>
          <p:cNvSpPr/>
          <p:nvPr/>
        </p:nvSpPr>
        <p:spPr>
          <a:xfrm>
            <a:off x="4617720" y="1444752"/>
            <a:ext cx="7025335" cy="1097280"/>
          </a:xfrm>
          <a:prstGeom prst="roundRect">
            <a:avLst>
              <a:gd name="adj" fmla="val 13333"/>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1" name="Shape 9"/>
          <p:cNvSpPr/>
          <p:nvPr/>
        </p:nvSpPr>
        <p:spPr>
          <a:xfrm>
            <a:off x="4873752" y="1709928"/>
            <a:ext cx="566928" cy="566928"/>
          </a:xfrm>
          <a:prstGeom prst="ellipse">
            <a:avLst/>
          </a:prstGeom>
          <a:solidFill>
            <a:srgbClr val="E8F5EC"/>
          </a:solidFill>
          <a:ln/>
        </p:spPr>
      </p:sp>
      <p:pic>
        <p:nvPicPr>
          <p:cNvPr id="12" name="Image 0" descr="/var/folders/b7/tkzbyvzx72qcg9wb0t1jybvm0000gn/T/diaporama-zLbeHS/icone-8.png">    </p:cNvPr>
          <p:cNvPicPr>
            <a:picLocks noChangeAspect="1"/>
          </p:cNvPicPr>
          <p:nvPr/>
        </p:nvPicPr>
        <p:blipFill>
          <a:blip r:embed="rId1"/>
          <a:stretch>
            <a:fillRect/>
          </a:stretch>
        </p:blipFill>
        <p:spPr>
          <a:xfrm>
            <a:off x="5009815" y="1845991"/>
            <a:ext cx="294803" cy="294803"/>
          </a:xfrm>
          <a:prstGeom prst="rect">
            <a:avLst/>
          </a:prstGeom>
        </p:spPr>
      </p:pic>
      <p:sp>
        <p:nvSpPr>
          <p:cNvPr id="13" name="Text 10"/>
          <p:cNvSpPr txBox="1"/>
          <p:nvPr/>
        </p:nvSpPr>
        <p:spPr>
          <a:xfrm>
            <a:off x="5623560" y="1600200"/>
            <a:ext cx="5790895" cy="310896"/>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Un niveau ou un public scolaire est reconnu</a:t>
            </a:r>
            <a:endParaRPr lang="en-US" sz="1500" dirty="0"/>
          </a:p>
        </p:txBody>
      </p:sp>
      <p:sp>
        <p:nvSpPr>
          <p:cNvPr id="14" name="Text 11"/>
          <p:cNvSpPr txBox="1"/>
          <p:nvPr/>
        </p:nvSpPr>
        <p:spPr>
          <a:xfrm>
            <a:off x="5623560" y="1920240"/>
            <a:ext cx="5790895" cy="566928"/>
          </a:xfrm>
          <a:prstGeom prst="rect">
            <a:avLst/>
          </a:prstGeom>
          <a:noFill/>
          <a:ln/>
        </p:spPr>
        <p:txBody>
          <a:bodyPr wrap="square" lIns="0" tIns="0" rIns="0" bIns="0" rtlCol="0" anchor="t"/>
          <a:lstStyle/>
          <a:p>
            <a:pPr indent="0" marL="0">
              <a:buNone/>
            </a:pPr>
            <a:r>
              <a:rPr lang="en-US" sz="1250" dirty="0">
                <a:solidFill>
                  <a:srgbClr val="4A4A4F"/>
                </a:solidFill>
                <a:latin typeface="Arial" pitchFamily="34" charset="0"/>
                <a:ea typeface="Arial" pitchFamily="34" charset="-122"/>
                <a:cs typeface="Arial" pitchFamily="34" charset="-120"/>
              </a:rPr>
              <a:t>Caramel cherche dans les programmes officiels les passages utiles et les joint à la demande</a:t>
            </a:r>
            <a:pPr indent="0" marL="0">
              <a:buNone/>
            </a:pPr>
            <a:r>
              <a:rPr lang="en-US" sz="1250" baseline="30000" dirty="0">
                <a:solidFill>
                  <a:srgbClr val="4A4A4F"/>
                </a:solidFill>
                <a:latin typeface="Arial" pitchFamily="34" charset="0"/>
                <a:ea typeface="Arial" pitchFamily="34" charset="-122"/>
                <a:cs typeface="Arial" pitchFamily="34" charset="-120"/>
              </a:rPr>
              <a:t>1</a:t>
            </a:r>
            <a:pPr indent="0" marL="0">
              <a:buNone/>
            </a:pPr>
            <a:r>
              <a:rPr lang="en-US" sz="1250" dirty="0">
                <a:solidFill>
                  <a:srgbClr val="4A4A4F"/>
                </a:solidFill>
                <a:latin typeface="Arial" pitchFamily="34" charset="0"/>
                <a:ea typeface="Arial" pitchFamily="34" charset="-122"/>
                <a:cs typeface="Arial" pitchFamily="34" charset="-120"/>
              </a:rPr>
              <a:t>. Exemples : « professeur de 4e », « CM2 », « seconde bac pro ».</a:t>
            </a:r>
            <a:endParaRPr lang="en-US" sz="1250" dirty="0"/>
          </a:p>
        </p:txBody>
      </p:sp>
      <p:sp>
        <p:nvSpPr>
          <p:cNvPr id="15" name="Shape 12"/>
          <p:cNvSpPr/>
          <p:nvPr/>
        </p:nvSpPr>
        <p:spPr>
          <a:xfrm flipV="1">
            <a:off x="3794760" y="1993392"/>
            <a:ext cx="822960" cy="1275588"/>
          </a:xfrm>
          <a:prstGeom prst="line">
            <a:avLst/>
          </a:prstGeom>
          <a:noFill/>
          <a:ln w="15875">
            <a:solidFill>
              <a:srgbClr val="C7C7CC"/>
            </a:solidFill>
            <a:prstDash val="solid"/>
            <a:tailEnd type="triangle"/>
          </a:ln>
        </p:spPr>
      </p:sp>
      <p:sp>
        <p:nvSpPr>
          <p:cNvPr id="16" name="Shape 13"/>
          <p:cNvSpPr/>
          <p:nvPr/>
        </p:nvSpPr>
        <p:spPr>
          <a:xfrm>
            <a:off x="4617720" y="2688336"/>
            <a:ext cx="7025335" cy="1097280"/>
          </a:xfrm>
          <a:prstGeom prst="roundRect">
            <a:avLst>
              <a:gd name="adj" fmla="val 13333"/>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7" name="Shape 14"/>
          <p:cNvSpPr/>
          <p:nvPr/>
        </p:nvSpPr>
        <p:spPr>
          <a:xfrm>
            <a:off x="4873752" y="2953512"/>
            <a:ext cx="566928" cy="566928"/>
          </a:xfrm>
          <a:prstGeom prst="ellipse">
            <a:avLst/>
          </a:prstGeom>
          <a:solidFill>
            <a:srgbClr val="EDEDF0"/>
          </a:solidFill>
          <a:ln/>
        </p:spPr>
      </p:sp>
      <p:pic>
        <p:nvPicPr>
          <p:cNvPr id="18" name="Image 1" descr="/var/folders/b7/tkzbyvzx72qcg9wb0t1jybvm0000gn/T/diaporama-zLbeHS/icone-9.png">    </p:cNvPr>
          <p:cNvPicPr>
            <a:picLocks noChangeAspect="1"/>
          </p:cNvPicPr>
          <p:nvPr/>
        </p:nvPicPr>
        <p:blipFill>
          <a:blip r:embed="rId2"/>
          <a:stretch>
            <a:fillRect/>
          </a:stretch>
        </p:blipFill>
        <p:spPr>
          <a:xfrm>
            <a:off x="5009815" y="3089575"/>
            <a:ext cx="294803" cy="294803"/>
          </a:xfrm>
          <a:prstGeom prst="rect">
            <a:avLst/>
          </a:prstGeom>
        </p:spPr>
      </p:pic>
      <p:sp>
        <p:nvSpPr>
          <p:cNvPr id="19" name="Text 15"/>
          <p:cNvSpPr txBox="1"/>
          <p:nvPr/>
        </p:nvSpPr>
        <p:spPr>
          <a:xfrm>
            <a:off x="5623560" y="2843784"/>
            <a:ext cx="5790895" cy="310896"/>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Public hors scolaire, ou thème libre</a:t>
            </a:r>
            <a:endParaRPr lang="en-US" sz="1500" dirty="0"/>
          </a:p>
        </p:txBody>
      </p:sp>
      <p:sp>
        <p:nvSpPr>
          <p:cNvPr id="20" name="Text 16"/>
          <p:cNvSpPr txBox="1"/>
          <p:nvPr/>
        </p:nvSpPr>
        <p:spPr>
          <a:xfrm>
            <a:off x="5623560" y="3163824"/>
            <a:ext cx="5790895" cy="566928"/>
          </a:xfrm>
          <a:prstGeom prst="rect">
            <a:avLst/>
          </a:prstGeom>
          <a:noFill/>
          <a:ln/>
        </p:spPr>
        <p:txBody>
          <a:bodyPr wrap="square" lIns="0" tIns="0" rIns="0" bIns="0" rtlCol="0" anchor="t"/>
          <a:lstStyle/>
          <a:p>
            <a:pPr indent="0" marL="0">
              <a:buNone/>
            </a:pPr>
            <a:r>
              <a:rPr lang="en-US" sz="1250" dirty="0">
                <a:solidFill>
                  <a:srgbClr val="4A4A4F"/>
                </a:solidFill>
                <a:latin typeface="Arial" pitchFamily="34" charset="0"/>
                <a:ea typeface="Arial" pitchFamily="34" charset="-122"/>
                <a:cs typeface="Arial" pitchFamily="34" charset="-120"/>
              </a:rPr>
              <a:t>Enseignement supérieur, formation d’adultes, sujet imaginaire : les programmes n’apporteraient que du bruit. Ils ne sont pas ajoutés.</a:t>
            </a:r>
            <a:endParaRPr lang="en-US" sz="1250" dirty="0"/>
          </a:p>
        </p:txBody>
      </p:sp>
      <p:sp>
        <p:nvSpPr>
          <p:cNvPr id="21" name="Shape 17"/>
          <p:cNvSpPr/>
          <p:nvPr/>
        </p:nvSpPr>
        <p:spPr>
          <a:xfrm flipV="1">
            <a:off x="3794760" y="3236976"/>
            <a:ext cx="822960" cy="32004"/>
          </a:xfrm>
          <a:prstGeom prst="line">
            <a:avLst/>
          </a:prstGeom>
          <a:noFill/>
          <a:ln w="15875">
            <a:solidFill>
              <a:srgbClr val="C7C7CC"/>
            </a:solidFill>
            <a:prstDash val="solid"/>
            <a:tailEnd type="triangle"/>
          </a:ln>
        </p:spPr>
      </p:sp>
      <p:sp>
        <p:nvSpPr>
          <p:cNvPr id="22" name="Shape 18"/>
          <p:cNvSpPr/>
          <p:nvPr/>
        </p:nvSpPr>
        <p:spPr>
          <a:xfrm>
            <a:off x="4617720" y="3931920"/>
            <a:ext cx="7025335" cy="1097280"/>
          </a:xfrm>
          <a:prstGeom prst="roundRect">
            <a:avLst>
              <a:gd name="adj" fmla="val 13333"/>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23" name="Shape 19"/>
          <p:cNvSpPr/>
          <p:nvPr/>
        </p:nvSpPr>
        <p:spPr>
          <a:xfrm>
            <a:off x="4873752" y="4197096"/>
            <a:ext cx="566928" cy="566928"/>
          </a:xfrm>
          <a:prstGeom prst="ellipse">
            <a:avLst/>
          </a:prstGeom>
          <a:solidFill>
            <a:srgbClr val="FFECD4"/>
          </a:solidFill>
          <a:ln/>
        </p:spPr>
      </p:sp>
      <p:pic>
        <p:nvPicPr>
          <p:cNvPr id="24" name="Image 2" descr="/var/folders/b7/tkzbyvzx72qcg9wb0t1jybvm0000gn/T/diaporama-zLbeHS/icone-10.png">    </p:cNvPr>
          <p:cNvPicPr>
            <a:picLocks noChangeAspect="1"/>
          </p:cNvPicPr>
          <p:nvPr/>
        </p:nvPicPr>
        <p:blipFill>
          <a:blip r:embed="rId3"/>
          <a:stretch>
            <a:fillRect/>
          </a:stretch>
        </p:blipFill>
        <p:spPr>
          <a:xfrm>
            <a:off x="5009815" y="4333159"/>
            <a:ext cx="294803" cy="294803"/>
          </a:xfrm>
          <a:prstGeom prst="rect">
            <a:avLst/>
          </a:prstGeom>
        </p:spPr>
      </p:pic>
      <p:sp>
        <p:nvSpPr>
          <p:cNvPr id="25" name="Text 20"/>
          <p:cNvSpPr txBox="1"/>
          <p:nvPr/>
        </p:nvSpPr>
        <p:spPr>
          <a:xfrm>
            <a:off x="5623560" y="4087368"/>
            <a:ext cx="5790895" cy="310896"/>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Vous avez fourni vos documents</a:t>
            </a:r>
            <a:endParaRPr lang="en-US" sz="1500" dirty="0"/>
          </a:p>
        </p:txBody>
      </p:sp>
      <p:sp>
        <p:nvSpPr>
          <p:cNvPr id="26" name="Text 21"/>
          <p:cNvSpPr txBox="1"/>
          <p:nvPr/>
        </p:nvSpPr>
        <p:spPr>
          <a:xfrm>
            <a:off x="5623560" y="4407408"/>
            <a:ext cx="5790895" cy="566928"/>
          </a:xfrm>
          <a:prstGeom prst="rect">
            <a:avLst/>
          </a:prstGeom>
          <a:noFill/>
          <a:ln/>
        </p:spPr>
        <p:txBody>
          <a:bodyPr wrap="square" lIns="0" tIns="0" rIns="0" bIns="0" rtlCol="0" anchor="t"/>
          <a:lstStyle/>
          <a:p>
            <a:pPr indent="0" marL="0">
              <a:buNone/>
            </a:pPr>
            <a:r>
              <a:rPr lang="en-US" sz="1250" dirty="0">
                <a:solidFill>
                  <a:srgbClr val="4A4A4F"/>
                </a:solidFill>
                <a:latin typeface="Arial" pitchFamily="34" charset="0"/>
                <a:ea typeface="Arial" pitchFamily="34" charset="-122"/>
                <a:cs typeface="Arial" pitchFamily="34" charset="-120"/>
              </a:rPr>
              <a:t>Vos sources font référence : l’IA travaille à partir d’elles, sans y mêler les programmes.</a:t>
            </a:r>
            <a:endParaRPr lang="en-US" sz="1250" dirty="0"/>
          </a:p>
        </p:txBody>
      </p:sp>
      <p:sp>
        <p:nvSpPr>
          <p:cNvPr id="27" name="Shape 22"/>
          <p:cNvSpPr/>
          <p:nvPr/>
        </p:nvSpPr>
        <p:spPr>
          <a:xfrm>
            <a:off x="3794760" y="3268980"/>
            <a:ext cx="822960" cy="1211580"/>
          </a:xfrm>
          <a:prstGeom prst="line">
            <a:avLst/>
          </a:prstGeom>
          <a:noFill/>
          <a:ln w="15875">
            <a:solidFill>
              <a:srgbClr val="C7C7CC"/>
            </a:solidFill>
            <a:prstDash val="solid"/>
            <a:tailEnd type="triangle"/>
          </a:ln>
        </p:spPr>
      </p:sp>
      <p:sp>
        <p:nvSpPr>
          <p:cNvPr id="28" name="Text 23"/>
          <p:cNvSpPr txBox="1"/>
          <p:nvPr/>
        </p:nvSpPr>
        <p:spPr>
          <a:xfrm>
            <a:off x="548640" y="5285232"/>
            <a:ext cx="11094415" cy="32004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Aucun réglage : la décision se déduit de ce que vous avez saisi, dans les 12 langues de l’interface.</a:t>
            </a:r>
            <a:endParaRPr lang="en-US" sz="1400" dirty="0"/>
          </a:p>
        </p:txBody>
      </p:sp>
      <p:sp>
        <p:nvSpPr>
          <p:cNvPr id="29" name="Text 24"/>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baseline="30000" dirty="0">
                <a:solidFill>
                  <a:srgbClr val="6E6E73"/>
                </a:solidFill>
                <a:latin typeface="Arial" pitchFamily="34" charset="0"/>
                <a:ea typeface="Arial" pitchFamily="34" charset="-122"/>
                <a:cs typeface="Arial" pitchFamily="34" charset="-120"/>
              </a:rPr>
              <a:t>1</a:t>
            </a:r>
            <a:pPr indent="0" marL="0">
              <a:lnSpc>
                <a:spcPct val="105000"/>
              </a:lnSpc>
              <a:buNone/>
            </a:pPr>
            <a:r>
              <a:rPr lang="en-US" sz="950" dirty="0">
                <a:solidFill>
                  <a:srgbClr val="6E6E73"/>
                </a:solidFill>
                <a:latin typeface="Arial" pitchFamily="34" charset="0"/>
                <a:ea typeface="Arial" pitchFamily="34" charset="-122"/>
                <a:cs typeface="Arial" pitchFamily="34" charset="-120"/>
              </a:rPr>
              <a:t> Avec la génération en un clic. Technique dite RAG (génération augmentée par la recherche) : seuls les extraits pertinents des programmes sont transmis à l’IA. Un prompt copié vers une autre IA lui demande de s’appuyer sur les programmes officiels, sans en joindre les extraits.</a:t>
            </a:r>
            <a:endParaRPr lang="en-US" sz="950" dirty="0"/>
          </a:p>
        </p:txBody>
      </p:sp>
      <p:sp>
        <p:nvSpPr>
          <p:cNvPr id="30" name="Text 25"/>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31" name="Text 26"/>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8 / 24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2 · Créer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1. Décrivez votre besoin</a:t>
            </a:r>
            <a:endParaRPr lang="en-US" sz="3000" dirty="0"/>
          </a:p>
        </p:txBody>
      </p:sp>
      <p:sp>
        <p:nvSpPr>
          <p:cNvPr id="4" name="Shape 2"/>
          <p:cNvSpPr/>
          <p:nvPr/>
        </p:nvSpPr>
        <p:spPr>
          <a:xfrm>
            <a:off x="795528" y="1481328"/>
            <a:ext cx="10600639" cy="2806932"/>
          </a:xfrm>
          <a:prstGeom prst="roundRect">
            <a:avLst>
              <a:gd name="adj" fmla="val 3909"/>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diaporama-zLbeHS/rapide.jpg">    </p:cNvPr>
          <p:cNvPicPr>
            <a:picLocks noChangeAspect="1"/>
          </p:cNvPicPr>
          <p:nvPr/>
        </p:nvPicPr>
        <p:blipFill>
          <a:blip r:embed="rId1"/>
          <a:stretch>
            <a:fillRect/>
          </a:stretch>
        </p:blipFill>
        <p:spPr>
          <a:xfrm>
            <a:off x="868680" y="1554480"/>
            <a:ext cx="10454335" cy="2660628"/>
          </a:xfrm>
          <a:prstGeom prst="rect">
            <a:avLst/>
          </a:prstGeom>
        </p:spPr>
      </p:pic>
      <p:sp>
        <p:nvSpPr>
          <p:cNvPr id="6" name="Text 3"/>
          <p:cNvSpPr txBox="1"/>
          <p:nvPr/>
        </p:nvSpPr>
        <p:spPr>
          <a:xfrm>
            <a:off x="548640" y="4617720"/>
            <a:ext cx="3515258"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Mode rapide</a:t>
            </a:r>
            <a:endParaRPr lang="en-US" sz="1700" dirty="0"/>
          </a:p>
        </p:txBody>
      </p:sp>
      <p:sp>
        <p:nvSpPr>
          <p:cNvPr id="7" name="Text 4"/>
          <p:cNvSpPr txBox="1"/>
          <p:nvPr/>
        </p:nvSpPr>
        <p:spPr>
          <a:xfrm>
            <a:off x="548640" y="5001768"/>
            <a:ext cx="3515258" cy="82296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Deux champs : qui vous êtes, ce que vous voulez aborder. Soyez précis : thème, niveau, contraintes.</a:t>
            </a:r>
            <a:endParaRPr lang="en-US" sz="1400" dirty="0"/>
          </a:p>
        </p:txBody>
      </p:sp>
      <p:sp>
        <p:nvSpPr>
          <p:cNvPr id="8" name="Text 5"/>
          <p:cNvSpPr txBox="1"/>
          <p:nvPr/>
        </p:nvSpPr>
        <p:spPr>
          <a:xfrm>
            <a:off x="4338218" y="4617720"/>
            <a:ext cx="3515258"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Mode avancé</a:t>
            </a:r>
            <a:endParaRPr lang="en-US" sz="1700" dirty="0"/>
          </a:p>
        </p:txBody>
      </p:sp>
      <p:sp>
        <p:nvSpPr>
          <p:cNvPr id="9" name="Text 6"/>
          <p:cNvSpPr txBox="1"/>
          <p:nvPr/>
        </p:nvSpPr>
        <p:spPr>
          <a:xfrm>
            <a:off x="4338218" y="5001768"/>
            <a:ext cx="3515258" cy="82296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Discipline, niveau, nombre de questions, consignes particulières… et vos documents.</a:t>
            </a:r>
            <a:endParaRPr lang="en-US" sz="1400" dirty="0"/>
          </a:p>
        </p:txBody>
      </p:sp>
      <p:sp>
        <p:nvSpPr>
          <p:cNvPr id="10" name="Text 7"/>
          <p:cNvSpPr txBox="1"/>
          <p:nvPr/>
        </p:nvSpPr>
        <p:spPr>
          <a:xfrm>
            <a:off x="8127797" y="4617720"/>
            <a:ext cx="3515258"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Au micro</a:t>
            </a:r>
            <a:endParaRPr lang="en-US" sz="1700" dirty="0"/>
          </a:p>
        </p:txBody>
      </p:sp>
      <p:sp>
        <p:nvSpPr>
          <p:cNvPr id="11" name="Text 8"/>
          <p:cNvSpPr txBox="1"/>
          <p:nvPr/>
        </p:nvSpPr>
        <p:spPr>
          <a:xfrm>
            <a:off x="8127797" y="5001768"/>
            <a:ext cx="3515258" cy="82296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Chaque champ se remplit aussi à la voix : un clic sur le micro, et vous parlez.</a:t>
            </a:r>
            <a:endParaRPr lang="en-US" sz="1400" dirty="0"/>
          </a:p>
        </p:txBody>
      </p:sp>
      <p:sp>
        <p:nvSpPr>
          <p:cNvPr id="12" name="Text 9"/>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13" name="Text 10"/>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9 / 24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2 · Créer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2. Ajoutez vos sources, si vous le souhaitez</a:t>
            </a:r>
            <a:endParaRPr lang="en-US" sz="3000" dirty="0"/>
          </a:p>
        </p:txBody>
      </p:sp>
      <p:sp>
        <p:nvSpPr>
          <p:cNvPr id="4" name="Text 2"/>
          <p:cNvSpPr txBox="1"/>
          <p:nvPr/>
        </p:nvSpPr>
        <p:spPr>
          <a:xfrm>
            <a:off x="548640" y="1481328"/>
            <a:ext cx="5074920" cy="868680"/>
          </a:xfrm>
          <a:prstGeom prst="rect">
            <a:avLst/>
          </a:prstGeom>
          <a:noFill/>
          <a:ln/>
        </p:spPr>
        <p:txBody>
          <a:bodyPr wrap="square" lIns="0" tIns="0" rIns="0" bIns="0" rtlCol="0" anchor="t"/>
          <a:lstStyle/>
          <a:p>
            <a:pPr indent="0" marL="0">
              <a:buNone/>
            </a:pPr>
            <a:r>
              <a:rPr lang="en-US" sz="1600" dirty="0">
                <a:solidFill>
                  <a:srgbClr val="4A4A4F"/>
                </a:solidFill>
                <a:latin typeface="Arial" pitchFamily="34" charset="0"/>
                <a:ea typeface="Arial" pitchFamily="34" charset="-122"/>
                <a:cs typeface="Arial" pitchFamily="34" charset="-120"/>
              </a:rPr>
              <a:t>Avec vos documents, l’IA travaille exclusivement à partir d’eux : ils priment sur ses connaissances et sur les programmes.</a:t>
            </a:r>
            <a:endParaRPr lang="en-US" sz="1600" dirty="0"/>
          </a:p>
        </p:txBody>
      </p:sp>
      <p:sp>
        <p:nvSpPr>
          <p:cNvPr id="5" name="Shape 3"/>
          <p:cNvSpPr/>
          <p:nvPr/>
        </p:nvSpPr>
        <p:spPr>
          <a:xfrm>
            <a:off x="548640" y="2514600"/>
            <a:ext cx="457200" cy="457200"/>
          </a:xfrm>
          <a:prstGeom prst="roundRect">
            <a:avLst>
              <a:gd name="adj" fmla="val 28000"/>
            </a:avLst>
          </a:prstGeom>
          <a:solidFill>
            <a:srgbClr val="FFECD4"/>
          </a:solidFill>
          <a:ln/>
        </p:spPr>
      </p:sp>
      <p:pic>
        <p:nvPicPr>
          <p:cNvPr id="6" name="Image 0" descr="/var/folders/b7/tkzbyvzx72qcg9wb0t1jybvm0000gn/T/diaporama-zLbeHS/icone-11.png">    </p:cNvPr>
          <p:cNvPicPr>
            <a:picLocks noChangeAspect="1"/>
          </p:cNvPicPr>
          <p:nvPr/>
        </p:nvPicPr>
        <p:blipFill>
          <a:blip r:embed="rId1"/>
          <a:stretch>
            <a:fillRect/>
          </a:stretch>
        </p:blipFill>
        <p:spPr>
          <a:xfrm>
            <a:off x="658368" y="2624328"/>
            <a:ext cx="237744" cy="237744"/>
          </a:xfrm>
          <a:prstGeom prst="rect">
            <a:avLst/>
          </a:prstGeom>
        </p:spPr>
      </p:pic>
      <p:sp>
        <p:nvSpPr>
          <p:cNvPr id="7" name="Text 4"/>
          <p:cNvSpPr txBox="1"/>
          <p:nvPr/>
        </p:nvSpPr>
        <p:spPr>
          <a:xfrm>
            <a:off x="1188720" y="2514600"/>
            <a:ext cx="4480560" cy="45720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Coller un texte  </a:t>
            </a:r>
            <a:pPr indent="0" marL="0">
              <a:buNone/>
            </a:pPr>
            <a:r>
              <a:rPr lang="en-US" sz="1400" dirty="0">
                <a:solidFill>
                  <a:srgbClr val="4A4A4F"/>
                </a:solidFill>
                <a:latin typeface="Arial" pitchFamily="34" charset="0"/>
                <a:ea typeface="Arial" pitchFamily="34" charset="-122"/>
                <a:cs typeface="Arial" pitchFamily="34" charset="-120"/>
              </a:rPr>
              <a:t>jusqu’à 120 000 caractères</a:t>
            </a:r>
            <a:endParaRPr lang="en-US" sz="1400" dirty="0"/>
          </a:p>
        </p:txBody>
      </p:sp>
      <p:sp>
        <p:nvSpPr>
          <p:cNvPr id="8" name="Shape 5"/>
          <p:cNvSpPr/>
          <p:nvPr/>
        </p:nvSpPr>
        <p:spPr>
          <a:xfrm>
            <a:off x="548640" y="3172968"/>
            <a:ext cx="457200" cy="457200"/>
          </a:xfrm>
          <a:prstGeom prst="roundRect">
            <a:avLst>
              <a:gd name="adj" fmla="val 28000"/>
            </a:avLst>
          </a:prstGeom>
          <a:solidFill>
            <a:srgbClr val="FFECD4"/>
          </a:solidFill>
          <a:ln/>
        </p:spPr>
      </p:sp>
      <p:pic>
        <p:nvPicPr>
          <p:cNvPr id="9" name="Image 1" descr="/var/folders/b7/tkzbyvzx72qcg9wb0t1jybvm0000gn/T/diaporama-zLbeHS/icone-12.png">    </p:cNvPr>
          <p:cNvPicPr>
            <a:picLocks noChangeAspect="1"/>
          </p:cNvPicPr>
          <p:nvPr/>
        </p:nvPicPr>
        <p:blipFill>
          <a:blip r:embed="rId2"/>
          <a:stretch>
            <a:fillRect/>
          </a:stretch>
        </p:blipFill>
        <p:spPr>
          <a:xfrm>
            <a:off x="658368" y="3282696"/>
            <a:ext cx="237744" cy="237744"/>
          </a:xfrm>
          <a:prstGeom prst="rect">
            <a:avLst/>
          </a:prstGeom>
        </p:spPr>
      </p:pic>
      <p:sp>
        <p:nvSpPr>
          <p:cNvPr id="10" name="Text 6"/>
          <p:cNvSpPr txBox="1"/>
          <p:nvPr/>
        </p:nvSpPr>
        <p:spPr>
          <a:xfrm>
            <a:off x="1188720" y="3172968"/>
            <a:ext cx="4480560" cy="45720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Déposer des fichiers  </a:t>
            </a:r>
            <a:pPr indent="0" marL="0">
              <a:buNone/>
            </a:pPr>
            <a:r>
              <a:rPr lang="en-US" sz="1400" dirty="0">
                <a:solidFill>
                  <a:srgbClr val="4A4A4F"/>
                </a:solidFill>
                <a:latin typeface="Arial" pitchFamily="34" charset="0"/>
                <a:ea typeface="Arial" pitchFamily="34" charset="-122"/>
                <a:cs typeface="Arial" pitchFamily="34" charset="-120"/>
              </a:rPr>
              <a:t>PDF, DOCX, PPTX, ODT, ODP</a:t>
            </a:r>
            <a:endParaRPr lang="en-US" sz="1400" dirty="0"/>
          </a:p>
        </p:txBody>
      </p:sp>
      <p:sp>
        <p:nvSpPr>
          <p:cNvPr id="11" name="Shape 7"/>
          <p:cNvSpPr/>
          <p:nvPr/>
        </p:nvSpPr>
        <p:spPr>
          <a:xfrm>
            <a:off x="548640" y="3831336"/>
            <a:ext cx="457200" cy="457200"/>
          </a:xfrm>
          <a:prstGeom prst="roundRect">
            <a:avLst>
              <a:gd name="adj" fmla="val 28000"/>
            </a:avLst>
          </a:prstGeom>
          <a:solidFill>
            <a:srgbClr val="FFECD4"/>
          </a:solidFill>
          <a:ln/>
        </p:spPr>
      </p:sp>
      <p:pic>
        <p:nvPicPr>
          <p:cNvPr id="12" name="Image 2" descr="/var/folders/b7/tkzbyvzx72qcg9wb0t1jybvm0000gn/T/diaporama-zLbeHS/icone-13.png">    </p:cNvPr>
          <p:cNvPicPr>
            <a:picLocks noChangeAspect="1"/>
          </p:cNvPicPr>
          <p:nvPr/>
        </p:nvPicPr>
        <p:blipFill>
          <a:blip r:embed="rId3"/>
          <a:stretch>
            <a:fillRect/>
          </a:stretch>
        </p:blipFill>
        <p:spPr>
          <a:xfrm>
            <a:off x="658368" y="3941064"/>
            <a:ext cx="237744" cy="237744"/>
          </a:xfrm>
          <a:prstGeom prst="rect">
            <a:avLst/>
          </a:prstGeom>
        </p:spPr>
      </p:pic>
      <p:sp>
        <p:nvSpPr>
          <p:cNvPr id="13" name="Text 8"/>
          <p:cNvSpPr txBox="1"/>
          <p:nvPr/>
        </p:nvSpPr>
        <p:spPr>
          <a:xfrm>
            <a:off x="1188720" y="3831336"/>
            <a:ext cx="4480560" cy="45720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Des images  </a:t>
            </a:r>
            <a:pPr indent="0" marL="0">
              <a:buNone/>
            </a:pPr>
            <a:r>
              <a:rPr lang="en-US" sz="1400" dirty="0">
                <a:solidFill>
                  <a:srgbClr val="4A4A4F"/>
                </a:solidFill>
                <a:latin typeface="Arial" pitchFamily="34" charset="0"/>
                <a:ea typeface="Arial" pitchFamily="34" charset="-122"/>
                <a:cs typeface="Arial" pitchFamily="34" charset="-120"/>
              </a:rPr>
              <a:t>le texte est reconnu (OCR)</a:t>
            </a:r>
            <a:endParaRPr lang="en-US" sz="1400" dirty="0"/>
          </a:p>
        </p:txBody>
      </p:sp>
      <p:sp>
        <p:nvSpPr>
          <p:cNvPr id="14" name="Shape 9"/>
          <p:cNvSpPr/>
          <p:nvPr/>
        </p:nvSpPr>
        <p:spPr>
          <a:xfrm>
            <a:off x="548640" y="4489704"/>
            <a:ext cx="457200" cy="457200"/>
          </a:xfrm>
          <a:prstGeom prst="roundRect">
            <a:avLst>
              <a:gd name="adj" fmla="val 28000"/>
            </a:avLst>
          </a:prstGeom>
          <a:solidFill>
            <a:srgbClr val="FFECD4"/>
          </a:solidFill>
          <a:ln/>
        </p:spPr>
      </p:sp>
      <p:pic>
        <p:nvPicPr>
          <p:cNvPr id="15" name="Image 3" descr="/var/folders/b7/tkzbyvzx72qcg9wb0t1jybvm0000gn/T/diaporama-zLbeHS/icone-14.png">    </p:cNvPr>
          <p:cNvPicPr>
            <a:picLocks noChangeAspect="1"/>
          </p:cNvPicPr>
          <p:nvPr/>
        </p:nvPicPr>
        <p:blipFill>
          <a:blip r:embed="rId4"/>
          <a:stretch>
            <a:fillRect/>
          </a:stretch>
        </p:blipFill>
        <p:spPr>
          <a:xfrm>
            <a:off x="658368" y="4599432"/>
            <a:ext cx="237744" cy="237744"/>
          </a:xfrm>
          <a:prstGeom prst="rect">
            <a:avLst/>
          </a:prstGeom>
        </p:spPr>
      </p:pic>
      <p:sp>
        <p:nvSpPr>
          <p:cNvPr id="16" name="Text 10"/>
          <p:cNvSpPr txBox="1"/>
          <p:nvPr/>
        </p:nvSpPr>
        <p:spPr>
          <a:xfrm>
            <a:off x="1188720" y="4489704"/>
            <a:ext cx="4480560" cy="45720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De l’audio, de la vidéo  </a:t>
            </a:r>
            <a:pPr indent="0" marL="0">
              <a:buNone/>
            </a:pPr>
            <a:r>
              <a:rPr lang="en-US" sz="1400" dirty="0">
                <a:solidFill>
                  <a:srgbClr val="4A4A4F"/>
                </a:solidFill>
                <a:latin typeface="Arial" pitchFamily="34" charset="0"/>
                <a:ea typeface="Arial" pitchFamily="34" charset="-122"/>
                <a:cs typeface="Arial" pitchFamily="34" charset="-120"/>
              </a:rPr>
              <a:t>la bande-son est transcrite</a:t>
            </a:r>
            <a:endParaRPr lang="en-US" sz="1400" dirty="0"/>
          </a:p>
        </p:txBody>
      </p:sp>
      <p:sp>
        <p:nvSpPr>
          <p:cNvPr id="17" name="Shape 11"/>
          <p:cNvSpPr/>
          <p:nvPr/>
        </p:nvSpPr>
        <p:spPr>
          <a:xfrm>
            <a:off x="548640" y="5148072"/>
            <a:ext cx="457200" cy="457200"/>
          </a:xfrm>
          <a:prstGeom prst="roundRect">
            <a:avLst>
              <a:gd name="adj" fmla="val 28000"/>
            </a:avLst>
          </a:prstGeom>
          <a:solidFill>
            <a:srgbClr val="FFECD4"/>
          </a:solidFill>
          <a:ln/>
        </p:spPr>
      </p:sp>
      <p:pic>
        <p:nvPicPr>
          <p:cNvPr id="18" name="Image 4" descr="/var/folders/b7/tkzbyvzx72qcg9wb0t1jybvm0000gn/T/diaporama-zLbeHS/icone-15.png">    </p:cNvPr>
          <p:cNvPicPr>
            <a:picLocks noChangeAspect="1"/>
          </p:cNvPicPr>
          <p:nvPr/>
        </p:nvPicPr>
        <p:blipFill>
          <a:blip r:embed="rId5"/>
          <a:stretch>
            <a:fillRect/>
          </a:stretch>
        </p:blipFill>
        <p:spPr>
          <a:xfrm>
            <a:off x="658368" y="5257800"/>
            <a:ext cx="237744" cy="237744"/>
          </a:xfrm>
          <a:prstGeom prst="rect">
            <a:avLst/>
          </a:prstGeom>
        </p:spPr>
      </p:pic>
      <p:sp>
        <p:nvSpPr>
          <p:cNvPr id="19" name="Text 12"/>
          <p:cNvSpPr txBox="1"/>
          <p:nvPr/>
        </p:nvSpPr>
        <p:spPr>
          <a:xfrm>
            <a:off x="1188720" y="5148072"/>
            <a:ext cx="4480560" cy="45720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Une page web  </a:t>
            </a:r>
            <a:pPr indent="0" marL="0">
              <a:buNone/>
            </a:pPr>
            <a:r>
              <a:rPr lang="en-US" sz="1400" dirty="0">
                <a:solidFill>
                  <a:srgbClr val="4A4A4F"/>
                </a:solidFill>
                <a:latin typeface="Arial" pitchFamily="34" charset="0"/>
                <a:ea typeface="Arial" pitchFamily="34" charset="-122"/>
                <a:cs typeface="Arial" pitchFamily="34" charset="-120"/>
              </a:rPr>
              <a:t>collez simplement son lien</a:t>
            </a:r>
            <a:endParaRPr lang="en-US" sz="1400" dirty="0"/>
          </a:p>
        </p:txBody>
      </p:sp>
      <p:sp>
        <p:nvSpPr>
          <p:cNvPr id="20" name="Shape 13"/>
          <p:cNvSpPr/>
          <p:nvPr/>
        </p:nvSpPr>
        <p:spPr>
          <a:xfrm>
            <a:off x="5916168" y="1408176"/>
            <a:ext cx="5800039" cy="4081932"/>
          </a:xfrm>
          <a:prstGeom prst="roundRect">
            <a:avLst>
              <a:gd name="adj" fmla="val 268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21" name="Image 5" descr="/var/folders/b7/tkzbyvzx72qcg9wb0t1jybvm0000gn/T/diaporama-zLbeHS/avance.jpg">    </p:cNvPr>
          <p:cNvPicPr>
            <a:picLocks noChangeAspect="1"/>
          </p:cNvPicPr>
          <p:nvPr/>
        </p:nvPicPr>
        <p:blipFill>
          <a:blip r:embed="rId6"/>
          <a:stretch>
            <a:fillRect/>
          </a:stretch>
        </p:blipFill>
        <p:spPr>
          <a:xfrm>
            <a:off x="5989320" y="1481328"/>
            <a:ext cx="5653735" cy="3935628"/>
          </a:xfrm>
          <a:prstGeom prst="rect">
            <a:avLst/>
          </a:prstGeom>
        </p:spPr>
      </p:pic>
      <p:sp>
        <p:nvSpPr>
          <p:cNvPr id="22" name="Text 1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3" name="Text 1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10 / 24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2 · Créer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3. Choisissez l’activité</a:t>
            </a:r>
            <a:endParaRPr lang="en-US" sz="3000" dirty="0"/>
          </a:p>
        </p:txBody>
      </p:sp>
      <p:sp>
        <p:nvSpPr>
          <p:cNvPr id="4" name="Shape 2"/>
          <p:cNvSpPr/>
          <p:nvPr/>
        </p:nvSpPr>
        <p:spPr>
          <a:xfrm>
            <a:off x="475488" y="1527048"/>
            <a:ext cx="7507224" cy="3686907"/>
          </a:xfrm>
          <a:prstGeom prst="roundRect">
            <a:avLst>
              <a:gd name="adj" fmla="val 2976"/>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diaporama-zLbeHS/activites.jpg">    </p:cNvPr>
          <p:cNvPicPr>
            <a:picLocks noChangeAspect="1"/>
          </p:cNvPicPr>
          <p:nvPr/>
        </p:nvPicPr>
        <p:blipFill>
          <a:blip r:embed="rId1"/>
          <a:stretch>
            <a:fillRect/>
          </a:stretch>
        </p:blipFill>
        <p:spPr>
          <a:xfrm>
            <a:off x="548640" y="1600200"/>
            <a:ext cx="7360920" cy="3540603"/>
          </a:xfrm>
          <a:prstGeom prst="rect">
            <a:avLst/>
          </a:prstGeom>
        </p:spPr>
      </p:pic>
      <p:sp>
        <p:nvSpPr>
          <p:cNvPr id="6" name="Text 3"/>
          <p:cNvSpPr txBox="1"/>
          <p:nvPr/>
        </p:nvSpPr>
        <p:spPr>
          <a:xfrm>
            <a:off x="8366760" y="1645920"/>
            <a:ext cx="3276295" cy="2926080"/>
          </a:xfrm>
          <a:prstGeom prst="rect">
            <a:avLst/>
          </a:prstGeom>
          <a:noFill/>
          <a:ln/>
        </p:spPr>
        <p:txBody>
          <a:bodyPr wrap="square" lIns="0" tIns="0" rIns="0" bIns="0" rtlCol="0" anchor="t"/>
          <a:lstStyle/>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35 tuiles</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27 activités H5P, interactives, et 8 modules Moodle natifs.</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Des filtres par famille</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quiz et tests, manipulation de texte, mémorisation et découverte.</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Et par plateforme</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H5P, Éléa, Magistère, Moodle.</a:t>
            </a:r>
            <a:endParaRPr lang="en-US" sz="1450" dirty="0"/>
          </a:p>
        </p:txBody>
      </p:sp>
      <p:sp>
        <p:nvSpPr>
          <p:cNvPr id="7" name="Text 4"/>
          <p:cNvSpPr txBox="1"/>
          <p:nvPr/>
        </p:nvSpPr>
        <p:spPr>
          <a:xfrm>
            <a:off x="548640" y="5506563"/>
            <a:ext cx="4572000" cy="274320"/>
          </a:xfrm>
          <a:prstGeom prst="rect">
            <a:avLst/>
          </a:prstGeom>
          <a:noFill/>
          <a:ln/>
        </p:spPr>
        <p:txBody>
          <a:bodyPr wrap="square" lIns="0" tIns="0" rIns="0" bIns="0" rtlCol="0" anchor="t"/>
          <a:lstStyle/>
          <a:p>
            <a:pPr indent="0" marL="0">
              <a:buNone/>
            </a:pPr>
            <a:r>
              <a:rPr lang="en-US" sz="1300" b="1" dirty="0">
                <a:solidFill>
                  <a:srgbClr val="6E6E73"/>
                </a:solidFill>
                <a:latin typeface="Arial" pitchFamily="34" charset="0"/>
                <a:ea typeface="Arial" pitchFamily="34" charset="-122"/>
                <a:cs typeface="Arial" pitchFamily="34" charset="-120"/>
              </a:rPr>
              <a:t>Quelques exemples</a:t>
            </a:r>
            <a:endParaRPr lang="en-US" sz="1300" dirty="0"/>
          </a:p>
        </p:txBody>
      </p:sp>
      <p:sp>
        <p:nvSpPr>
          <p:cNvPr id="8" name="Shape 5"/>
          <p:cNvSpPr/>
          <p:nvPr/>
        </p:nvSpPr>
        <p:spPr>
          <a:xfrm>
            <a:off x="548640" y="5854035"/>
            <a:ext cx="1284732" cy="347472"/>
          </a:xfrm>
          <a:prstGeom prst="roundRect">
            <a:avLst>
              <a:gd name="adj" fmla="val 50000"/>
            </a:avLst>
          </a:prstGeom>
          <a:solidFill>
            <a:srgbClr val="FFFFFF"/>
          </a:solidFill>
          <a:ln w="9525">
            <a:solidFill>
              <a:srgbClr val="E5E5EA"/>
            </a:solidFill>
            <a:prstDash val="solid"/>
          </a:ln>
        </p:spPr>
      </p:sp>
      <p:sp>
        <p:nvSpPr>
          <p:cNvPr id="9" name="Text 6"/>
          <p:cNvSpPr txBox="1"/>
          <p:nvPr/>
        </p:nvSpPr>
        <p:spPr>
          <a:xfrm>
            <a:off x="548640" y="5854035"/>
            <a:ext cx="1284732" cy="347472"/>
          </a:xfrm>
          <a:prstGeom prst="rect">
            <a:avLst/>
          </a:prstGeom>
          <a:noFill/>
          <a:ln/>
        </p:spPr>
        <p:txBody>
          <a:bodyPr wrap="square" lIns="0" tIns="0" rIns="0" bIns="0" rtlCol="0" anchor="ctr"/>
          <a:lstStyle/>
          <a:p>
            <a:pPr algn="ctr" indent="0" marL="0">
              <a:buNone/>
            </a:pPr>
            <a:r>
              <a:rPr lang="en-US" sz="1200" dirty="0">
                <a:solidFill>
                  <a:srgbClr val="4A4A4F"/>
                </a:solidFill>
                <a:latin typeface="Arial" pitchFamily="34" charset="0"/>
                <a:ea typeface="Arial" pitchFamily="34" charset="-122"/>
                <a:cs typeface="Arial" pitchFamily="34" charset="-120"/>
              </a:rPr>
              <a:t>Texte à trous</a:t>
            </a:r>
            <a:endParaRPr lang="en-US" sz="1200" dirty="0"/>
          </a:p>
        </p:txBody>
      </p:sp>
      <p:sp>
        <p:nvSpPr>
          <p:cNvPr id="10" name="Shape 7"/>
          <p:cNvSpPr/>
          <p:nvPr/>
        </p:nvSpPr>
        <p:spPr>
          <a:xfrm>
            <a:off x="1961388" y="5854035"/>
            <a:ext cx="1440180" cy="347472"/>
          </a:xfrm>
          <a:prstGeom prst="roundRect">
            <a:avLst>
              <a:gd name="adj" fmla="val 50000"/>
            </a:avLst>
          </a:prstGeom>
          <a:solidFill>
            <a:srgbClr val="FFFFFF"/>
          </a:solidFill>
          <a:ln w="9525">
            <a:solidFill>
              <a:srgbClr val="E5E5EA"/>
            </a:solidFill>
            <a:prstDash val="solid"/>
          </a:ln>
        </p:spPr>
      </p:sp>
      <p:sp>
        <p:nvSpPr>
          <p:cNvPr id="11" name="Text 8"/>
          <p:cNvSpPr txBox="1"/>
          <p:nvPr/>
        </p:nvSpPr>
        <p:spPr>
          <a:xfrm>
            <a:off x="1961388" y="5854035"/>
            <a:ext cx="1440180" cy="347472"/>
          </a:xfrm>
          <a:prstGeom prst="rect">
            <a:avLst/>
          </a:prstGeom>
          <a:noFill/>
          <a:ln/>
        </p:spPr>
        <p:txBody>
          <a:bodyPr wrap="square" lIns="0" tIns="0" rIns="0" bIns="0" rtlCol="0" anchor="ctr"/>
          <a:lstStyle/>
          <a:p>
            <a:pPr algn="ctr" indent="0" marL="0">
              <a:buNone/>
            </a:pPr>
            <a:r>
              <a:rPr lang="en-US" sz="1200" dirty="0">
                <a:solidFill>
                  <a:srgbClr val="4A4A4F"/>
                </a:solidFill>
                <a:latin typeface="Arial" pitchFamily="34" charset="0"/>
                <a:ea typeface="Arial" pitchFamily="34" charset="-122"/>
                <a:cs typeface="Arial" pitchFamily="34" charset="-120"/>
              </a:rPr>
              <a:t>Glisser-déposer</a:t>
            </a:r>
            <a:endParaRPr lang="en-US" sz="1200" dirty="0"/>
          </a:p>
        </p:txBody>
      </p:sp>
      <p:sp>
        <p:nvSpPr>
          <p:cNvPr id="12" name="Shape 9"/>
          <p:cNvSpPr/>
          <p:nvPr/>
        </p:nvSpPr>
        <p:spPr>
          <a:xfrm>
            <a:off x="3529584" y="5854035"/>
            <a:ext cx="1207008" cy="347472"/>
          </a:xfrm>
          <a:prstGeom prst="roundRect">
            <a:avLst>
              <a:gd name="adj" fmla="val 50000"/>
            </a:avLst>
          </a:prstGeom>
          <a:solidFill>
            <a:srgbClr val="FFFFFF"/>
          </a:solidFill>
          <a:ln w="9525">
            <a:solidFill>
              <a:srgbClr val="E5E5EA"/>
            </a:solidFill>
            <a:prstDash val="solid"/>
          </a:ln>
        </p:spPr>
      </p:sp>
      <p:sp>
        <p:nvSpPr>
          <p:cNvPr id="13" name="Text 10"/>
          <p:cNvSpPr txBox="1"/>
          <p:nvPr/>
        </p:nvSpPr>
        <p:spPr>
          <a:xfrm>
            <a:off x="3529584" y="5854035"/>
            <a:ext cx="1207008" cy="347472"/>
          </a:xfrm>
          <a:prstGeom prst="rect">
            <a:avLst/>
          </a:prstGeom>
          <a:noFill/>
          <a:ln/>
        </p:spPr>
        <p:txBody>
          <a:bodyPr wrap="square" lIns="0" tIns="0" rIns="0" bIns="0" rtlCol="0" anchor="ctr"/>
          <a:lstStyle/>
          <a:p>
            <a:pPr algn="ctr" indent="0" marL="0">
              <a:buNone/>
            </a:pPr>
            <a:r>
              <a:rPr lang="en-US" sz="1200" dirty="0">
                <a:solidFill>
                  <a:srgbClr val="4A4A4F"/>
                </a:solidFill>
                <a:latin typeface="Arial" pitchFamily="34" charset="0"/>
                <a:ea typeface="Arial" pitchFamily="34" charset="-122"/>
                <a:cs typeface="Arial" pitchFamily="34" charset="-120"/>
              </a:rPr>
              <a:t>Mots croisés</a:t>
            </a:r>
            <a:endParaRPr lang="en-US" sz="1200" dirty="0"/>
          </a:p>
        </p:txBody>
      </p:sp>
      <p:sp>
        <p:nvSpPr>
          <p:cNvPr id="14" name="Shape 11"/>
          <p:cNvSpPr/>
          <p:nvPr/>
        </p:nvSpPr>
        <p:spPr>
          <a:xfrm>
            <a:off x="4864608" y="5854035"/>
            <a:ext cx="1751076" cy="347472"/>
          </a:xfrm>
          <a:prstGeom prst="roundRect">
            <a:avLst>
              <a:gd name="adj" fmla="val 50000"/>
            </a:avLst>
          </a:prstGeom>
          <a:solidFill>
            <a:srgbClr val="FFFFFF"/>
          </a:solidFill>
          <a:ln w="9525">
            <a:solidFill>
              <a:srgbClr val="E5E5EA"/>
            </a:solidFill>
            <a:prstDash val="solid"/>
          </a:ln>
        </p:spPr>
      </p:sp>
      <p:sp>
        <p:nvSpPr>
          <p:cNvPr id="15" name="Text 12"/>
          <p:cNvSpPr txBox="1"/>
          <p:nvPr/>
        </p:nvSpPr>
        <p:spPr>
          <a:xfrm>
            <a:off x="4864608" y="5854035"/>
            <a:ext cx="1751076" cy="347472"/>
          </a:xfrm>
          <a:prstGeom prst="rect">
            <a:avLst/>
          </a:prstGeom>
          <a:noFill/>
          <a:ln/>
        </p:spPr>
        <p:txBody>
          <a:bodyPr wrap="square" lIns="0" tIns="0" rIns="0" bIns="0" rtlCol="0" anchor="ctr"/>
          <a:lstStyle/>
          <a:p>
            <a:pPr algn="ctr" indent="0" marL="0">
              <a:buNone/>
            </a:pPr>
            <a:r>
              <a:rPr lang="en-US" sz="1200" dirty="0">
                <a:solidFill>
                  <a:srgbClr val="4A4A4F"/>
                </a:solidFill>
                <a:latin typeface="Arial" pitchFamily="34" charset="0"/>
                <a:ea typeface="Arial" pitchFamily="34" charset="-122"/>
                <a:cs typeface="Arial" pitchFamily="34" charset="-120"/>
              </a:rPr>
              <a:t>Frise chronologique</a:t>
            </a:r>
            <a:endParaRPr lang="en-US" sz="1200" dirty="0"/>
          </a:p>
        </p:txBody>
      </p:sp>
      <p:sp>
        <p:nvSpPr>
          <p:cNvPr id="16" name="Shape 13"/>
          <p:cNvSpPr/>
          <p:nvPr/>
        </p:nvSpPr>
        <p:spPr>
          <a:xfrm>
            <a:off x="6743700" y="5854035"/>
            <a:ext cx="740664" cy="347472"/>
          </a:xfrm>
          <a:prstGeom prst="roundRect">
            <a:avLst>
              <a:gd name="adj" fmla="val 50000"/>
            </a:avLst>
          </a:prstGeom>
          <a:solidFill>
            <a:srgbClr val="FFFFFF"/>
          </a:solidFill>
          <a:ln w="9525">
            <a:solidFill>
              <a:srgbClr val="E5E5EA"/>
            </a:solidFill>
            <a:prstDash val="solid"/>
          </a:ln>
        </p:spPr>
      </p:sp>
      <p:sp>
        <p:nvSpPr>
          <p:cNvPr id="17" name="Text 14"/>
          <p:cNvSpPr txBox="1"/>
          <p:nvPr/>
        </p:nvSpPr>
        <p:spPr>
          <a:xfrm>
            <a:off x="6743700" y="5854035"/>
            <a:ext cx="740664" cy="347472"/>
          </a:xfrm>
          <a:prstGeom prst="rect">
            <a:avLst/>
          </a:prstGeom>
          <a:noFill/>
          <a:ln/>
        </p:spPr>
        <p:txBody>
          <a:bodyPr wrap="square" lIns="0" tIns="0" rIns="0" bIns="0" rtlCol="0" anchor="ctr"/>
          <a:lstStyle/>
          <a:p>
            <a:pPr algn="ctr" indent="0" marL="0">
              <a:buNone/>
            </a:pPr>
            <a:r>
              <a:rPr lang="en-US" sz="1200" dirty="0">
                <a:solidFill>
                  <a:srgbClr val="4A4A4F"/>
                </a:solidFill>
                <a:latin typeface="Arial" pitchFamily="34" charset="0"/>
                <a:ea typeface="Arial" pitchFamily="34" charset="-122"/>
                <a:cs typeface="Arial" pitchFamily="34" charset="-120"/>
              </a:rPr>
              <a:t>Dictée</a:t>
            </a:r>
            <a:endParaRPr lang="en-US" sz="1200" dirty="0"/>
          </a:p>
        </p:txBody>
      </p:sp>
      <p:sp>
        <p:nvSpPr>
          <p:cNvPr id="18" name="Shape 15"/>
          <p:cNvSpPr/>
          <p:nvPr/>
        </p:nvSpPr>
        <p:spPr>
          <a:xfrm>
            <a:off x="7612380" y="5854035"/>
            <a:ext cx="1595628" cy="347472"/>
          </a:xfrm>
          <a:prstGeom prst="roundRect">
            <a:avLst>
              <a:gd name="adj" fmla="val 50000"/>
            </a:avLst>
          </a:prstGeom>
          <a:solidFill>
            <a:srgbClr val="FFFFFF"/>
          </a:solidFill>
          <a:ln w="9525">
            <a:solidFill>
              <a:srgbClr val="E5E5EA"/>
            </a:solidFill>
            <a:prstDash val="solid"/>
          </a:ln>
        </p:spPr>
      </p:sp>
      <p:sp>
        <p:nvSpPr>
          <p:cNvPr id="19" name="Text 16"/>
          <p:cNvSpPr txBox="1"/>
          <p:nvPr/>
        </p:nvSpPr>
        <p:spPr>
          <a:xfrm>
            <a:off x="7612380" y="5854035"/>
            <a:ext cx="1595628" cy="347472"/>
          </a:xfrm>
          <a:prstGeom prst="rect">
            <a:avLst/>
          </a:prstGeom>
          <a:noFill/>
          <a:ln/>
        </p:spPr>
        <p:txBody>
          <a:bodyPr wrap="square" lIns="0" tIns="0" rIns="0" bIns="0" rtlCol="0" anchor="ctr"/>
          <a:lstStyle/>
          <a:p>
            <a:pPr algn="ctr" indent="0" marL="0">
              <a:buNone/>
            </a:pPr>
            <a:r>
              <a:rPr lang="en-US" sz="1200" dirty="0">
                <a:solidFill>
                  <a:srgbClr val="4A4A4F"/>
                </a:solidFill>
                <a:latin typeface="Arial" pitchFamily="34" charset="0"/>
                <a:ea typeface="Arial" pitchFamily="34" charset="-122"/>
                <a:cs typeface="Arial" pitchFamily="34" charset="-120"/>
              </a:rPr>
              <a:t>Vidéo interactive</a:t>
            </a:r>
            <a:endParaRPr lang="en-US" sz="1200" dirty="0"/>
          </a:p>
        </p:txBody>
      </p:sp>
      <p:sp>
        <p:nvSpPr>
          <p:cNvPr id="20" name="Shape 17"/>
          <p:cNvSpPr/>
          <p:nvPr/>
        </p:nvSpPr>
        <p:spPr>
          <a:xfrm>
            <a:off x="9336024" y="5854035"/>
            <a:ext cx="662940" cy="347472"/>
          </a:xfrm>
          <a:prstGeom prst="roundRect">
            <a:avLst>
              <a:gd name="adj" fmla="val 50000"/>
            </a:avLst>
          </a:prstGeom>
          <a:solidFill>
            <a:srgbClr val="FFFFFF"/>
          </a:solidFill>
          <a:ln w="9525">
            <a:solidFill>
              <a:srgbClr val="E5E5EA"/>
            </a:solidFill>
            <a:prstDash val="solid"/>
          </a:ln>
        </p:spPr>
      </p:sp>
      <p:sp>
        <p:nvSpPr>
          <p:cNvPr id="21" name="Text 18"/>
          <p:cNvSpPr txBox="1"/>
          <p:nvPr/>
        </p:nvSpPr>
        <p:spPr>
          <a:xfrm>
            <a:off x="9336024" y="5854035"/>
            <a:ext cx="662940" cy="347472"/>
          </a:xfrm>
          <a:prstGeom prst="rect">
            <a:avLst/>
          </a:prstGeom>
          <a:noFill/>
          <a:ln/>
        </p:spPr>
        <p:txBody>
          <a:bodyPr wrap="square" lIns="0" tIns="0" rIns="0" bIns="0" rtlCol="0" anchor="ctr"/>
          <a:lstStyle/>
          <a:p>
            <a:pPr algn="ctr" indent="0" marL="0">
              <a:buNone/>
            </a:pPr>
            <a:r>
              <a:rPr lang="en-US" sz="1200" dirty="0">
                <a:solidFill>
                  <a:srgbClr val="4A4A4F"/>
                </a:solidFill>
                <a:latin typeface="Arial" pitchFamily="34" charset="0"/>
                <a:ea typeface="Arial" pitchFamily="34" charset="-122"/>
                <a:cs typeface="Arial" pitchFamily="34" charset="-120"/>
              </a:rPr>
              <a:t>Livre</a:t>
            </a:r>
            <a:endParaRPr lang="en-US" sz="1200" dirty="0"/>
          </a:p>
        </p:txBody>
      </p:sp>
      <p:sp>
        <p:nvSpPr>
          <p:cNvPr id="22" name="Shape 19"/>
          <p:cNvSpPr/>
          <p:nvPr/>
        </p:nvSpPr>
        <p:spPr>
          <a:xfrm>
            <a:off x="10126980" y="5854035"/>
            <a:ext cx="585216" cy="347472"/>
          </a:xfrm>
          <a:prstGeom prst="roundRect">
            <a:avLst>
              <a:gd name="adj" fmla="val 50000"/>
            </a:avLst>
          </a:prstGeom>
          <a:solidFill>
            <a:srgbClr val="FFFFFF"/>
          </a:solidFill>
          <a:ln w="9525">
            <a:solidFill>
              <a:srgbClr val="E5E5EA"/>
            </a:solidFill>
            <a:prstDash val="solid"/>
          </a:ln>
        </p:spPr>
      </p:sp>
      <p:sp>
        <p:nvSpPr>
          <p:cNvPr id="23" name="Text 20"/>
          <p:cNvSpPr txBox="1"/>
          <p:nvPr/>
        </p:nvSpPr>
        <p:spPr>
          <a:xfrm>
            <a:off x="10126980" y="5854035"/>
            <a:ext cx="585216" cy="347472"/>
          </a:xfrm>
          <a:prstGeom prst="rect">
            <a:avLst/>
          </a:prstGeom>
          <a:noFill/>
          <a:ln/>
        </p:spPr>
        <p:txBody>
          <a:bodyPr wrap="square" lIns="0" tIns="0" rIns="0" bIns="0" rtlCol="0" anchor="ctr"/>
          <a:lstStyle/>
          <a:p>
            <a:pPr algn="ctr" indent="0" marL="0">
              <a:buNone/>
            </a:pPr>
            <a:r>
              <a:rPr lang="en-US" sz="1200" dirty="0">
                <a:solidFill>
                  <a:srgbClr val="4A4A4F"/>
                </a:solidFill>
                <a:latin typeface="Arial" pitchFamily="34" charset="0"/>
                <a:ea typeface="Arial" pitchFamily="34" charset="-122"/>
                <a:cs typeface="Arial" pitchFamily="34" charset="-120"/>
              </a:rPr>
              <a:t>Test</a:t>
            </a:r>
            <a:endParaRPr lang="en-US" sz="1200" dirty="0"/>
          </a:p>
        </p:txBody>
      </p:sp>
      <p:sp>
        <p:nvSpPr>
          <p:cNvPr id="24" name="Shape 21"/>
          <p:cNvSpPr/>
          <p:nvPr/>
        </p:nvSpPr>
        <p:spPr>
          <a:xfrm>
            <a:off x="10840212" y="5854035"/>
            <a:ext cx="973836" cy="347472"/>
          </a:xfrm>
          <a:prstGeom prst="roundRect">
            <a:avLst>
              <a:gd name="adj" fmla="val 50000"/>
            </a:avLst>
          </a:prstGeom>
          <a:solidFill>
            <a:srgbClr val="FFFFFF"/>
          </a:solidFill>
          <a:ln w="9525">
            <a:solidFill>
              <a:srgbClr val="E5E5EA"/>
            </a:solidFill>
            <a:prstDash val="solid"/>
          </a:ln>
        </p:spPr>
      </p:sp>
      <p:sp>
        <p:nvSpPr>
          <p:cNvPr id="25" name="Text 22"/>
          <p:cNvSpPr txBox="1"/>
          <p:nvPr/>
        </p:nvSpPr>
        <p:spPr>
          <a:xfrm>
            <a:off x="10840212" y="5854035"/>
            <a:ext cx="973836" cy="347472"/>
          </a:xfrm>
          <a:prstGeom prst="rect">
            <a:avLst/>
          </a:prstGeom>
          <a:noFill/>
          <a:ln/>
        </p:spPr>
        <p:txBody>
          <a:bodyPr wrap="square" lIns="0" tIns="0" rIns="0" bIns="0" rtlCol="0" anchor="ctr"/>
          <a:lstStyle/>
          <a:p>
            <a:pPr algn="ctr" indent="0" marL="0">
              <a:buNone/>
            </a:pPr>
            <a:r>
              <a:rPr lang="en-US" sz="1200" dirty="0">
                <a:solidFill>
                  <a:srgbClr val="4A4A4F"/>
                </a:solidFill>
                <a:latin typeface="Arial" pitchFamily="34" charset="0"/>
                <a:ea typeface="Arial" pitchFamily="34" charset="-122"/>
                <a:cs typeface="Arial" pitchFamily="34" charset="-120"/>
              </a:rPr>
              <a:t>Glossaire</a:t>
            </a:r>
            <a:endParaRPr lang="en-US" sz="1200" dirty="0"/>
          </a:p>
        </p:txBody>
      </p:sp>
      <p:sp>
        <p:nvSpPr>
          <p:cNvPr id="26" name="Text 23"/>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7" name="Text 24"/>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11 / 24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2 · Créer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4. Générez : le prompt reste entre vos mains</a:t>
            </a:r>
            <a:endParaRPr lang="en-US" sz="3000" dirty="0"/>
          </a:p>
        </p:txBody>
      </p:sp>
      <p:sp>
        <p:nvSpPr>
          <p:cNvPr id="4" name="Text 2"/>
          <p:cNvSpPr txBox="1"/>
          <p:nvPr/>
        </p:nvSpPr>
        <p:spPr>
          <a:xfrm>
            <a:off x="548640" y="1600200"/>
            <a:ext cx="5577840" cy="365760"/>
          </a:xfrm>
          <a:prstGeom prst="rect">
            <a:avLst/>
          </a:prstGeom>
          <a:noFill/>
          <a:ln/>
        </p:spPr>
        <p:txBody>
          <a:bodyPr wrap="square" lIns="0" tIns="0" rIns="0" bIns="0" rtlCol="0" anchor="t"/>
          <a:lstStyle/>
          <a:p>
            <a:pPr indent="0" marL="0">
              <a:buNone/>
            </a:pPr>
            <a:r>
              <a:rPr lang="en-US" sz="1900" b="1" dirty="0">
                <a:solidFill>
                  <a:srgbClr val="1D1D1F"/>
                </a:solidFill>
                <a:latin typeface="Arial" pitchFamily="34" charset="0"/>
                <a:ea typeface="Arial" pitchFamily="34" charset="-122"/>
                <a:cs typeface="Arial" pitchFamily="34" charset="-120"/>
              </a:rPr>
              <a:t>Mode Simple</a:t>
            </a:r>
            <a:endParaRPr lang="en-US" sz="1900" dirty="0"/>
          </a:p>
        </p:txBody>
      </p:sp>
      <p:sp>
        <p:nvSpPr>
          <p:cNvPr id="5" name="Text 3"/>
          <p:cNvSpPr txBox="1"/>
          <p:nvPr/>
        </p:nvSpPr>
        <p:spPr>
          <a:xfrm>
            <a:off x="548640" y="2011680"/>
            <a:ext cx="5577840" cy="822960"/>
          </a:xfrm>
          <a:prstGeom prst="rect">
            <a:avLst/>
          </a:prstGeom>
          <a:noFill/>
          <a:ln/>
        </p:spPr>
        <p:txBody>
          <a:bodyPr wrap="square" lIns="0" tIns="0" rIns="0" bIns="0" rtlCol="0" anchor="t"/>
          <a:lstStyle/>
          <a:p>
            <a:pPr indent="0" marL="0">
              <a:buNone/>
            </a:pPr>
            <a:r>
              <a:rPr lang="en-US" sz="1500" dirty="0">
                <a:solidFill>
                  <a:srgbClr val="4A4A4F"/>
                </a:solidFill>
                <a:latin typeface="Arial" pitchFamily="34" charset="0"/>
                <a:ea typeface="Arial" pitchFamily="34" charset="-122"/>
                <a:cs typeface="Arial" pitchFamily="34" charset="-120"/>
              </a:rPr>
              <a:t>Un bouton : « Générer en un clic ». L’IA intégrée, hébergée en France, prépare l’activité. Plusieurs modèles au choix.</a:t>
            </a:r>
            <a:endParaRPr lang="en-US" sz="1500" dirty="0"/>
          </a:p>
        </p:txBody>
      </p:sp>
      <p:sp>
        <p:nvSpPr>
          <p:cNvPr id="6" name="Text 4"/>
          <p:cNvSpPr txBox="1"/>
          <p:nvPr/>
        </p:nvSpPr>
        <p:spPr>
          <a:xfrm>
            <a:off x="548640" y="3017520"/>
            <a:ext cx="5577840" cy="365760"/>
          </a:xfrm>
          <a:prstGeom prst="rect">
            <a:avLst/>
          </a:prstGeom>
          <a:noFill/>
          <a:ln/>
        </p:spPr>
        <p:txBody>
          <a:bodyPr wrap="square" lIns="0" tIns="0" rIns="0" bIns="0" rtlCol="0" anchor="t"/>
          <a:lstStyle/>
          <a:p>
            <a:pPr indent="0" marL="0">
              <a:buNone/>
            </a:pPr>
            <a:r>
              <a:rPr lang="en-US" sz="1900" b="1" dirty="0">
                <a:solidFill>
                  <a:srgbClr val="1D1D1F"/>
                </a:solidFill>
                <a:latin typeface="Arial" pitchFamily="34" charset="0"/>
                <a:ea typeface="Arial" pitchFamily="34" charset="-122"/>
                <a:cs typeface="Arial" pitchFamily="34" charset="-120"/>
              </a:rPr>
              <a:t>Mode Guidé</a:t>
            </a:r>
            <a:endParaRPr lang="en-US" sz="1900" dirty="0"/>
          </a:p>
        </p:txBody>
      </p:sp>
      <p:sp>
        <p:nvSpPr>
          <p:cNvPr id="7" name="Text 5"/>
          <p:cNvSpPr txBox="1"/>
          <p:nvPr/>
        </p:nvSpPr>
        <p:spPr>
          <a:xfrm>
            <a:off x="548640" y="3429000"/>
            <a:ext cx="5577840" cy="868680"/>
          </a:xfrm>
          <a:prstGeom prst="rect">
            <a:avLst/>
          </a:prstGeom>
          <a:noFill/>
          <a:ln/>
        </p:spPr>
        <p:txBody>
          <a:bodyPr wrap="square" lIns="0" tIns="0" rIns="0" bIns="0" rtlCol="0" anchor="t"/>
          <a:lstStyle/>
          <a:p>
            <a:pPr indent="0" marL="0">
              <a:buNone/>
            </a:pPr>
            <a:r>
              <a:rPr lang="en-US" sz="1500" dirty="0">
                <a:solidFill>
                  <a:srgbClr val="4A4A4F"/>
                </a:solidFill>
                <a:latin typeface="Arial" pitchFamily="34" charset="0"/>
                <a:ea typeface="Arial" pitchFamily="34" charset="-122"/>
                <a:cs typeface="Arial" pitchFamily="34" charset="-120"/>
              </a:rPr>
              <a:t>Le prompt</a:t>
            </a:r>
            <a:pPr indent="0" marL="0">
              <a:buNone/>
            </a:pPr>
            <a:r>
              <a:rPr lang="en-US" sz="1500" baseline="30000" dirty="0">
                <a:solidFill>
                  <a:srgbClr val="4A4A4F"/>
                </a:solidFill>
                <a:latin typeface="Arial" pitchFamily="34" charset="0"/>
                <a:ea typeface="Arial" pitchFamily="34" charset="-122"/>
                <a:cs typeface="Arial" pitchFamily="34" charset="-120"/>
              </a:rPr>
              <a:t>1</a:t>
            </a:r>
            <a:pPr indent="0" marL="0">
              <a:buNone/>
            </a:pPr>
            <a:r>
              <a:rPr lang="en-US" sz="1500" dirty="0">
                <a:solidFill>
                  <a:srgbClr val="4A4A4F"/>
                </a:solidFill>
                <a:latin typeface="Arial" pitchFamily="34" charset="0"/>
                <a:ea typeface="Arial" pitchFamily="34" charset="-122"/>
                <a:cs typeface="Arial" pitchFamily="34" charset="-120"/>
              </a:rPr>
              <a:t> s’affiche : lisez-le, modifiez-le, verrouillez-le. Copiez-le vers l’IA de votre choix, puis collez sa réponse à droite.</a:t>
            </a:r>
            <a:endParaRPr lang="en-US" sz="1500" dirty="0"/>
          </a:p>
        </p:txBody>
      </p:sp>
      <p:sp>
        <p:nvSpPr>
          <p:cNvPr id="8" name="Shape 6"/>
          <p:cNvSpPr/>
          <p:nvPr/>
        </p:nvSpPr>
        <p:spPr>
          <a:xfrm>
            <a:off x="548640" y="4526280"/>
            <a:ext cx="5577840" cy="777240"/>
          </a:xfrm>
          <a:prstGeom prst="roundRect">
            <a:avLst>
              <a:gd name="adj" fmla="val 18824"/>
            </a:avLst>
          </a:prstGeom>
          <a:solidFill>
            <a:srgbClr val="FFF7EC"/>
          </a:solidFill>
          <a:ln w="9525">
            <a:solidFill>
              <a:srgbClr val="EEE0CF"/>
            </a:solidFill>
            <a:prstDash val="solid"/>
          </a:ln>
        </p:spPr>
      </p:sp>
      <p:sp>
        <p:nvSpPr>
          <p:cNvPr id="9" name="Shape 7"/>
          <p:cNvSpPr/>
          <p:nvPr/>
        </p:nvSpPr>
        <p:spPr>
          <a:xfrm>
            <a:off x="749808" y="4663440"/>
            <a:ext cx="502920" cy="502920"/>
          </a:xfrm>
          <a:prstGeom prst="roundRect">
            <a:avLst>
              <a:gd name="adj" fmla="val 28000"/>
            </a:avLst>
          </a:prstGeom>
          <a:solidFill>
            <a:srgbClr val="FFECD4"/>
          </a:solidFill>
          <a:ln/>
        </p:spPr>
      </p:sp>
      <p:pic>
        <p:nvPicPr>
          <p:cNvPr id="10" name="Image 0" descr="/var/folders/b7/tkzbyvzx72qcg9wb0t1jybvm0000gn/T/diaporama-zLbeHS/icone-1.png">    </p:cNvPr>
          <p:cNvPicPr>
            <a:picLocks noChangeAspect="1"/>
          </p:cNvPicPr>
          <p:nvPr/>
        </p:nvPicPr>
        <p:blipFill>
          <a:blip r:embed="rId1"/>
          <a:stretch>
            <a:fillRect/>
          </a:stretch>
        </p:blipFill>
        <p:spPr>
          <a:xfrm>
            <a:off x="870509" y="4784141"/>
            <a:ext cx="261518" cy="261518"/>
          </a:xfrm>
          <a:prstGeom prst="rect">
            <a:avLst/>
          </a:prstGeom>
        </p:spPr>
      </p:pic>
      <p:sp>
        <p:nvSpPr>
          <p:cNvPr id="11" name="Text 8"/>
          <p:cNvSpPr txBox="1"/>
          <p:nvPr/>
        </p:nvSpPr>
        <p:spPr>
          <a:xfrm>
            <a:off x="1417320" y="4526280"/>
            <a:ext cx="4572000" cy="777240"/>
          </a:xfrm>
          <a:prstGeom prst="rect">
            <a:avLst/>
          </a:prstGeom>
          <a:noFill/>
          <a:ln/>
        </p:spPr>
        <p:txBody>
          <a:bodyPr wrap="square" lIns="0" tIns="0" rIns="0" bIns="0" rtlCol="0" anchor="ctr"/>
          <a:lstStyle/>
          <a:p>
            <a:pPr indent="0" marL="0">
              <a:buNone/>
            </a:pPr>
            <a:r>
              <a:rPr lang="en-US" sz="1500" b="1" dirty="0">
                <a:solidFill>
                  <a:srgbClr val="8F4014"/>
                </a:solidFill>
                <a:latin typeface="Arial" pitchFamily="34" charset="0"/>
                <a:ea typeface="Arial" pitchFamily="34" charset="-122"/>
                <a:cs typeface="Arial" pitchFamily="34" charset="-120"/>
              </a:rPr>
              <a:t>Rien n’est caché : ce que l’IA reçoit, vous pouvez le lire.</a:t>
            </a:r>
            <a:endParaRPr lang="en-US" sz="1500" dirty="0"/>
          </a:p>
        </p:txBody>
      </p:sp>
      <p:sp>
        <p:nvSpPr>
          <p:cNvPr id="12" name="Shape 9"/>
          <p:cNvSpPr/>
          <p:nvPr/>
        </p:nvSpPr>
        <p:spPr>
          <a:xfrm>
            <a:off x="6556248" y="1435608"/>
            <a:ext cx="5159959" cy="4345240"/>
          </a:xfrm>
          <a:prstGeom prst="roundRect">
            <a:avLst>
              <a:gd name="adj" fmla="val 252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13" name="Image 1" descr="/var/folders/b7/tkzbyvzx72qcg9wb0t1jybvm0000gn/T/diaporama-zLbeHS/generation.jpg">    </p:cNvPr>
          <p:cNvPicPr>
            <a:picLocks noChangeAspect="1"/>
          </p:cNvPicPr>
          <p:nvPr/>
        </p:nvPicPr>
        <p:blipFill>
          <a:blip r:embed="rId2"/>
          <a:stretch>
            <a:fillRect/>
          </a:stretch>
        </p:blipFill>
        <p:spPr>
          <a:xfrm>
            <a:off x="6629400" y="1508760"/>
            <a:ext cx="5013655" cy="4198936"/>
          </a:xfrm>
          <a:prstGeom prst="rect">
            <a:avLst/>
          </a:prstGeom>
        </p:spPr>
      </p:pic>
      <p:sp>
        <p:nvSpPr>
          <p:cNvPr id="14" name="Text 10"/>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baseline="30000" dirty="0">
                <a:solidFill>
                  <a:srgbClr val="6E6E73"/>
                </a:solidFill>
                <a:latin typeface="Arial" pitchFamily="34" charset="0"/>
                <a:ea typeface="Arial" pitchFamily="34" charset="-122"/>
                <a:cs typeface="Arial" pitchFamily="34" charset="-120"/>
              </a:rPr>
              <a:t>1</a:t>
            </a:r>
            <a:pPr indent="0" marL="0">
              <a:lnSpc>
                <a:spcPct val="105000"/>
              </a:lnSpc>
              <a:buNone/>
            </a:pPr>
            <a:r>
              <a:rPr lang="en-US" sz="950" dirty="0">
                <a:solidFill>
                  <a:srgbClr val="6E6E73"/>
                </a:solidFill>
                <a:latin typeface="Arial" pitchFamily="34" charset="0"/>
                <a:ea typeface="Arial" pitchFamily="34" charset="-122"/>
                <a:cs typeface="Arial" pitchFamily="34" charset="-120"/>
              </a:rPr>
              <a:t> Prompt : les consignes envoyées à l’IA — votre contexte, des règles pédagogiques, le format attendu par la plateforme.</a:t>
            </a:r>
            <a:endParaRPr lang="en-US" sz="950" dirty="0"/>
          </a:p>
        </p:txBody>
      </p:sp>
      <p:sp>
        <p:nvSpPr>
          <p:cNvPr id="15" name="Text 11"/>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16" name="Text 12"/>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12 / 24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2 · Créer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5. Relisez et corrigez</a:t>
            </a:r>
            <a:endParaRPr lang="en-US" sz="3000" dirty="0"/>
          </a:p>
        </p:txBody>
      </p:sp>
      <p:sp>
        <p:nvSpPr>
          <p:cNvPr id="4" name="Shape 2"/>
          <p:cNvSpPr/>
          <p:nvPr/>
        </p:nvSpPr>
        <p:spPr>
          <a:xfrm>
            <a:off x="548640" y="1572768"/>
            <a:ext cx="6264929" cy="3030799"/>
          </a:xfrm>
          <a:prstGeom prst="roundRect">
            <a:avLst>
              <a:gd name="adj" fmla="val 3620"/>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diaporama-zLbeHS/apercu.jpg">    </p:cNvPr>
          <p:cNvPicPr>
            <a:picLocks noChangeAspect="1"/>
          </p:cNvPicPr>
          <p:nvPr/>
        </p:nvPicPr>
        <p:blipFill>
          <a:blip r:embed="rId1"/>
          <a:stretch>
            <a:fillRect/>
          </a:stretch>
        </p:blipFill>
        <p:spPr>
          <a:xfrm>
            <a:off x="621792" y="1645920"/>
            <a:ext cx="6118625" cy="2884495"/>
          </a:xfrm>
          <a:prstGeom prst="rect">
            <a:avLst/>
          </a:prstGeom>
        </p:spPr>
      </p:pic>
      <p:sp>
        <p:nvSpPr>
          <p:cNvPr id="6" name="Shape 3"/>
          <p:cNvSpPr/>
          <p:nvPr/>
        </p:nvSpPr>
        <p:spPr>
          <a:xfrm>
            <a:off x="7124465" y="1572768"/>
            <a:ext cx="4518590" cy="3030799"/>
          </a:xfrm>
          <a:prstGeom prst="roundRect">
            <a:avLst>
              <a:gd name="adj" fmla="val 3620"/>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7" name="Image 1" descr="/var/folders/b7/tkzbyvzx72qcg9wb0t1jybvm0000gn/T/diaporama-zLbeHS/editeur.jpg">    </p:cNvPr>
          <p:cNvPicPr>
            <a:picLocks noChangeAspect="1"/>
          </p:cNvPicPr>
          <p:nvPr/>
        </p:nvPicPr>
        <p:blipFill>
          <a:blip r:embed="rId2"/>
          <a:stretch>
            <a:fillRect/>
          </a:stretch>
        </p:blipFill>
        <p:spPr>
          <a:xfrm>
            <a:off x="7197617" y="1645920"/>
            <a:ext cx="4372286" cy="2884495"/>
          </a:xfrm>
          <a:prstGeom prst="rect">
            <a:avLst/>
          </a:prstGeom>
        </p:spPr>
      </p:pic>
      <p:sp>
        <p:nvSpPr>
          <p:cNvPr id="8" name="Text 4"/>
          <p:cNvSpPr txBox="1"/>
          <p:nvPr/>
        </p:nvSpPr>
        <p:spPr>
          <a:xfrm>
            <a:off x="621792" y="4850455"/>
            <a:ext cx="6118625"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L’aperçu</a:t>
            </a:r>
            <a:endParaRPr lang="en-US" sz="1700" dirty="0"/>
          </a:p>
        </p:txBody>
      </p:sp>
      <p:sp>
        <p:nvSpPr>
          <p:cNvPr id="9" name="Text 5"/>
          <p:cNvSpPr txBox="1"/>
          <p:nvPr/>
        </p:nvSpPr>
        <p:spPr>
          <a:xfrm>
            <a:off x="621792" y="5216215"/>
            <a:ext cx="6118625" cy="54864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L’activité telle que les élèves la verront, à essayer avant tout téléchargement.</a:t>
            </a:r>
            <a:endParaRPr lang="en-US" sz="1400" dirty="0"/>
          </a:p>
        </p:txBody>
      </p:sp>
      <p:sp>
        <p:nvSpPr>
          <p:cNvPr id="10" name="Text 6"/>
          <p:cNvSpPr txBox="1"/>
          <p:nvPr/>
        </p:nvSpPr>
        <p:spPr>
          <a:xfrm>
            <a:off x="7197617" y="4850455"/>
            <a:ext cx="4372286"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L’éditeur visuel</a:t>
            </a:r>
            <a:endParaRPr lang="en-US" sz="1700" dirty="0"/>
          </a:p>
        </p:txBody>
      </p:sp>
      <p:sp>
        <p:nvSpPr>
          <p:cNvPr id="11" name="Text 7"/>
          <p:cNvSpPr txBox="1"/>
          <p:nvPr/>
        </p:nvSpPr>
        <p:spPr>
          <a:xfrm>
            <a:off x="7197617" y="5216215"/>
            <a:ext cx="4372286" cy="54864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Chaque question, réponse et retour : texte enrichi, formules mathématiques, images, réglages.</a:t>
            </a:r>
            <a:endParaRPr lang="en-US" sz="1400" dirty="0"/>
          </a:p>
        </p:txBody>
      </p:sp>
      <p:sp>
        <p:nvSpPr>
          <p:cNvPr id="12" name="Text 8"/>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13" name="Text 9"/>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13 / 24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2 · Créer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6. Téléchargez, imprimez, partagez</a:t>
            </a:r>
            <a:endParaRPr lang="en-US" sz="3000" dirty="0"/>
          </a:p>
        </p:txBody>
      </p:sp>
      <p:sp>
        <p:nvSpPr>
          <p:cNvPr id="4" name="Shape 2"/>
          <p:cNvSpPr/>
          <p:nvPr/>
        </p:nvSpPr>
        <p:spPr>
          <a:xfrm>
            <a:off x="1298448" y="1527048"/>
            <a:ext cx="9594799" cy="886044"/>
          </a:xfrm>
          <a:prstGeom prst="roundRect">
            <a:avLst>
              <a:gd name="adj" fmla="val 12384"/>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diaporama-zLbeHS/barre.jpg">    </p:cNvPr>
          <p:cNvPicPr>
            <a:picLocks noChangeAspect="1"/>
          </p:cNvPicPr>
          <p:nvPr/>
        </p:nvPicPr>
        <p:blipFill>
          <a:blip r:embed="rId1"/>
          <a:stretch>
            <a:fillRect/>
          </a:stretch>
        </p:blipFill>
        <p:spPr>
          <a:xfrm>
            <a:off x="1371600" y="1600200"/>
            <a:ext cx="9448495" cy="739740"/>
          </a:xfrm>
          <a:prstGeom prst="rect">
            <a:avLst/>
          </a:prstGeom>
        </p:spPr>
      </p:pic>
      <p:sp>
        <p:nvSpPr>
          <p:cNvPr id="6" name="Shape 3"/>
          <p:cNvSpPr/>
          <p:nvPr/>
        </p:nvSpPr>
        <p:spPr>
          <a:xfrm>
            <a:off x="548640" y="2788920"/>
            <a:ext cx="3515258" cy="2514600"/>
          </a:xfrm>
          <a:prstGeom prst="roundRect">
            <a:avLst>
              <a:gd name="adj" fmla="val 581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7" name="Shape 4"/>
          <p:cNvSpPr/>
          <p:nvPr/>
        </p:nvSpPr>
        <p:spPr>
          <a:xfrm>
            <a:off x="868680" y="3108960"/>
            <a:ext cx="566928" cy="566928"/>
          </a:xfrm>
          <a:prstGeom prst="roundRect">
            <a:avLst>
              <a:gd name="adj" fmla="val 28000"/>
            </a:avLst>
          </a:prstGeom>
          <a:solidFill>
            <a:srgbClr val="FFECD4"/>
          </a:solidFill>
          <a:ln/>
        </p:spPr>
      </p:sp>
      <p:pic>
        <p:nvPicPr>
          <p:cNvPr id="8" name="Image 1" descr="/var/folders/b7/tkzbyvzx72qcg9wb0t1jybvm0000gn/T/diaporama-zLbeHS/icone-16.png">    </p:cNvPr>
          <p:cNvPicPr>
            <a:picLocks noChangeAspect="1"/>
          </p:cNvPicPr>
          <p:nvPr/>
        </p:nvPicPr>
        <p:blipFill>
          <a:blip r:embed="rId2"/>
          <a:stretch>
            <a:fillRect/>
          </a:stretch>
        </p:blipFill>
        <p:spPr>
          <a:xfrm>
            <a:off x="1004743" y="3245023"/>
            <a:ext cx="294803" cy="294803"/>
          </a:xfrm>
          <a:prstGeom prst="rect">
            <a:avLst/>
          </a:prstGeom>
        </p:spPr>
      </p:pic>
      <p:sp>
        <p:nvSpPr>
          <p:cNvPr id="9" name="Text 5"/>
          <p:cNvSpPr txBox="1"/>
          <p:nvPr/>
        </p:nvSpPr>
        <p:spPr>
          <a:xfrm>
            <a:off x="868680" y="3858768"/>
            <a:ext cx="2875178"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Pour la plateforme</a:t>
            </a:r>
            <a:endParaRPr lang="en-US" sz="1800" dirty="0"/>
          </a:p>
        </p:txBody>
      </p:sp>
      <p:sp>
        <p:nvSpPr>
          <p:cNvPr id="10" name="Text 6"/>
          <p:cNvSpPr txBox="1"/>
          <p:nvPr/>
        </p:nvSpPr>
        <p:spPr>
          <a:xfrm>
            <a:off x="868680" y="4270248"/>
            <a:ext cx="2875178" cy="91440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.h5p, .mbz, .xml (banque de questions, glossaire) : à importer dans Éléa, Magistère ou Moodle.</a:t>
            </a:r>
            <a:endParaRPr lang="en-US" sz="1400" dirty="0"/>
          </a:p>
        </p:txBody>
      </p:sp>
      <p:sp>
        <p:nvSpPr>
          <p:cNvPr id="11" name="Shape 7"/>
          <p:cNvSpPr/>
          <p:nvPr/>
        </p:nvSpPr>
        <p:spPr>
          <a:xfrm>
            <a:off x="4338218" y="2788920"/>
            <a:ext cx="3515258" cy="2514600"/>
          </a:xfrm>
          <a:prstGeom prst="roundRect">
            <a:avLst>
              <a:gd name="adj" fmla="val 581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2" name="Shape 8"/>
          <p:cNvSpPr/>
          <p:nvPr/>
        </p:nvSpPr>
        <p:spPr>
          <a:xfrm>
            <a:off x="4658258" y="3108960"/>
            <a:ext cx="566928" cy="566928"/>
          </a:xfrm>
          <a:prstGeom prst="roundRect">
            <a:avLst>
              <a:gd name="adj" fmla="val 28000"/>
            </a:avLst>
          </a:prstGeom>
          <a:solidFill>
            <a:srgbClr val="FFECD4"/>
          </a:solidFill>
          <a:ln/>
        </p:spPr>
      </p:sp>
      <p:pic>
        <p:nvPicPr>
          <p:cNvPr id="13" name="Image 2" descr="/var/folders/b7/tkzbyvzx72qcg9wb0t1jybvm0000gn/T/diaporama-zLbeHS/icone-17.png">    </p:cNvPr>
          <p:cNvPicPr>
            <a:picLocks noChangeAspect="1"/>
          </p:cNvPicPr>
          <p:nvPr/>
        </p:nvPicPr>
        <p:blipFill>
          <a:blip r:embed="rId3"/>
          <a:stretch>
            <a:fillRect/>
          </a:stretch>
        </p:blipFill>
        <p:spPr>
          <a:xfrm>
            <a:off x="4794321" y="3245023"/>
            <a:ext cx="294803" cy="294803"/>
          </a:xfrm>
          <a:prstGeom prst="rect">
            <a:avLst/>
          </a:prstGeom>
        </p:spPr>
      </p:pic>
      <p:sp>
        <p:nvSpPr>
          <p:cNvPr id="14" name="Text 9"/>
          <p:cNvSpPr txBox="1"/>
          <p:nvPr/>
        </p:nvSpPr>
        <p:spPr>
          <a:xfrm>
            <a:off x="4658258" y="3858768"/>
            <a:ext cx="2875178"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Pour la classe</a:t>
            </a:r>
            <a:endParaRPr lang="en-US" sz="1800" dirty="0"/>
          </a:p>
        </p:txBody>
      </p:sp>
      <p:sp>
        <p:nvSpPr>
          <p:cNvPr id="15" name="Text 10"/>
          <p:cNvSpPr txBox="1"/>
          <p:nvPr/>
        </p:nvSpPr>
        <p:spPr>
          <a:xfrm>
            <a:off x="4658258" y="4270248"/>
            <a:ext cx="2875178" cy="91440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DOCX, ODT, PDF : l’énoncé et son corrigé, sur papier. Les formules restent éditables dans Word et LibreOffice.</a:t>
            </a:r>
            <a:endParaRPr lang="en-US" sz="1400" dirty="0"/>
          </a:p>
        </p:txBody>
      </p:sp>
      <p:sp>
        <p:nvSpPr>
          <p:cNvPr id="16" name="Shape 11"/>
          <p:cNvSpPr/>
          <p:nvPr/>
        </p:nvSpPr>
        <p:spPr>
          <a:xfrm>
            <a:off x="8127797" y="2788920"/>
            <a:ext cx="3515258" cy="2514600"/>
          </a:xfrm>
          <a:prstGeom prst="roundRect">
            <a:avLst>
              <a:gd name="adj" fmla="val 581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7" name="Shape 12"/>
          <p:cNvSpPr/>
          <p:nvPr/>
        </p:nvSpPr>
        <p:spPr>
          <a:xfrm>
            <a:off x="8447837" y="3108960"/>
            <a:ext cx="566928" cy="566928"/>
          </a:xfrm>
          <a:prstGeom prst="roundRect">
            <a:avLst>
              <a:gd name="adj" fmla="val 28000"/>
            </a:avLst>
          </a:prstGeom>
          <a:solidFill>
            <a:srgbClr val="FFE8EE"/>
          </a:solidFill>
          <a:ln/>
        </p:spPr>
      </p:sp>
      <p:pic>
        <p:nvPicPr>
          <p:cNvPr id="18" name="Image 3" descr="/var/folders/b7/tkzbyvzx72qcg9wb0t1jybvm0000gn/T/diaporama-zLbeHS/icone-18.png">    </p:cNvPr>
          <p:cNvPicPr>
            <a:picLocks noChangeAspect="1"/>
          </p:cNvPicPr>
          <p:nvPr/>
        </p:nvPicPr>
        <p:blipFill>
          <a:blip r:embed="rId4"/>
          <a:stretch>
            <a:fillRect/>
          </a:stretch>
        </p:blipFill>
        <p:spPr>
          <a:xfrm>
            <a:off x="8583900" y="3245023"/>
            <a:ext cx="294803" cy="294803"/>
          </a:xfrm>
          <a:prstGeom prst="rect">
            <a:avLst/>
          </a:prstGeom>
        </p:spPr>
      </p:pic>
      <p:sp>
        <p:nvSpPr>
          <p:cNvPr id="19" name="Text 13"/>
          <p:cNvSpPr txBox="1"/>
          <p:nvPr/>
        </p:nvSpPr>
        <p:spPr>
          <a:xfrm>
            <a:off x="8447837" y="3858768"/>
            <a:ext cx="2875178"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Pour les collègues</a:t>
            </a:r>
            <a:endParaRPr lang="en-US" sz="1800" dirty="0"/>
          </a:p>
        </p:txBody>
      </p:sp>
      <p:sp>
        <p:nvSpPr>
          <p:cNvPr id="20" name="Text 14"/>
          <p:cNvSpPr txBox="1"/>
          <p:nvPr/>
        </p:nvSpPr>
        <p:spPr>
          <a:xfrm>
            <a:off x="8447837" y="4270248"/>
            <a:ext cx="2875178" cy="91440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 Vers la Sucrerie » dépose l’activité dans la bibliothèque partagée (partie 4).</a:t>
            </a:r>
            <a:endParaRPr lang="en-US" sz="1400" dirty="0"/>
          </a:p>
        </p:txBody>
      </p:sp>
      <p:sp>
        <p:nvSpPr>
          <p:cNvPr id="21" name="Text 15"/>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2" name="Text 16"/>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14 / 24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2 · Créer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7. Importez dans votre cours, et continuez à modifier</a:t>
            </a:r>
            <a:endParaRPr lang="en-US" sz="3000" dirty="0"/>
          </a:p>
        </p:txBody>
      </p:sp>
      <p:sp>
        <p:nvSpPr>
          <p:cNvPr id="4" name="Shape 2"/>
          <p:cNvSpPr/>
          <p:nvPr/>
        </p:nvSpPr>
        <p:spPr>
          <a:xfrm>
            <a:off x="548640" y="1554480"/>
            <a:ext cx="6720840" cy="950976"/>
          </a:xfrm>
          <a:prstGeom prst="roundRect">
            <a:avLst>
              <a:gd name="adj" fmla="val 1538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5" name="Shape 3"/>
          <p:cNvSpPr/>
          <p:nvPr/>
        </p:nvSpPr>
        <p:spPr>
          <a:xfrm>
            <a:off x="804672" y="1801368"/>
            <a:ext cx="914400" cy="457200"/>
          </a:xfrm>
          <a:prstGeom prst="roundRect">
            <a:avLst>
              <a:gd name="adj" fmla="val 20000"/>
            </a:avLst>
          </a:prstGeom>
          <a:solidFill>
            <a:srgbClr val="FFFFFF"/>
          </a:solidFill>
          <a:ln w="15875">
            <a:solidFill>
              <a:srgbClr val="0862C4"/>
            </a:solidFill>
            <a:prstDash val="solid"/>
          </a:ln>
        </p:spPr>
      </p:sp>
      <p:sp>
        <p:nvSpPr>
          <p:cNvPr id="6" name="Text 4"/>
          <p:cNvSpPr txBox="1"/>
          <p:nvPr/>
        </p:nvSpPr>
        <p:spPr>
          <a:xfrm>
            <a:off x="804672" y="1801368"/>
            <a:ext cx="914400" cy="457200"/>
          </a:xfrm>
          <a:prstGeom prst="rect">
            <a:avLst/>
          </a:prstGeom>
          <a:noFill/>
          <a:ln/>
        </p:spPr>
        <p:txBody>
          <a:bodyPr wrap="square" lIns="0" tIns="0" rIns="0" bIns="0" rtlCol="0" anchor="ctr"/>
          <a:lstStyle/>
          <a:p>
            <a:pPr algn="ctr" indent="0" marL="0">
              <a:buNone/>
            </a:pPr>
            <a:r>
              <a:rPr lang="en-US" sz="1600" b="1" dirty="0">
                <a:solidFill>
                  <a:srgbClr val="0862C4"/>
                </a:solidFill>
                <a:latin typeface="Arial" pitchFamily="34" charset="0"/>
                <a:ea typeface="Arial" pitchFamily="34" charset="-122"/>
                <a:cs typeface="Arial" pitchFamily="34" charset="-120"/>
              </a:rPr>
              <a:t>.h5p</a:t>
            </a:r>
            <a:endParaRPr lang="en-US" sz="1600" dirty="0"/>
          </a:p>
        </p:txBody>
      </p:sp>
      <p:sp>
        <p:nvSpPr>
          <p:cNvPr id="7" name="Text 5"/>
          <p:cNvSpPr txBox="1"/>
          <p:nvPr/>
        </p:nvSpPr>
        <p:spPr>
          <a:xfrm>
            <a:off x="1965960" y="1645920"/>
            <a:ext cx="5074920" cy="768096"/>
          </a:xfrm>
          <a:prstGeom prst="rect">
            <a:avLst/>
          </a:prstGeom>
          <a:noFill/>
          <a:ln/>
        </p:spPr>
        <p:txBody>
          <a:bodyPr wrap="square" lIns="0" tIns="0" rIns="0" bIns="0" rtlCol="0" anchor="ctr"/>
          <a:lstStyle/>
          <a:p>
            <a:pPr indent="0" marL="0">
              <a:buNone/>
            </a:pPr>
            <a:r>
              <a:rPr lang="en-US" sz="1350" dirty="0">
                <a:solidFill>
                  <a:srgbClr val="4A4A4F"/>
                </a:solidFill>
                <a:latin typeface="Arial" pitchFamily="34" charset="0"/>
                <a:ea typeface="Arial" pitchFamily="34" charset="-122"/>
                <a:cs typeface="Arial" pitchFamily="34" charset="-120"/>
              </a:rPr>
              <a:t>Ajouter une activité ou une ressource › Contenu interactif (H5P) › Téléverser le fichier.</a:t>
            </a:r>
            <a:endParaRPr lang="en-US" sz="1350" dirty="0"/>
          </a:p>
        </p:txBody>
      </p:sp>
      <p:sp>
        <p:nvSpPr>
          <p:cNvPr id="8" name="Shape 6"/>
          <p:cNvSpPr/>
          <p:nvPr/>
        </p:nvSpPr>
        <p:spPr>
          <a:xfrm>
            <a:off x="548640" y="2670048"/>
            <a:ext cx="6720840" cy="950976"/>
          </a:xfrm>
          <a:prstGeom prst="roundRect">
            <a:avLst>
              <a:gd name="adj" fmla="val 1538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9" name="Shape 7"/>
          <p:cNvSpPr/>
          <p:nvPr/>
        </p:nvSpPr>
        <p:spPr>
          <a:xfrm>
            <a:off x="804672" y="2916936"/>
            <a:ext cx="914400" cy="457200"/>
          </a:xfrm>
          <a:prstGeom prst="roundRect">
            <a:avLst>
              <a:gd name="adj" fmla="val 20000"/>
            </a:avLst>
          </a:prstGeom>
          <a:solidFill>
            <a:srgbClr val="FFFFFF"/>
          </a:solidFill>
          <a:ln w="15875">
            <a:solidFill>
              <a:srgbClr val="8F4800"/>
            </a:solidFill>
            <a:prstDash val="solid"/>
          </a:ln>
        </p:spPr>
      </p:sp>
      <p:sp>
        <p:nvSpPr>
          <p:cNvPr id="10" name="Text 8"/>
          <p:cNvSpPr txBox="1"/>
          <p:nvPr/>
        </p:nvSpPr>
        <p:spPr>
          <a:xfrm>
            <a:off x="804672" y="2916936"/>
            <a:ext cx="914400" cy="457200"/>
          </a:xfrm>
          <a:prstGeom prst="rect">
            <a:avLst/>
          </a:prstGeom>
          <a:noFill/>
          <a:ln/>
        </p:spPr>
        <p:txBody>
          <a:bodyPr wrap="square" lIns="0" tIns="0" rIns="0" bIns="0" rtlCol="0" anchor="ctr"/>
          <a:lstStyle/>
          <a:p>
            <a:pPr algn="ctr" indent="0" marL="0">
              <a:buNone/>
            </a:pPr>
            <a:r>
              <a:rPr lang="en-US" sz="1600" b="1" dirty="0">
                <a:solidFill>
                  <a:srgbClr val="8F4800"/>
                </a:solidFill>
                <a:latin typeface="Arial" pitchFamily="34" charset="0"/>
                <a:ea typeface="Arial" pitchFamily="34" charset="-122"/>
                <a:cs typeface="Arial" pitchFamily="34" charset="-120"/>
              </a:rPr>
              <a:t>.mbz</a:t>
            </a:r>
            <a:endParaRPr lang="en-US" sz="1600" dirty="0"/>
          </a:p>
        </p:txBody>
      </p:sp>
      <p:sp>
        <p:nvSpPr>
          <p:cNvPr id="11" name="Text 9"/>
          <p:cNvSpPr txBox="1"/>
          <p:nvPr/>
        </p:nvSpPr>
        <p:spPr>
          <a:xfrm>
            <a:off x="1965960" y="2761488"/>
            <a:ext cx="5074920" cy="768096"/>
          </a:xfrm>
          <a:prstGeom prst="rect">
            <a:avLst/>
          </a:prstGeom>
          <a:noFill/>
          <a:ln/>
        </p:spPr>
        <p:txBody>
          <a:bodyPr wrap="square" lIns="0" tIns="0" rIns="0" bIns="0" rtlCol="0" anchor="ctr"/>
          <a:lstStyle/>
          <a:p>
            <a:pPr indent="0" marL="0">
              <a:buNone/>
            </a:pPr>
            <a:r>
              <a:rPr lang="en-US" sz="1350" dirty="0">
                <a:solidFill>
                  <a:srgbClr val="4A4A4F"/>
                </a:solidFill>
                <a:latin typeface="Arial" pitchFamily="34" charset="0"/>
                <a:ea typeface="Arial" pitchFamily="34" charset="-122"/>
                <a:cs typeface="Arial" pitchFamily="34" charset="-120"/>
              </a:rPr>
              <a:t>Menu d’édition › Import/Export › Importer un parcours › déposer le fichier. Le contenu du cours n’est pas écrasé.</a:t>
            </a:r>
            <a:endParaRPr lang="en-US" sz="1350" dirty="0"/>
          </a:p>
        </p:txBody>
      </p:sp>
      <p:sp>
        <p:nvSpPr>
          <p:cNvPr id="12" name="Shape 10"/>
          <p:cNvSpPr/>
          <p:nvPr/>
        </p:nvSpPr>
        <p:spPr>
          <a:xfrm>
            <a:off x="548640" y="3785616"/>
            <a:ext cx="6720840" cy="950976"/>
          </a:xfrm>
          <a:prstGeom prst="roundRect">
            <a:avLst>
              <a:gd name="adj" fmla="val 1538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3" name="Shape 11"/>
          <p:cNvSpPr/>
          <p:nvPr/>
        </p:nvSpPr>
        <p:spPr>
          <a:xfrm>
            <a:off x="804672" y="4032504"/>
            <a:ext cx="914400" cy="457200"/>
          </a:xfrm>
          <a:prstGeom prst="roundRect">
            <a:avLst>
              <a:gd name="adj" fmla="val 20000"/>
            </a:avLst>
          </a:prstGeom>
          <a:solidFill>
            <a:srgbClr val="FFFFFF"/>
          </a:solidFill>
          <a:ln w="15875">
            <a:solidFill>
              <a:srgbClr val="064CA4"/>
            </a:solidFill>
            <a:prstDash val="solid"/>
          </a:ln>
        </p:spPr>
      </p:sp>
      <p:sp>
        <p:nvSpPr>
          <p:cNvPr id="14" name="Text 12"/>
          <p:cNvSpPr txBox="1"/>
          <p:nvPr/>
        </p:nvSpPr>
        <p:spPr>
          <a:xfrm>
            <a:off x="804672" y="4032504"/>
            <a:ext cx="914400" cy="457200"/>
          </a:xfrm>
          <a:prstGeom prst="rect">
            <a:avLst/>
          </a:prstGeom>
          <a:noFill/>
          <a:ln/>
        </p:spPr>
        <p:txBody>
          <a:bodyPr wrap="square" lIns="0" tIns="0" rIns="0" bIns="0" rtlCol="0" anchor="ctr"/>
          <a:lstStyle/>
          <a:p>
            <a:pPr algn="ctr" indent="0" marL="0">
              <a:buNone/>
            </a:pPr>
            <a:r>
              <a:rPr lang="en-US" sz="1600" b="1" dirty="0">
                <a:solidFill>
                  <a:srgbClr val="064CA4"/>
                </a:solidFill>
                <a:latin typeface="Arial" pitchFamily="34" charset="0"/>
                <a:ea typeface="Arial" pitchFamily="34" charset="-122"/>
                <a:cs typeface="Arial" pitchFamily="34" charset="-120"/>
              </a:rPr>
              <a:t>.xml</a:t>
            </a:r>
            <a:endParaRPr lang="en-US" sz="1600" dirty="0"/>
          </a:p>
        </p:txBody>
      </p:sp>
      <p:sp>
        <p:nvSpPr>
          <p:cNvPr id="15" name="Text 13"/>
          <p:cNvSpPr txBox="1"/>
          <p:nvPr/>
        </p:nvSpPr>
        <p:spPr>
          <a:xfrm>
            <a:off x="1965960" y="3877056"/>
            <a:ext cx="5074920" cy="768096"/>
          </a:xfrm>
          <a:prstGeom prst="rect">
            <a:avLst/>
          </a:prstGeom>
          <a:noFill/>
          <a:ln/>
        </p:spPr>
        <p:txBody>
          <a:bodyPr wrap="square" lIns="0" tIns="0" rIns="0" bIns="0" rtlCol="0" anchor="ctr"/>
          <a:lstStyle/>
          <a:p>
            <a:pPr indent="0" marL="0">
              <a:buNone/>
            </a:pPr>
            <a:r>
              <a:rPr lang="en-US" sz="1350" dirty="0">
                <a:solidFill>
                  <a:srgbClr val="4A4A4F"/>
                </a:solidFill>
                <a:latin typeface="Arial" pitchFamily="34" charset="0"/>
                <a:ea typeface="Arial" pitchFamily="34" charset="-122"/>
                <a:cs typeface="Arial" pitchFamily="34" charset="-120"/>
              </a:rPr>
              <a:t>Banque de questions › Importer (format XML Magistère), ou Glossaire › Importer des articles.</a:t>
            </a:r>
            <a:endParaRPr lang="en-US" sz="1350" dirty="0"/>
          </a:p>
        </p:txBody>
      </p:sp>
      <p:sp>
        <p:nvSpPr>
          <p:cNvPr id="16" name="Shape 14"/>
          <p:cNvSpPr/>
          <p:nvPr/>
        </p:nvSpPr>
        <p:spPr>
          <a:xfrm>
            <a:off x="7589520" y="1554480"/>
            <a:ext cx="4053535" cy="3182112"/>
          </a:xfrm>
          <a:prstGeom prst="roundRect">
            <a:avLst>
              <a:gd name="adj" fmla="val 4598"/>
            </a:avLst>
          </a:prstGeom>
          <a:solidFill>
            <a:srgbClr val="FFF7EC"/>
          </a:solidFill>
          <a:ln w="9525">
            <a:solidFill>
              <a:srgbClr val="EEE0CF"/>
            </a:solidFill>
            <a:prstDash val="solid"/>
          </a:ln>
        </p:spPr>
      </p:sp>
      <p:sp>
        <p:nvSpPr>
          <p:cNvPr id="17" name="Shape 15"/>
          <p:cNvSpPr/>
          <p:nvPr/>
        </p:nvSpPr>
        <p:spPr>
          <a:xfrm>
            <a:off x="7909560" y="1828800"/>
            <a:ext cx="566928" cy="566928"/>
          </a:xfrm>
          <a:prstGeom prst="roundRect">
            <a:avLst>
              <a:gd name="adj" fmla="val 28000"/>
            </a:avLst>
          </a:prstGeom>
          <a:solidFill>
            <a:srgbClr val="FFECD4"/>
          </a:solidFill>
          <a:ln/>
        </p:spPr>
      </p:sp>
      <p:pic>
        <p:nvPicPr>
          <p:cNvPr id="18" name="Image 0" descr="/var/folders/b7/tkzbyvzx72qcg9wb0t1jybvm0000gn/T/diaporama-zLbeHS/icone-39.png">    </p:cNvPr>
          <p:cNvPicPr>
            <a:picLocks noChangeAspect="1"/>
          </p:cNvPicPr>
          <p:nvPr/>
        </p:nvPicPr>
        <p:blipFill>
          <a:blip r:embed="rId1"/>
          <a:stretch>
            <a:fillRect/>
          </a:stretch>
        </p:blipFill>
        <p:spPr>
          <a:xfrm>
            <a:off x="8045623" y="1964863"/>
            <a:ext cx="294803" cy="294803"/>
          </a:xfrm>
          <a:prstGeom prst="rect">
            <a:avLst/>
          </a:prstGeom>
        </p:spPr>
      </p:pic>
      <p:sp>
        <p:nvSpPr>
          <p:cNvPr id="19" name="Text 16"/>
          <p:cNvSpPr txBox="1"/>
          <p:nvPr/>
        </p:nvSpPr>
        <p:spPr>
          <a:xfrm>
            <a:off x="7909560" y="2560320"/>
            <a:ext cx="3413455" cy="365760"/>
          </a:xfrm>
          <a:prstGeom prst="rect">
            <a:avLst/>
          </a:prstGeom>
          <a:noFill/>
          <a:ln/>
        </p:spPr>
        <p:txBody>
          <a:bodyPr wrap="square" lIns="0" tIns="0" rIns="0" bIns="0" rtlCol="0" anchor="t"/>
          <a:lstStyle/>
          <a:p>
            <a:pPr indent="0" marL="0">
              <a:buNone/>
            </a:pPr>
            <a:r>
              <a:rPr lang="en-US" sz="1900" b="1" dirty="0">
                <a:solidFill>
                  <a:srgbClr val="1D1D1F"/>
                </a:solidFill>
                <a:latin typeface="Arial" pitchFamily="34" charset="0"/>
                <a:ea typeface="Arial" pitchFamily="34" charset="-122"/>
                <a:cs typeface="Arial" pitchFamily="34" charset="-120"/>
              </a:rPr>
              <a:t>Et après ?</a:t>
            </a:r>
            <a:endParaRPr lang="en-US" sz="1900" dirty="0"/>
          </a:p>
        </p:txBody>
      </p:sp>
      <p:sp>
        <p:nvSpPr>
          <p:cNvPr id="20" name="Text 17"/>
          <p:cNvSpPr txBox="1"/>
          <p:nvPr/>
        </p:nvSpPr>
        <p:spPr>
          <a:xfrm>
            <a:off x="7909560" y="2971800"/>
            <a:ext cx="3504895" cy="1691640"/>
          </a:xfrm>
          <a:prstGeom prst="rect">
            <a:avLst/>
          </a:prstGeom>
          <a:noFill/>
          <a:ln/>
        </p:spPr>
        <p:txBody>
          <a:bodyPr wrap="square" lIns="0" tIns="0" rIns="0" bIns="0" rtlCol="0" anchor="t"/>
          <a:lstStyle/>
          <a:p>
            <a:pPr marL="173355" indent="-173355">
              <a:lnSpc>
                <a:spcPct val="105000"/>
              </a:lnSpc>
              <a:spcAft>
                <a:spcPts val="600"/>
              </a:spcAft>
              <a:buSzPct val="100000"/>
              <a:buChar char="•"/>
            </a:pPr>
            <a:r>
              <a:rPr lang="en-US" sz="1300" dirty="0">
                <a:solidFill>
                  <a:srgbClr val="4A4A4F"/>
                </a:solidFill>
                <a:latin typeface="Arial" pitchFamily="34" charset="0"/>
                <a:ea typeface="Arial" pitchFamily="34" charset="-122"/>
                <a:cs typeface="Arial" pitchFamily="34" charset="-120"/>
              </a:rPr>
              <a:t>Dans la plateforme, l’activité se modifie avec l’éditeur H5P, comme toute autre.</a:t>
            </a:r>
            <a:endParaRPr lang="en-US" sz="1300" dirty="0"/>
          </a:p>
          <a:p>
            <a:pPr marL="173355" indent="-173355">
              <a:lnSpc>
                <a:spcPct val="105000"/>
              </a:lnSpc>
              <a:spcAft>
                <a:spcPts val="600"/>
              </a:spcAft>
              <a:buSzPct val="100000"/>
              <a:buChar char="•"/>
            </a:pPr>
            <a:r>
              <a:rPr lang="en-US" sz="1300" dirty="0">
                <a:solidFill>
                  <a:srgbClr val="4A4A4F"/>
                </a:solidFill>
                <a:latin typeface="Arial" pitchFamily="34" charset="0"/>
                <a:ea typeface="Arial" pitchFamily="34" charset="-122"/>
                <a:cs typeface="Arial" pitchFamily="34" charset="-120"/>
              </a:rPr>
              <a:t>Hors plateforme, le .h5p s’ouvre dans Lumi ou Logiquiz, et se diffuse avec Digiquiz.</a:t>
            </a:r>
            <a:endParaRPr lang="en-US" sz="1300" dirty="0"/>
          </a:p>
          <a:p>
            <a:pPr marL="173355" indent="-173355">
              <a:lnSpc>
                <a:spcPct val="105000"/>
              </a:lnSpc>
              <a:spcAft>
                <a:spcPts val="600"/>
              </a:spcAft>
              <a:buSzPct val="100000"/>
              <a:buChar char="•"/>
            </a:pPr>
            <a:r>
              <a:rPr lang="en-US" sz="1300" dirty="0">
                <a:solidFill>
                  <a:srgbClr val="4A4A4F"/>
                </a:solidFill>
                <a:latin typeface="Arial" pitchFamily="34" charset="0"/>
                <a:ea typeface="Arial" pitchFamily="34" charset="-122"/>
                <a:cs typeface="Arial" pitchFamily="34" charset="-120"/>
              </a:rPr>
              <a:t>Les documents DOCX et ODT se retravaillent dans Word ou LibreOffice.</a:t>
            </a:r>
            <a:endParaRPr lang="en-US" sz="1300" dirty="0"/>
          </a:p>
        </p:txBody>
      </p:sp>
      <p:sp>
        <p:nvSpPr>
          <p:cNvPr id="21" name="Text 18"/>
          <p:cNvSpPr txBox="1"/>
          <p:nvPr/>
        </p:nvSpPr>
        <p:spPr>
          <a:xfrm>
            <a:off x="548640" y="4983480"/>
            <a:ext cx="11094415" cy="36576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Le tutoriel intégré</a:t>
            </a:r>
            <a:pPr indent="0" marL="0">
              <a:buNone/>
            </a:pPr>
            <a:r>
              <a:rPr lang="en-US" sz="1400" dirty="0">
                <a:solidFill>
                  <a:srgbClr val="4A4A4F"/>
                </a:solidFill>
                <a:latin typeface="Arial" pitchFamily="34" charset="0"/>
                <a:ea typeface="Arial" pitchFamily="34" charset="-122"/>
                <a:cs typeface="Arial" pitchFamily="34" charset="-120"/>
              </a:rPr>
              <a:t> (bouton « Tutoriel » en haut de Caramel) détaille chaque import, captures à l’appui.</a:t>
            </a:r>
            <a:endParaRPr lang="en-US" sz="1400" dirty="0"/>
          </a:p>
        </p:txBody>
      </p:sp>
      <p:sp>
        <p:nvSpPr>
          <p:cNvPr id="22" name="Text 19"/>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dirty="0">
                <a:solidFill>
                  <a:srgbClr val="6E6E73"/>
                </a:solidFill>
                <a:latin typeface="Arial" pitchFamily="34" charset="0"/>
                <a:ea typeface="Arial" pitchFamily="34" charset="-122"/>
                <a:cs typeface="Arial" pitchFamily="34" charset="-120"/>
              </a:rPr>
              <a:t>Menus d’Éléa ; les intitulés peuvent varier légèrement sur Magistère et Moodle.</a:t>
            </a:r>
            <a:endParaRPr lang="en-US" sz="950" dirty="0"/>
          </a:p>
        </p:txBody>
      </p:sp>
      <p:sp>
        <p:nvSpPr>
          <p:cNvPr id="23" name="Text 20"/>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4" name="Text 21"/>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15 / 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3 · Créer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Un parcours complet, en quatre temps</a:t>
            </a:r>
            <a:endParaRPr lang="en-US" sz="3000" dirty="0"/>
          </a:p>
        </p:txBody>
      </p:sp>
      <p:sp>
        <p:nvSpPr>
          <p:cNvPr id="4" name="Shape 2"/>
          <p:cNvSpPr/>
          <p:nvPr/>
        </p:nvSpPr>
        <p:spPr>
          <a:xfrm>
            <a:off x="548640" y="1527048"/>
            <a:ext cx="457200" cy="457200"/>
          </a:xfrm>
          <a:prstGeom prst="ellipse">
            <a:avLst/>
          </a:prstGeom>
          <a:solidFill>
            <a:srgbClr val="007AFF"/>
          </a:solidFill>
          <a:ln/>
        </p:spPr>
      </p:sp>
      <p:sp>
        <p:nvSpPr>
          <p:cNvPr id="5" name="Text 3"/>
          <p:cNvSpPr txBox="1"/>
          <p:nvPr/>
        </p:nvSpPr>
        <p:spPr>
          <a:xfrm>
            <a:off x="548640" y="1527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143000" y="1490472"/>
            <a:ext cx="2042084" cy="292608"/>
          </a:xfrm>
          <a:prstGeom prst="rect">
            <a:avLst/>
          </a:prstGeom>
          <a:noFill/>
          <a:ln/>
        </p:spPr>
        <p:txBody>
          <a:bodyPr wrap="square" lIns="0" tIns="0" rIns="0" bIns="0" rtlCol="0" anchor="t"/>
          <a:lstStyle/>
          <a:p>
            <a:pPr indent="0" marL="0">
              <a:buNone/>
            </a:pPr>
            <a:r>
              <a:rPr lang="en-US" sz="1600" b="1" dirty="0">
                <a:solidFill>
                  <a:srgbClr val="0056B3"/>
                </a:solidFill>
                <a:latin typeface="Arial" pitchFamily="34" charset="0"/>
                <a:ea typeface="Arial" pitchFamily="34" charset="-122"/>
                <a:cs typeface="Arial" pitchFamily="34" charset="-120"/>
              </a:rPr>
              <a:t>Cadrage</a:t>
            </a:r>
            <a:endParaRPr lang="en-US" sz="1600" dirty="0"/>
          </a:p>
        </p:txBody>
      </p:sp>
      <p:sp>
        <p:nvSpPr>
          <p:cNvPr id="7" name="Text 5"/>
          <p:cNvSpPr txBox="1"/>
          <p:nvPr/>
        </p:nvSpPr>
        <p:spPr>
          <a:xfrm>
            <a:off x="1143000" y="1783080"/>
            <a:ext cx="2042084" cy="27432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vos réglages</a:t>
            </a:r>
            <a:endParaRPr lang="en-US" sz="1200" dirty="0"/>
          </a:p>
        </p:txBody>
      </p:sp>
      <p:sp>
        <p:nvSpPr>
          <p:cNvPr id="8" name="Shape 6"/>
          <p:cNvSpPr/>
          <p:nvPr/>
        </p:nvSpPr>
        <p:spPr>
          <a:xfrm>
            <a:off x="2910764" y="1755648"/>
            <a:ext cx="274320" cy="0"/>
          </a:xfrm>
          <a:prstGeom prst="line">
            <a:avLst/>
          </a:prstGeom>
          <a:noFill/>
          <a:ln w="15875">
            <a:solidFill>
              <a:srgbClr val="C7C7CC"/>
            </a:solidFill>
            <a:prstDash val="solid"/>
          </a:ln>
        </p:spPr>
      </p:sp>
      <p:sp>
        <p:nvSpPr>
          <p:cNvPr id="9" name="Shape 7"/>
          <p:cNvSpPr/>
          <p:nvPr/>
        </p:nvSpPr>
        <p:spPr>
          <a:xfrm>
            <a:off x="3322244" y="1527048"/>
            <a:ext cx="457200" cy="457200"/>
          </a:xfrm>
          <a:prstGeom prst="ellipse">
            <a:avLst/>
          </a:prstGeom>
          <a:solidFill>
            <a:srgbClr val="FFFFFF"/>
          </a:solidFill>
          <a:ln/>
        </p:spPr>
      </p:sp>
      <p:sp>
        <p:nvSpPr>
          <p:cNvPr id="10" name="Text 8"/>
          <p:cNvSpPr txBox="1"/>
          <p:nvPr/>
        </p:nvSpPr>
        <p:spPr>
          <a:xfrm>
            <a:off x="3322244" y="1527048"/>
            <a:ext cx="457200" cy="457200"/>
          </a:xfrm>
          <a:prstGeom prst="rect">
            <a:avLst/>
          </a:prstGeom>
          <a:noFill/>
          <a:ln/>
        </p:spPr>
        <p:txBody>
          <a:bodyPr wrap="square" lIns="0" tIns="0" rIns="0" bIns="0" rtlCol="0" anchor="ctr"/>
          <a:lstStyle/>
          <a:p>
            <a:pPr algn="ctr" indent="0" marL="0">
              <a:buNone/>
            </a:pPr>
            <a:r>
              <a:rPr lang="en-US" sz="1500" b="1" dirty="0">
                <a:solidFill>
                  <a:srgbClr val="4A4A4F"/>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3322244" y="1527048"/>
            <a:ext cx="457200" cy="457200"/>
          </a:xfrm>
          <a:prstGeom prst="ellipse">
            <a:avLst/>
          </a:prstGeom>
          <a:ln w="12700">
            <a:solidFill>
              <a:srgbClr val="C7C7CC"/>
            </a:solidFill>
            <a:prstDash val="solid"/>
          </a:ln>
        </p:spPr>
      </p:sp>
      <p:sp>
        <p:nvSpPr>
          <p:cNvPr id="12" name="Text 10"/>
          <p:cNvSpPr txBox="1"/>
          <p:nvPr/>
        </p:nvSpPr>
        <p:spPr>
          <a:xfrm>
            <a:off x="3916604" y="1490472"/>
            <a:ext cx="2042084" cy="292608"/>
          </a:xfrm>
          <a:prstGeom prst="rect">
            <a:avLst/>
          </a:prstGeom>
          <a:noFill/>
          <a:ln/>
        </p:spPr>
        <p:txBody>
          <a:bodyPr wrap="square" lIns="0" tIns="0" rIns="0" bIns="0" rtlCol="0" anchor="t"/>
          <a:lstStyle/>
          <a:p>
            <a:pPr indent="0" marL="0">
              <a:buNone/>
            </a:pPr>
            <a:r>
              <a:rPr lang="en-US" sz="1600" b="1" dirty="0">
                <a:solidFill>
                  <a:srgbClr val="1D1D1F"/>
                </a:solidFill>
                <a:latin typeface="Arial" pitchFamily="34" charset="0"/>
                <a:ea typeface="Arial" pitchFamily="34" charset="-122"/>
                <a:cs typeface="Arial" pitchFamily="34" charset="-120"/>
              </a:rPr>
              <a:t>Plan</a:t>
            </a:r>
            <a:endParaRPr lang="en-US" sz="1600" dirty="0"/>
          </a:p>
        </p:txBody>
      </p:sp>
      <p:sp>
        <p:nvSpPr>
          <p:cNvPr id="13" name="Text 11"/>
          <p:cNvSpPr txBox="1"/>
          <p:nvPr/>
        </p:nvSpPr>
        <p:spPr>
          <a:xfrm>
            <a:off x="3916604" y="1783080"/>
            <a:ext cx="2042084" cy="27432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relu et modifié</a:t>
            </a:r>
            <a:endParaRPr lang="en-US" sz="1200" dirty="0"/>
          </a:p>
        </p:txBody>
      </p:sp>
      <p:sp>
        <p:nvSpPr>
          <p:cNvPr id="14" name="Shape 12"/>
          <p:cNvSpPr/>
          <p:nvPr/>
        </p:nvSpPr>
        <p:spPr>
          <a:xfrm>
            <a:off x="5684368" y="1755648"/>
            <a:ext cx="274320" cy="0"/>
          </a:xfrm>
          <a:prstGeom prst="line">
            <a:avLst/>
          </a:prstGeom>
          <a:noFill/>
          <a:ln w="15875">
            <a:solidFill>
              <a:srgbClr val="C7C7CC"/>
            </a:solidFill>
            <a:prstDash val="solid"/>
          </a:ln>
        </p:spPr>
      </p:sp>
      <p:sp>
        <p:nvSpPr>
          <p:cNvPr id="15" name="Shape 13"/>
          <p:cNvSpPr/>
          <p:nvPr/>
        </p:nvSpPr>
        <p:spPr>
          <a:xfrm>
            <a:off x="6095848" y="1527048"/>
            <a:ext cx="457200" cy="457200"/>
          </a:xfrm>
          <a:prstGeom prst="ellipse">
            <a:avLst/>
          </a:prstGeom>
          <a:solidFill>
            <a:srgbClr val="FFFFFF"/>
          </a:solidFill>
          <a:ln/>
        </p:spPr>
      </p:sp>
      <p:sp>
        <p:nvSpPr>
          <p:cNvPr id="16" name="Text 14"/>
          <p:cNvSpPr txBox="1"/>
          <p:nvPr/>
        </p:nvSpPr>
        <p:spPr>
          <a:xfrm>
            <a:off x="6095848" y="1527048"/>
            <a:ext cx="457200" cy="457200"/>
          </a:xfrm>
          <a:prstGeom prst="rect">
            <a:avLst/>
          </a:prstGeom>
          <a:noFill/>
          <a:ln/>
        </p:spPr>
        <p:txBody>
          <a:bodyPr wrap="square" lIns="0" tIns="0" rIns="0" bIns="0" rtlCol="0" anchor="ctr"/>
          <a:lstStyle/>
          <a:p>
            <a:pPr algn="ctr" indent="0" marL="0">
              <a:buNone/>
            </a:pPr>
            <a:r>
              <a:rPr lang="en-US" sz="1500" b="1" dirty="0">
                <a:solidFill>
                  <a:srgbClr val="4A4A4F"/>
                </a:solidFill>
                <a:latin typeface="Arial" pitchFamily="34" charset="0"/>
                <a:ea typeface="Arial" pitchFamily="34" charset="-122"/>
                <a:cs typeface="Arial" pitchFamily="34" charset="-120"/>
              </a:rPr>
              <a:t>3</a:t>
            </a:r>
            <a:endParaRPr lang="en-US" sz="1500" dirty="0"/>
          </a:p>
        </p:txBody>
      </p:sp>
      <p:sp>
        <p:nvSpPr>
          <p:cNvPr id="17" name="Shape 15"/>
          <p:cNvSpPr/>
          <p:nvPr/>
        </p:nvSpPr>
        <p:spPr>
          <a:xfrm>
            <a:off x="6095848" y="1527048"/>
            <a:ext cx="457200" cy="457200"/>
          </a:xfrm>
          <a:prstGeom prst="ellipse">
            <a:avLst/>
          </a:prstGeom>
          <a:ln w="12700">
            <a:solidFill>
              <a:srgbClr val="C7C7CC"/>
            </a:solidFill>
            <a:prstDash val="solid"/>
          </a:ln>
        </p:spPr>
      </p:sp>
      <p:sp>
        <p:nvSpPr>
          <p:cNvPr id="18" name="Text 16"/>
          <p:cNvSpPr txBox="1"/>
          <p:nvPr/>
        </p:nvSpPr>
        <p:spPr>
          <a:xfrm>
            <a:off x="6690208" y="1490472"/>
            <a:ext cx="2042084" cy="292608"/>
          </a:xfrm>
          <a:prstGeom prst="rect">
            <a:avLst/>
          </a:prstGeom>
          <a:noFill/>
          <a:ln/>
        </p:spPr>
        <p:txBody>
          <a:bodyPr wrap="square" lIns="0" tIns="0" rIns="0" bIns="0" rtlCol="0" anchor="t"/>
          <a:lstStyle/>
          <a:p>
            <a:pPr indent="0" marL="0">
              <a:buNone/>
            </a:pPr>
            <a:r>
              <a:rPr lang="en-US" sz="1600" b="1" dirty="0">
                <a:solidFill>
                  <a:srgbClr val="1D1D1F"/>
                </a:solidFill>
                <a:latin typeface="Arial" pitchFamily="34" charset="0"/>
                <a:ea typeface="Arial" pitchFamily="34" charset="-122"/>
                <a:cs typeface="Arial" pitchFamily="34" charset="-120"/>
              </a:rPr>
              <a:t>Fabrication</a:t>
            </a:r>
            <a:endParaRPr lang="en-US" sz="1600" dirty="0"/>
          </a:p>
        </p:txBody>
      </p:sp>
      <p:sp>
        <p:nvSpPr>
          <p:cNvPr id="19" name="Text 17"/>
          <p:cNvSpPr txBox="1"/>
          <p:nvPr/>
        </p:nvSpPr>
        <p:spPr>
          <a:xfrm>
            <a:off x="6690208" y="1783080"/>
            <a:ext cx="2042084" cy="27432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activité par activité</a:t>
            </a:r>
            <a:endParaRPr lang="en-US" sz="1200" dirty="0"/>
          </a:p>
        </p:txBody>
      </p:sp>
      <p:sp>
        <p:nvSpPr>
          <p:cNvPr id="20" name="Shape 18"/>
          <p:cNvSpPr/>
          <p:nvPr/>
        </p:nvSpPr>
        <p:spPr>
          <a:xfrm>
            <a:off x="8457971" y="1755648"/>
            <a:ext cx="274320" cy="0"/>
          </a:xfrm>
          <a:prstGeom prst="line">
            <a:avLst/>
          </a:prstGeom>
          <a:noFill/>
          <a:ln w="15875">
            <a:solidFill>
              <a:srgbClr val="C7C7CC"/>
            </a:solidFill>
            <a:prstDash val="solid"/>
          </a:ln>
        </p:spPr>
      </p:sp>
      <p:sp>
        <p:nvSpPr>
          <p:cNvPr id="21" name="Shape 19"/>
          <p:cNvSpPr/>
          <p:nvPr/>
        </p:nvSpPr>
        <p:spPr>
          <a:xfrm>
            <a:off x="8869451" y="1527048"/>
            <a:ext cx="457200" cy="457200"/>
          </a:xfrm>
          <a:prstGeom prst="ellipse">
            <a:avLst/>
          </a:prstGeom>
          <a:solidFill>
            <a:srgbClr val="FFFFFF"/>
          </a:solidFill>
          <a:ln/>
        </p:spPr>
      </p:sp>
      <p:sp>
        <p:nvSpPr>
          <p:cNvPr id="22" name="Text 20"/>
          <p:cNvSpPr txBox="1"/>
          <p:nvPr/>
        </p:nvSpPr>
        <p:spPr>
          <a:xfrm>
            <a:off x="8869451" y="1527048"/>
            <a:ext cx="457200" cy="457200"/>
          </a:xfrm>
          <a:prstGeom prst="rect">
            <a:avLst/>
          </a:prstGeom>
          <a:noFill/>
          <a:ln/>
        </p:spPr>
        <p:txBody>
          <a:bodyPr wrap="square" lIns="0" tIns="0" rIns="0" bIns="0" rtlCol="0" anchor="ctr"/>
          <a:lstStyle/>
          <a:p>
            <a:pPr algn="ctr" indent="0" marL="0">
              <a:buNone/>
            </a:pPr>
            <a:r>
              <a:rPr lang="en-US" sz="1500" b="1" dirty="0">
                <a:solidFill>
                  <a:srgbClr val="4A4A4F"/>
                </a:solidFill>
                <a:latin typeface="Arial" pitchFamily="34" charset="0"/>
                <a:ea typeface="Arial" pitchFamily="34" charset="-122"/>
                <a:cs typeface="Arial" pitchFamily="34" charset="-120"/>
              </a:rPr>
              <a:t>4</a:t>
            </a:r>
            <a:endParaRPr lang="en-US" sz="1500" dirty="0"/>
          </a:p>
        </p:txBody>
      </p:sp>
      <p:sp>
        <p:nvSpPr>
          <p:cNvPr id="23" name="Shape 21"/>
          <p:cNvSpPr/>
          <p:nvPr/>
        </p:nvSpPr>
        <p:spPr>
          <a:xfrm>
            <a:off x="8869451" y="1527048"/>
            <a:ext cx="457200" cy="457200"/>
          </a:xfrm>
          <a:prstGeom prst="ellipse">
            <a:avLst/>
          </a:prstGeom>
          <a:ln w="12700">
            <a:solidFill>
              <a:srgbClr val="C7C7CC"/>
            </a:solidFill>
            <a:prstDash val="solid"/>
          </a:ln>
        </p:spPr>
      </p:sp>
      <p:sp>
        <p:nvSpPr>
          <p:cNvPr id="24" name="Text 22"/>
          <p:cNvSpPr txBox="1"/>
          <p:nvPr/>
        </p:nvSpPr>
        <p:spPr>
          <a:xfrm>
            <a:off x="9463811" y="1490472"/>
            <a:ext cx="2042084" cy="292608"/>
          </a:xfrm>
          <a:prstGeom prst="rect">
            <a:avLst/>
          </a:prstGeom>
          <a:noFill/>
          <a:ln/>
        </p:spPr>
        <p:txBody>
          <a:bodyPr wrap="square" lIns="0" tIns="0" rIns="0" bIns="0" rtlCol="0" anchor="t"/>
          <a:lstStyle/>
          <a:p>
            <a:pPr indent="0" marL="0">
              <a:buNone/>
            </a:pPr>
            <a:r>
              <a:rPr lang="en-US" sz="1600" b="1" dirty="0">
                <a:solidFill>
                  <a:srgbClr val="1D1D1F"/>
                </a:solidFill>
                <a:latin typeface="Arial" pitchFamily="34" charset="0"/>
                <a:ea typeface="Arial" pitchFamily="34" charset="-122"/>
                <a:cs typeface="Arial" pitchFamily="34" charset="-120"/>
              </a:rPr>
              <a:t>Livraison</a:t>
            </a:r>
            <a:endParaRPr lang="en-US" sz="1600" dirty="0"/>
          </a:p>
        </p:txBody>
      </p:sp>
      <p:sp>
        <p:nvSpPr>
          <p:cNvPr id="25" name="Text 23"/>
          <p:cNvSpPr txBox="1"/>
          <p:nvPr/>
        </p:nvSpPr>
        <p:spPr>
          <a:xfrm>
            <a:off x="9463811" y="1783080"/>
            <a:ext cx="2042084" cy="27432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un seul fichier de cours</a:t>
            </a:r>
            <a:endParaRPr lang="en-US" sz="1200" dirty="0"/>
          </a:p>
        </p:txBody>
      </p:sp>
      <p:sp>
        <p:nvSpPr>
          <p:cNvPr id="26" name="Shape 24"/>
          <p:cNvSpPr/>
          <p:nvPr/>
        </p:nvSpPr>
        <p:spPr>
          <a:xfrm>
            <a:off x="548640" y="2350008"/>
            <a:ext cx="6207524" cy="3392424"/>
          </a:xfrm>
          <a:prstGeom prst="roundRect">
            <a:avLst>
              <a:gd name="adj" fmla="val 323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27" name="Image 0" descr="/var/folders/b7/tkzbyvzx72qcg9wb0t1jybvm0000gn/T/diaporama-zLbeHS/cadrage.jpg">    </p:cNvPr>
          <p:cNvPicPr>
            <a:picLocks noChangeAspect="1"/>
          </p:cNvPicPr>
          <p:nvPr/>
        </p:nvPicPr>
        <p:blipFill>
          <a:blip r:embed="rId1"/>
          <a:stretch>
            <a:fillRect/>
          </a:stretch>
        </p:blipFill>
        <p:spPr>
          <a:xfrm>
            <a:off x="621792" y="2423160"/>
            <a:ext cx="6061220" cy="3246120"/>
          </a:xfrm>
          <a:prstGeom prst="rect">
            <a:avLst/>
          </a:prstGeom>
        </p:spPr>
      </p:pic>
      <p:sp>
        <p:nvSpPr>
          <p:cNvPr id="28" name="Text 25"/>
          <p:cNvSpPr txBox="1"/>
          <p:nvPr/>
        </p:nvSpPr>
        <p:spPr>
          <a:xfrm>
            <a:off x="7140212" y="2423160"/>
            <a:ext cx="4502843" cy="3291840"/>
          </a:xfrm>
          <a:prstGeom prst="rect">
            <a:avLst/>
          </a:prstGeom>
          <a:noFill/>
          <a:ln/>
        </p:spPr>
        <p:txBody>
          <a:bodyPr wrap="square" lIns="0" tIns="0" rIns="0" bIns="0" rtlCol="0" anchor="t"/>
          <a:lstStyle/>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 Un parcours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sous le formulaire, ouvre l’atelier.</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Trois réglages</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la plateforme, le déroulé (en classe, à distance, les deux), l’ampleur (d’une séance à une séquence).</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Ou une trame</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toute faite : réviser avant une évaluation, découvrir une notion…</a:t>
            </a:r>
            <a:endParaRPr lang="en-US" sz="1450" dirty="0"/>
          </a:p>
        </p:txBody>
      </p:sp>
      <p:sp>
        <p:nvSpPr>
          <p:cNvPr id="29" name="Text 26"/>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30" name="Text 27"/>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16 / 24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3 · Créer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Le plan : relu, modifiable, à vous</a:t>
            </a:r>
            <a:endParaRPr lang="en-US" sz="3000" dirty="0"/>
          </a:p>
        </p:txBody>
      </p:sp>
      <p:sp>
        <p:nvSpPr>
          <p:cNvPr id="4" name="Shape 2"/>
          <p:cNvSpPr/>
          <p:nvPr/>
        </p:nvSpPr>
        <p:spPr>
          <a:xfrm>
            <a:off x="548640" y="1481328"/>
            <a:ext cx="4712032" cy="4306824"/>
          </a:xfrm>
          <a:prstGeom prst="roundRect">
            <a:avLst>
              <a:gd name="adj" fmla="val 254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diaporama-zLbeHS/plan.jpg">    </p:cNvPr>
          <p:cNvPicPr>
            <a:picLocks noChangeAspect="1"/>
          </p:cNvPicPr>
          <p:nvPr/>
        </p:nvPicPr>
        <p:blipFill>
          <a:blip r:embed="rId1"/>
          <a:stretch>
            <a:fillRect/>
          </a:stretch>
        </p:blipFill>
        <p:spPr>
          <a:xfrm>
            <a:off x="621792" y="1554480"/>
            <a:ext cx="4565728" cy="4160520"/>
          </a:xfrm>
          <a:prstGeom prst="rect">
            <a:avLst/>
          </a:prstGeom>
        </p:spPr>
      </p:pic>
      <p:sp>
        <p:nvSpPr>
          <p:cNvPr id="6" name="Text 3"/>
          <p:cNvSpPr txBox="1"/>
          <p:nvPr/>
        </p:nvSpPr>
        <p:spPr>
          <a:xfrm>
            <a:off x="5690440" y="1600200"/>
            <a:ext cx="5952615" cy="4114800"/>
          </a:xfrm>
          <a:prstGeom prst="rect">
            <a:avLst/>
          </a:prstGeom>
          <a:noFill/>
          <a:ln/>
        </p:spPr>
        <p:txBody>
          <a:bodyPr wrap="square" lIns="0" tIns="0" rIns="0" bIns="0" rtlCol="0" anchor="t"/>
          <a:lstStyle/>
          <a:p>
            <a:pPr marL="200025" indent="-200025">
              <a:lnSpc>
                <a:spcPct val="105000"/>
              </a:lnSpc>
              <a:spcAft>
                <a:spcPts val="1400"/>
              </a:spcAft>
              <a:buSzPct val="100000"/>
              <a:buChar char="•"/>
            </a:pPr>
            <a:r>
              <a:rPr lang="en-US" sz="1500" b="1" dirty="0">
                <a:solidFill>
                  <a:srgbClr val="1D1D1F"/>
                </a:solidFill>
                <a:latin typeface="Arial" pitchFamily="34" charset="0"/>
                <a:ea typeface="Arial" pitchFamily="34" charset="-122"/>
                <a:cs typeface="Arial" pitchFamily="34" charset="-120"/>
              </a:rPr>
              <a:t>L’IA propose</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les étapes, les activités, leur durée et leurs consignes.</a:t>
            </a:r>
            <a:endParaRPr lang="en-US" sz="1500" dirty="0"/>
          </a:p>
          <a:p>
            <a:pPr marL="200025" indent="-200025">
              <a:lnSpc>
                <a:spcPct val="105000"/>
              </a:lnSpc>
              <a:spcAft>
                <a:spcPts val="1400"/>
              </a:spcAft>
              <a:buSzPct val="100000"/>
              <a:buChar char="•"/>
            </a:pPr>
            <a:r>
              <a:rPr lang="en-US" sz="1500" b="1" dirty="0">
                <a:solidFill>
                  <a:srgbClr val="1D1D1F"/>
                </a:solidFill>
                <a:latin typeface="Arial" pitchFamily="34" charset="0"/>
                <a:ea typeface="Arial" pitchFamily="34" charset="-122"/>
                <a:cs typeface="Arial" pitchFamily="34" charset="-120"/>
              </a:rPr>
              <a:t>Vous ajustez</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 réordonner, changer un type d’activité, modifier une durée, ajouter, retirer.</a:t>
            </a:r>
            <a:endParaRPr lang="en-US" sz="1500" dirty="0"/>
          </a:p>
          <a:p>
            <a:pPr marL="200025" indent="-200025">
              <a:lnSpc>
                <a:spcPct val="105000"/>
              </a:lnSpc>
              <a:spcAft>
                <a:spcPts val="1400"/>
              </a:spcAft>
              <a:buSzPct val="100000"/>
              <a:buChar char="•"/>
            </a:pPr>
            <a:r>
              <a:rPr lang="en-US" sz="1500" b="1" dirty="0">
                <a:solidFill>
                  <a:srgbClr val="1D1D1F"/>
                </a:solidFill>
                <a:latin typeface="Arial" pitchFamily="34" charset="0"/>
                <a:ea typeface="Arial" pitchFamily="34" charset="-122"/>
                <a:cs typeface="Arial" pitchFamily="34" charset="-120"/>
              </a:rPr>
              <a:t>Le cadenas</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réserve une activité dont vous fournirez vous-même le contenu.</a:t>
            </a:r>
            <a:endParaRPr lang="en-US" sz="1500" dirty="0"/>
          </a:p>
          <a:p>
            <a:pPr marL="200025" indent="-200025">
              <a:lnSpc>
                <a:spcPct val="105000"/>
              </a:lnSpc>
              <a:spcAft>
                <a:spcPts val="1400"/>
              </a:spcAft>
              <a:buSzPct val="100000"/>
              <a:buChar char="•"/>
            </a:pPr>
            <a:r>
              <a:rPr lang="en-US" sz="1500" b="1" dirty="0">
                <a:solidFill>
                  <a:srgbClr val="1D1D1F"/>
                </a:solidFill>
                <a:latin typeface="Arial" pitchFamily="34" charset="0"/>
                <a:ea typeface="Arial" pitchFamily="34" charset="-122"/>
                <a:cs typeface="Arial" pitchFamily="34" charset="-120"/>
              </a:rPr>
              <a:t>Une relecture didactique</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signale ce qui mérite votre attention, selon six repères.</a:t>
            </a:r>
            <a:endParaRPr lang="en-US" sz="1500" dirty="0"/>
          </a:p>
        </p:txBody>
      </p:sp>
      <p:sp>
        <p:nvSpPr>
          <p:cNvPr id="7" name="Text 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8" name="Text 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17 / 24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3 · Créer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Fabrication et livraison : un seul fichier de cours</a:t>
            </a:r>
            <a:endParaRPr lang="en-US" sz="3000" dirty="0"/>
          </a:p>
        </p:txBody>
      </p:sp>
      <p:sp>
        <p:nvSpPr>
          <p:cNvPr id="4" name="Shape 2"/>
          <p:cNvSpPr/>
          <p:nvPr/>
        </p:nvSpPr>
        <p:spPr>
          <a:xfrm>
            <a:off x="548640" y="1527048"/>
            <a:ext cx="5065883" cy="3300984"/>
          </a:xfrm>
          <a:prstGeom prst="roundRect">
            <a:avLst>
              <a:gd name="adj" fmla="val 3324"/>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diaporama-zLbeHS/fabrication.jpg">    </p:cNvPr>
          <p:cNvPicPr>
            <a:picLocks noChangeAspect="1"/>
          </p:cNvPicPr>
          <p:nvPr/>
        </p:nvPicPr>
        <p:blipFill>
          <a:blip r:embed="rId1"/>
          <a:stretch>
            <a:fillRect/>
          </a:stretch>
        </p:blipFill>
        <p:spPr>
          <a:xfrm>
            <a:off x="621792" y="1600200"/>
            <a:ext cx="4919579" cy="3154680"/>
          </a:xfrm>
          <a:prstGeom prst="rect">
            <a:avLst/>
          </a:prstGeom>
        </p:spPr>
      </p:pic>
      <p:sp>
        <p:nvSpPr>
          <p:cNvPr id="6" name="Shape 3"/>
          <p:cNvSpPr/>
          <p:nvPr/>
        </p:nvSpPr>
        <p:spPr>
          <a:xfrm>
            <a:off x="7204670" y="1527048"/>
            <a:ext cx="4438386" cy="3300984"/>
          </a:xfrm>
          <a:prstGeom prst="roundRect">
            <a:avLst>
              <a:gd name="adj" fmla="val 3324"/>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7" name="Image 1" descr="/var/folders/b7/tkzbyvzx72qcg9wb0t1jybvm0000gn/T/diaporama-zLbeHS/livraison.jpg">    </p:cNvPr>
          <p:cNvPicPr>
            <a:picLocks noChangeAspect="1"/>
          </p:cNvPicPr>
          <p:nvPr/>
        </p:nvPicPr>
        <p:blipFill>
          <a:blip r:embed="rId2"/>
          <a:stretch>
            <a:fillRect/>
          </a:stretch>
        </p:blipFill>
        <p:spPr>
          <a:xfrm>
            <a:off x="7277822" y="1600200"/>
            <a:ext cx="4292082" cy="3154680"/>
          </a:xfrm>
          <a:prstGeom prst="rect">
            <a:avLst/>
          </a:prstGeom>
        </p:spPr>
      </p:pic>
      <p:sp>
        <p:nvSpPr>
          <p:cNvPr id="8" name="Text 4"/>
          <p:cNvSpPr txBox="1"/>
          <p:nvPr/>
        </p:nvSpPr>
        <p:spPr>
          <a:xfrm>
            <a:off x="621792" y="4937760"/>
            <a:ext cx="4919579"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Fabrication</a:t>
            </a:r>
            <a:endParaRPr lang="en-US" sz="1700" dirty="0"/>
          </a:p>
        </p:txBody>
      </p:sp>
      <p:sp>
        <p:nvSpPr>
          <p:cNvPr id="9" name="Text 5"/>
          <p:cNvSpPr txBox="1"/>
          <p:nvPr/>
        </p:nvSpPr>
        <p:spPr>
          <a:xfrm>
            <a:off x="621792" y="5276088"/>
            <a:ext cx="4919579" cy="59436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Chaque activité est générée, puis relue, essayée, modifiée ou générée à nouveau.</a:t>
            </a:r>
            <a:endParaRPr lang="en-US" sz="1350" dirty="0"/>
          </a:p>
        </p:txBody>
      </p:sp>
      <p:sp>
        <p:nvSpPr>
          <p:cNvPr id="10" name="Text 6"/>
          <p:cNvSpPr txBox="1"/>
          <p:nvPr/>
        </p:nvSpPr>
        <p:spPr>
          <a:xfrm>
            <a:off x="7277822" y="4937760"/>
            <a:ext cx="4292082" cy="320040"/>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Livraison</a:t>
            </a:r>
            <a:endParaRPr lang="en-US" sz="1700" dirty="0"/>
          </a:p>
        </p:txBody>
      </p:sp>
      <p:sp>
        <p:nvSpPr>
          <p:cNvPr id="11" name="Text 7"/>
          <p:cNvSpPr txBox="1"/>
          <p:nvPr/>
        </p:nvSpPr>
        <p:spPr>
          <a:xfrm>
            <a:off x="7277822" y="5276088"/>
            <a:ext cx="4292082" cy="59436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Un .mbz contient tout le cours. En plus : la fiche de séquence (DOCX, ODT, PDF) et le scénario pour reprendre plus tard.</a:t>
            </a:r>
            <a:endParaRPr lang="en-US" sz="1350" dirty="0"/>
          </a:p>
        </p:txBody>
      </p:sp>
      <p:sp>
        <p:nvSpPr>
          <p:cNvPr id="12" name="Text 8"/>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13" name="Text 9"/>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18 / 24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4 · Partager et se faire aider</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La Sucrerie : partager et piocher</a:t>
            </a:r>
            <a:endParaRPr lang="en-US" sz="3000" dirty="0"/>
          </a:p>
        </p:txBody>
      </p:sp>
      <p:pic>
        <p:nvPicPr>
          <p:cNvPr id="4" name="Image 0" descr="/var/folders/b7/tkzbyvzx72qcg9wb0t1jybvm0000gn/T/diaporama-zLbeHS/logo-sucrerie.png">    </p:cNvPr>
          <p:cNvPicPr>
            <a:picLocks noChangeAspect="1"/>
          </p:cNvPicPr>
          <p:nvPr/>
        </p:nvPicPr>
        <p:blipFill>
          <a:blip r:embed="rId1"/>
          <a:stretch>
            <a:fillRect/>
          </a:stretch>
        </p:blipFill>
        <p:spPr>
          <a:xfrm>
            <a:off x="548640" y="1554480"/>
            <a:ext cx="685800" cy="685800"/>
          </a:xfrm>
          <a:prstGeom prst="rect">
            <a:avLst/>
          </a:prstGeom>
        </p:spPr>
      </p:pic>
      <p:sp>
        <p:nvSpPr>
          <p:cNvPr id="5" name="Text 2"/>
          <p:cNvSpPr txBox="1"/>
          <p:nvPr/>
        </p:nvSpPr>
        <p:spPr>
          <a:xfrm>
            <a:off x="1417320" y="1536192"/>
            <a:ext cx="3886200" cy="731520"/>
          </a:xfrm>
          <a:prstGeom prst="rect">
            <a:avLst/>
          </a:prstGeom>
          <a:noFill/>
          <a:ln/>
        </p:spPr>
        <p:txBody>
          <a:bodyPr wrap="square" lIns="0" tIns="0" rIns="0" bIns="0" rtlCol="0" anchor="ctr"/>
          <a:lstStyle/>
          <a:p>
            <a:pPr indent="0" marL="0">
              <a:buNone/>
            </a:pPr>
            <a:r>
              <a:rPr lang="en-US" sz="1500" dirty="0">
                <a:solidFill>
                  <a:srgbClr val="4A4A4F"/>
                </a:solidFill>
                <a:latin typeface="Arial" pitchFamily="34" charset="0"/>
                <a:ea typeface="Arial" pitchFamily="34" charset="-122"/>
                <a:cs typeface="Arial" pitchFamily="34" charset="-120"/>
              </a:rPr>
              <a:t>Une bibliothèque publique d’activités pédagogiques, en grande partie créées avec Caramel.</a:t>
            </a:r>
            <a:endParaRPr lang="en-US" sz="1500" dirty="0"/>
          </a:p>
        </p:txBody>
      </p:sp>
      <p:sp>
        <p:nvSpPr>
          <p:cNvPr id="6" name="Text 3"/>
          <p:cNvSpPr txBox="1"/>
          <p:nvPr/>
        </p:nvSpPr>
        <p:spPr>
          <a:xfrm>
            <a:off x="548640" y="2423160"/>
            <a:ext cx="4754880" cy="1920240"/>
          </a:xfrm>
          <a:prstGeom prst="rect">
            <a:avLst/>
          </a:prstGeom>
          <a:noFill/>
          <a:ln/>
        </p:spPr>
        <p:txBody>
          <a:bodyPr wrap="square" lIns="0" tIns="0" rIns="0" bIns="0" rtlCol="0" anchor="t"/>
          <a:lstStyle/>
          <a:p>
            <a:pPr marL="186690" indent="-186690">
              <a:lnSpc>
                <a:spcPct val="105000"/>
              </a:lnSpc>
              <a:spcAft>
                <a:spcPts val="700"/>
              </a:spcAft>
              <a:buSzPct val="100000"/>
              <a:buChar char="•"/>
            </a:pPr>
            <a:r>
              <a:rPr lang="en-US" sz="1400" b="1" dirty="0">
                <a:solidFill>
                  <a:srgbClr val="1D1D1F"/>
                </a:solidFill>
                <a:latin typeface="Arial" pitchFamily="34" charset="0"/>
                <a:ea typeface="Arial" pitchFamily="34" charset="-122"/>
                <a:cs typeface="Arial" pitchFamily="34" charset="-120"/>
              </a:rPr>
              <a:t>Consulter</a:t>
            </a:r>
            <a:pPr indent="0" marL="0">
              <a:lnSpc>
                <a:spcPct val="105000"/>
              </a:lnSpc>
              <a:spcAft>
                <a:spcPts val="700"/>
              </a:spcAft>
              <a:buNone/>
            </a:pPr>
            <a:r>
              <a:rPr lang="en-US" sz="1400" dirty="0">
                <a:solidFill>
                  <a:srgbClr val="4A4A4F"/>
                </a:solidFill>
                <a:latin typeface="Arial" pitchFamily="34" charset="0"/>
                <a:ea typeface="Arial" pitchFamily="34" charset="-122"/>
                <a:cs typeface="Arial" pitchFamily="34" charset="-120"/>
              </a:rPr>
              <a:t> et essayer les activités des collègues.</a:t>
            </a:r>
            <a:endParaRPr lang="en-US" sz="1400" dirty="0"/>
          </a:p>
          <a:p>
            <a:pPr marL="186690" indent="-186690">
              <a:lnSpc>
                <a:spcPct val="105000"/>
              </a:lnSpc>
              <a:spcAft>
                <a:spcPts val="700"/>
              </a:spcAft>
              <a:buSzPct val="100000"/>
              <a:buChar char="•"/>
            </a:pPr>
            <a:r>
              <a:rPr lang="en-US" sz="1400" b="1" dirty="0">
                <a:solidFill>
                  <a:srgbClr val="1D1D1F"/>
                </a:solidFill>
                <a:latin typeface="Arial" pitchFamily="34" charset="0"/>
                <a:ea typeface="Arial" pitchFamily="34" charset="-122"/>
                <a:cs typeface="Arial" pitchFamily="34" charset="-120"/>
              </a:rPr>
              <a:t>Télécharger</a:t>
            </a:r>
            <a:pPr indent="0" marL="0">
              <a:lnSpc>
                <a:spcPct val="105000"/>
              </a:lnSpc>
              <a:spcAft>
                <a:spcPts val="700"/>
              </a:spcAft>
              <a:buNone/>
            </a:pPr>
            <a:r>
              <a:rPr lang="en-US" sz="1400" dirty="0">
                <a:solidFill>
                  <a:srgbClr val="4A4A4F"/>
                </a:solidFill>
                <a:latin typeface="Arial" pitchFamily="34" charset="0"/>
                <a:ea typeface="Arial" pitchFamily="34" charset="-122"/>
                <a:cs typeface="Arial" pitchFamily="34" charset="-120"/>
              </a:rPr>
              <a:t> en version numérique ou papier : H5P, MBZ, DOCX, ODT, PDF…</a:t>
            </a:r>
            <a:endParaRPr lang="en-US" sz="1400" dirty="0"/>
          </a:p>
          <a:p>
            <a:pPr marL="186690" indent="-186690">
              <a:lnSpc>
                <a:spcPct val="105000"/>
              </a:lnSpc>
              <a:spcAft>
                <a:spcPts val="700"/>
              </a:spcAft>
              <a:buSzPct val="100000"/>
              <a:buChar char="•"/>
            </a:pPr>
            <a:r>
              <a:rPr lang="en-US" sz="1400" b="1" dirty="0">
                <a:solidFill>
                  <a:srgbClr val="1D1D1F"/>
                </a:solidFill>
                <a:latin typeface="Arial" pitchFamily="34" charset="0"/>
                <a:ea typeface="Arial" pitchFamily="34" charset="-122"/>
                <a:cs typeface="Arial" pitchFamily="34" charset="-120"/>
              </a:rPr>
              <a:t>Déposer</a:t>
            </a:r>
            <a:pPr indent="0" marL="0">
              <a:lnSpc>
                <a:spcPct val="105000"/>
              </a:lnSpc>
              <a:spcAft>
                <a:spcPts val="700"/>
              </a:spcAft>
              <a:buNone/>
            </a:pPr>
            <a:r>
              <a:rPr lang="en-US" sz="1400" dirty="0">
                <a:solidFill>
                  <a:srgbClr val="4A4A4F"/>
                </a:solidFill>
                <a:latin typeface="Arial" pitchFamily="34" charset="0"/>
                <a:ea typeface="Arial" pitchFamily="34" charset="-122"/>
                <a:cs typeface="Arial" pitchFamily="34" charset="-120"/>
              </a:rPr>
              <a:t> les vôtres, depuis Caramel avec « Vers la Sucrerie »</a:t>
            </a:r>
            <a:pPr indent="0" marL="0">
              <a:lnSpc>
                <a:spcPct val="105000"/>
              </a:lnSpc>
              <a:spcAft>
                <a:spcPts val="700"/>
              </a:spcAft>
              <a:buNone/>
            </a:pPr>
            <a:r>
              <a:rPr lang="en-US" sz="1400" baseline="30000" dirty="0">
                <a:solidFill>
                  <a:srgbClr val="4A4A4F"/>
                </a:solidFill>
                <a:latin typeface="Arial" pitchFamily="34" charset="0"/>
                <a:ea typeface="Arial" pitchFamily="34" charset="-122"/>
                <a:cs typeface="Arial" pitchFamily="34" charset="-120"/>
              </a:rPr>
              <a:t>1</a:t>
            </a:r>
            <a:pPr indent="0" marL="0">
              <a:lnSpc>
                <a:spcPct val="105000"/>
              </a:lnSpc>
              <a:spcAft>
                <a:spcPts val="700"/>
              </a:spcAft>
              <a:buNone/>
            </a:pPr>
            <a:r>
              <a:rPr lang="en-US" sz="1400" dirty="0">
                <a:solidFill>
                  <a:srgbClr val="4A4A4F"/>
                </a:solidFill>
                <a:latin typeface="Arial" pitchFamily="34" charset="0"/>
                <a:ea typeface="Arial" pitchFamily="34" charset="-122"/>
                <a:cs typeface="Arial" pitchFamily="34" charset="-120"/>
              </a:rPr>
              <a:t>.</a:t>
            </a:r>
            <a:endParaRPr lang="en-US" sz="1400" dirty="0"/>
          </a:p>
          <a:p>
            <a:pPr marL="186690" indent="-186690">
              <a:lnSpc>
                <a:spcPct val="105000"/>
              </a:lnSpc>
              <a:spcAft>
                <a:spcPts val="700"/>
              </a:spcAft>
              <a:buSzPct val="100000"/>
              <a:buChar char="•"/>
            </a:pPr>
            <a:r>
              <a:rPr lang="en-US" sz="1400" b="1" dirty="0">
                <a:solidFill>
                  <a:srgbClr val="1D1D1F"/>
                </a:solidFill>
                <a:latin typeface="Arial" pitchFamily="34" charset="0"/>
                <a:ea typeface="Arial" pitchFamily="34" charset="-122"/>
                <a:cs typeface="Arial" pitchFamily="34" charset="-120"/>
              </a:rPr>
              <a:t>Regrouper</a:t>
            </a:r>
            <a:pPr indent="0" marL="0">
              <a:lnSpc>
                <a:spcPct val="105000"/>
              </a:lnSpc>
              <a:spcAft>
                <a:spcPts val="700"/>
              </a:spcAft>
              <a:buNone/>
            </a:pPr>
            <a:r>
              <a:rPr lang="en-US" sz="1400" dirty="0">
                <a:solidFill>
                  <a:srgbClr val="4A4A4F"/>
                </a:solidFill>
                <a:latin typeface="Arial" pitchFamily="34" charset="0"/>
                <a:ea typeface="Arial" pitchFamily="34" charset="-122"/>
                <a:cs typeface="Arial" pitchFamily="34" charset="-120"/>
              </a:rPr>
              <a:t> en collections thématiques, partagées par un seul lien.</a:t>
            </a:r>
            <a:endParaRPr lang="en-US" sz="1400" dirty="0"/>
          </a:p>
        </p:txBody>
      </p:sp>
      <p:pic>
        <p:nvPicPr>
          <p:cNvPr id="7" name="Image 1" descr="/var/folders/b7/tkzbyvzx72qcg9wb0t1jybvm0000gn/T/diaporama-zLbeHS/qr-sucrerie.png">    </p:cNvPr>
          <p:cNvPicPr>
            <a:picLocks noChangeAspect="1"/>
          </p:cNvPicPr>
          <p:nvPr/>
        </p:nvPicPr>
        <p:blipFill>
          <a:blip r:embed="rId2"/>
          <a:stretch>
            <a:fillRect/>
          </a:stretch>
        </p:blipFill>
        <p:spPr>
          <a:xfrm>
            <a:off x="548640" y="4315968"/>
            <a:ext cx="1097280" cy="1097280"/>
          </a:xfrm>
          <a:prstGeom prst="rect">
            <a:avLst/>
          </a:prstGeom>
        </p:spPr>
      </p:pic>
      <p:sp>
        <p:nvSpPr>
          <p:cNvPr id="8" name="Text 4"/>
          <p:cNvSpPr txBox="1"/>
          <p:nvPr/>
        </p:nvSpPr>
        <p:spPr>
          <a:xfrm>
            <a:off x="1828800" y="4480560"/>
            <a:ext cx="3474720" cy="73152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Scannez ou ouvrez
</a:t>
            </a:r>
            <a:pPr indent="0" marL="0">
              <a:buNone/>
            </a:pPr>
            <a:r>
              <a:rPr lang="en-US" sz="1400" b="1" u="sng" dirty="0">
                <a:solidFill>
                  <a:srgbClr val="0056B3"/>
                </a:solidFill>
                <a:latin typeface="Arial" pitchFamily="34" charset="0"/>
                <a:ea typeface="Arial" pitchFamily="34" charset="-122"/>
                <a:cs typeface="Arial" pitchFamily="34" charset="-120"/>
                <a:hlinkClick r:id="rId3" invalidUrl="" action="" tgtFrame="" tooltip="https://sucrerie.forge.apps.education.fr/" history="1" highlightClick="0" endSnd="0">
                  <a:extLst>
                    <a:ext uri="{A12FA001-AC4F-418D-AE19-62706E023703}">
                      <ahyp:hlinkClr xmlns:ahyp="http://schemas.microsoft.com/office/drawing/2018/hyperlinkcolor" val="tx"/>
                    </a:ext>
                  </a:extLst>
                </a:hlinkClick>
              </a:rPr>
              <a:t>sucrerie.forge.apps.education.fr</a:t>
            </a:r>
            <a:endParaRPr lang="en-US" sz="1200" dirty="0"/>
          </a:p>
        </p:txBody>
      </p:sp>
      <p:sp>
        <p:nvSpPr>
          <p:cNvPr id="9" name="Shape 5"/>
          <p:cNvSpPr/>
          <p:nvPr/>
        </p:nvSpPr>
        <p:spPr>
          <a:xfrm>
            <a:off x="5733288" y="1481328"/>
            <a:ext cx="5982919" cy="3469932"/>
          </a:xfrm>
          <a:prstGeom prst="roundRect">
            <a:avLst>
              <a:gd name="adj" fmla="val 316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10" name="Image 2" descr="/var/folders/b7/tkzbyvzx72qcg9wb0t1jybvm0000gn/T/diaporama-zLbeHS/sucrerie.jpg">    </p:cNvPr>
          <p:cNvPicPr>
            <a:picLocks noChangeAspect="1"/>
          </p:cNvPicPr>
          <p:nvPr/>
        </p:nvPicPr>
        <p:blipFill>
          <a:blip r:embed="rId4"/>
          <a:stretch>
            <a:fillRect/>
          </a:stretch>
        </p:blipFill>
        <p:spPr>
          <a:xfrm>
            <a:off x="5806440" y="1554480"/>
            <a:ext cx="5836615" cy="3323628"/>
          </a:xfrm>
          <a:prstGeom prst="rect">
            <a:avLst/>
          </a:prstGeom>
        </p:spPr>
      </p:pic>
      <p:sp>
        <p:nvSpPr>
          <p:cNvPr id="11" name="Text 6"/>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baseline="30000" dirty="0">
                <a:solidFill>
                  <a:srgbClr val="6E6E73"/>
                </a:solidFill>
                <a:latin typeface="Arial" pitchFamily="34" charset="0"/>
                <a:ea typeface="Arial" pitchFamily="34" charset="-122"/>
                <a:cs typeface="Arial" pitchFamily="34" charset="-120"/>
              </a:rPr>
              <a:t>1</a:t>
            </a:r>
            <a:pPr indent="0" marL="0">
              <a:lnSpc>
                <a:spcPct val="105000"/>
              </a:lnSpc>
              <a:buNone/>
            </a:pPr>
            <a:r>
              <a:rPr lang="en-US" sz="950" dirty="0">
                <a:solidFill>
                  <a:srgbClr val="6E6E73"/>
                </a:solidFill>
                <a:latin typeface="Arial" pitchFamily="34" charset="0"/>
                <a:ea typeface="Arial" pitchFamily="34" charset="-122"/>
                <a:cs typeface="Arial" pitchFamily="34" charset="-120"/>
              </a:rPr>
              <a:t> Déposer est volontaire et vaut publication, sous licence CC BY-SA 4.0. On se connecte avec son adresse académique (les adresses personnelles ne sont pas acceptées), qui sert uniquement d’identifiant. Vous certifiez détenir les droits et qu’aucune donnée personnelle ne figure dans l’activité.</a:t>
            </a:r>
            <a:endParaRPr lang="en-US" sz="950" dirty="0"/>
          </a:p>
        </p:txBody>
      </p:sp>
      <p:sp>
        <p:nvSpPr>
          <p:cNvPr id="12" name="Text 7"/>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13" name="Text 8"/>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19 / 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4 · Partager et se faire aider</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Vous n’êtes jamais seul</a:t>
            </a:r>
            <a:endParaRPr lang="en-US" sz="3000" dirty="0"/>
          </a:p>
        </p:txBody>
      </p:sp>
      <p:sp>
        <p:nvSpPr>
          <p:cNvPr id="4" name="Shape 2"/>
          <p:cNvSpPr/>
          <p:nvPr/>
        </p:nvSpPr>
        <p:spPr>
          <a:xfrm>
            <a:off x="548640" y="1527048"/>
            <a:ext cx="6135624" cy="3775183"/>
          </a:xfrm>
          <a:prstGeom prst="roundRect">
            <a:avLst>
              <a:gd name="adj" fmla="val 2907"/>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diaporama-zLbeHS/caramelia.jpg">    </p:cNvPr>
          <p:cNvPicPr>
            <a:picLocks noChangeAspect="1"/>
          </p:cNvPicPr>
          <p:nvPr/>
        </p:nvPicPr>
        <p:blipFill>
          <a:blip r:embed="rId1"/>
          <a:stretch>
            <a:fillRect/>
          </a:stretch>
        </p:blipFill>
        <p:spPr>
          <a:xfrm>
            <a:off x="621792" y="1600200"/>
            <a:ext cx="5989320" cy="3628879"/>
          </a:xfrm>
          <a:prstGeom prst="rect">
            <a:avLst/>
          </a:prstGeom>
        </p:spPr>
      </p:pic>
      <p:sp>
        <p:nvSpPr>
          <p:cNvPr id="6" name="Shape 3"/>
          <p:cNvSpPr/>
          <p:nvPr/>
        </p:nvSpPr>
        <p:spPr>
          <a:xfrm>
            <a:off x="7114032" y="1600200"/>
            <a:ext cx="512064" cy="512064"/>
          </a:xfrm>
          <a:prstGeom prst="roundRect">
            <a:avLst>
              <a:gd name="adj" fmla="val 28571"/>
            </a:avLst>
          </a:prstGeom>
          <a:solidFill>
            <a:srgbClr val="FFECD4"/>
          </a:solidFill>
          <a:ln/>
        </p:spPr>
      </p:sp>
      <p:pic>
        <p:nvPicPr>
          <p:cNvPr id="7" name="Image 1" descr="/var/folders/b7/tkzbyvzx72qcg9wb0t1jybvm0000gn/T/diaporama-zLbeHS/logo-caramelia.png">    </p:cNvPr>
          <p:cNvPicPr>
            <a:picLocks noChangeAspect="1"/>
          </p:cNvPicPr>
          <p:nvPr/>
        </p:nvPicPr>
        <p:blipFill>
          <a:blip r:embed="rId2"/>
          <a:stretch>
            <a:fillRect/>
          </a:stretch>
        </p:blipFill>
        <p:spPr>
          <a:xfrm>
            <a:off x="7205472" y="1691640"/>
            <a:ext cx="329184" cy="329184"/>
          </a:xfrm>
          <a:prstGeom prst="rect">
            <a:avLst/>
          </a:prstGeom>
        </p:spPr>
      </p:pic>
      <p:sp>
        <p:nvSpPr>
          <p:cNvPr id="8" name="Text 4"/>
          <p:cNvSpPr txBox="1"/>
          <p:nvPr/>
        </p:nvSpPr>
        <p:spPr>
          <a:xfrm>
            <a:off x="7799832" y="1572768"/>
            <a:ext cx="3843223" cy="292608"/>
          </a:xfrm>
          <a:prstGeom prst="rect">
            <a:avLst/>
          </a:prstGeom>
          <a:noFill/>
          <a:ln/>
        </p:spPr>
        <p:txBody>
          <a:bodyPr wrap="square" lIns="0" tIns="0" rIns="0" bIns="0" rtlCol="0" anchor="t"/>
          <a:lstStyle/>
          <a:p>
            <a:pPr indent="0" marL="0">
              <a:buNone/>
            </a:pPr>
            <a:r>
              <a:rPr lang="en-US" sz="1600" b="1" dirty="0">
                <a:solidFill>
                  <a:srgbClr val="1D1D1F"/>
                </a:solidFill>
                <a:latin typeface="Arial" pitchFamily="34" charset="0"/>
                <a:ea typeface="Arial" pitchFamily="34" charset="-122"/>
                <a:cs typeface="Arial" pitchFamily="34" charset="-120"/>
              </a:rPr>
              <a:t>Caramelia</a:t>
            </a:r>
            <a:endParaRPr lang="en-US" sz="1600" dirty="0"/>
          </a:p>
        </p:txBody>
      </p:sp>
      <p:sp>
        <p:nvSpPr>
          <p:cNvPr id="9" name="Text 5"/>
          <p:cNvSpPr txBox="1"/>
          <p:nvPr/>
        </p:nvSpPr>
        <p:spPr>
          <a:xfrm>
            <a:off x="7799832" y="1874520"/>
            <a:ext cx="3843223" cy="64008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L’assistante intégrée répond sur l’outil et peut préparer une activité ou un parcours avec vous.</a:t>
            </a:r>
            <a:endParaRPr lang="en-US" sz="1300" dirty="0"/>
          </a:p>
        </p:txBody>
      </p:sp>
      <p:sp>
        <p:nvSpPr>
          <p:cNvPr id="10" name="Shape 6"/>
          <p:cNvSpPr/>
          <p:nvPr/>
        </p:nvSpPr>
        <p:spPr>
          <a:xfrm>
            <a:off x="7114032" y="2606040"/>
            <a:ext cx="512064" cy="512064"/>
          </a:xfrm>
          <a:prstGeom prst="roundRect">
            <a:avLst>
              <a:gd name="adj" fmla="val 28000"/>
            </a:avLst>
          </a:prstGeom>
          <a:solidFill>
            <a:srgbClr val="FFECD4"/>
          </a:solidFill>
          <a:ln/>
        </p:spPr>
      </p:sp>
      <p:pic>
        <p:nvPicPr>
          <p:cNvPr id="11" name="Image 2" descr="/var/folders/b7/tkzbyvzx72qcg9wb0t1jybvm0000gn/T/diaporama-zLbeHS/icone-24.png">    </p:cNvPr>
          <p:cNvPicPr>
            <a:picLocks noChangeAspect="1"/>
          </p:cNvPicPr>
          <p:nvPr/>
        </p:nvPicPr>
        <p:blipFill>
          <a:blip r:embed="rId3"/>
          <a:stretch>
            <a:fillRect/>
          </a:stretch>
        </p:blipFill>
        <p:spPr>
          <a:xfrm>
            <a:off x="7236927" y="2728935"/>
            <a:ext cx="266273" cy="266273"/>
          </a:xfrm>
          <a:prstGeom prst="rect">
            <a:avLst/>
          </a:prstGeom>
        </p:spPr>
      </p:pic>
      <p:sp>
        <p:nvSpPr>
          <p:cNvPr id="12" name="Text 7"/>
          <p:cNvSpPr txBox="1"/>
          <p:nvPr/>
        </p:nvSpPr>
        <p:spPr>
          <a:xfrm>
            <a:off x="7799832" y="2578608"/>
            <a:ext cx="3843223" cy="292608"/>
          </a:xfrm>
          <a:prstGeom prst="rect">
            <a:avLst/>
          </a:prstGeom>
          <a:noFill/>
          <a:ln/>
        </p:spPr>
        <p:txBody>
          <a:bodyPr wrap="square" lIns="0" tIns="0" rIns="0" bIns="0" rtlCol="0" anchor="t"/>
          <a:lstStyle/>
          <a:p>
            <a:pPr indent="0" marL="0">
              <a:buNone/>
            </a:pPr>
            <a:r>
              <a:rPr lang="en-US" sz="1600" b="1" dirty="0">
                <a:solidFill>
                  <a:srgbClr val="1D1D1F"/>
                </a:solidFill>
                <a:latin typeface="Arial" pitchFamily="34" charset="0"/>
                <a:ea typeface="Arial" pitchFamily="34" charset="-122"/>
                <a:cs typeface="Arial" pitchFamily="34" charset="-120"/>
              </a:rPr>
              <a:t>Le tutoriel</a:t>
            </a:r>
            <a:endParaRPr lang="en-US" sz="1600" dirty="0"/>
          </a:p>
        </p:txBody>
      </p:sp>
      <p:sp>
        <p:nvSpPr>
          <p:cNvPr id="13" name="Text 8"/>
          <p:cNvSpPr txBox="1"/>
          <p:nvPr/>
        </p:nvSpPr>
        <p:spPr>
          <a:xfrm>
            <a:off x="7799832" y="2880360"/>
            <a:ext cx="3843223" cy="64008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Bouton « Tutoriel » en haut de Caramel : pas à pas, imports compris.</a:t>
            </a:r>
            <a:endParaRPr lang="en-US" sz="1300" dirty="0"/>
          </a:p>
        </p:txBody>
      </p:sp>
      <p:sp>
        <p:nvSpPr>
          <p:cNvPr id="14" name="Shape 9"/>
          <p:cNvSpPr/>
          <p:nvPr/>
        </p:nvSpPr>
        <p:spPr>
          <a:xfrm>
            <a:off x="7114032" y="3611880"/>
            <a:ext cx="512064" cy="512064"/>
          </a:xfrm>
          <a:prstGeom prst="roundRect">
            <a:avLst>
              <a:gd name="adj" fmla="val 28000"/>
            </a:avLst>
          </a:prstGeom>
          <a:solidFill>
            <a:srgbClr val="FFECD4"/>
          </a:solidFill>
          <a:ln/>
        </p:spPr>
      </p:sp>
      <p:pic>
        <p:nvPicPr>
          <p:cNvPr id="15" name="Image 3" descr="/var/folders/b7/tkzbyvzx72qcg9wb0t1jybvm0000gn/T/diaporama-zLbeHS/icone-26.png">    </p:cNvPr>
          <p:cNvPicPr>
            <a:picLocks noChangeAspect="1"/>
          </p:cNvPicPr>
          <p:nvPr/>
        </p:nvPicPr>
        <p:blipFill>
          <a:blip r:embed="rId4"/>
          <a:stretch>
            <a:fillRect/>
          </a:stretch>
        </p:blipFill>
        <p:spPr>
          <a:xfrm>
            <a:off x="7236927" y="3734775"/>
            <a:ext cx="266273" cy="266273"/>
          </a:xfrm>
          <a:prstGeom prst="rect">
            <a:avLst/>
          </a:prstGeom>
        </p:spPr>
      </p:pic>
      <p:sp>
        <p:nvSpPr>
          <p:cNvPr id="16" name="Text 10"/>
          <p:cNvSpPr txBox="1"/>
          <p:nvPr/>
        </p:nvSpPr>
        <p:spPr>
          <a:xfrm>
            <a:off x="7799832" y="3584448"/>
            <a:ext cx="3843223" cy="292608"/>
          </a:xfrm>
          <a:prstGeom prst="rect">
            <a:avLst/>
          </a:prstGeom>
          <a:noFill/>
          <a:ln/>
        </p:spPr>
        <p:txBody>
          <a:bodyPr wrap="square" lIns="0" tIns="0" rIns="0" bIns="0" rtlCol="0" anchor="t"/>
          <a:lstStyle/>
          <a:p>
            <a:pPr indent="0" marL="0">
              <a:buNone/>
            </a:pPr>
            <a:r>
              <a:rPr lang="en-US" sz="1600" b="1" dirty="0">
                <a:solidFill>
                  <a:srgbClr val="1D1D1F"/>
                </a:solidFill>
                <a:latin typeface="Arial" pitchFamily="34" charset="0"/>
                <a:ea typeface="Arial" pitchFamily="34" charset="-122"/>
                <a:cs typeface="Arial" pitchFamily="34" charset="-120"/>
              </a:rPr>
              <a:t>Le wiki</a:t>
            </a:r>
            <a:endParaRPr lang="en-US" sz="1600" dirty="0"/>
          </a:p>
        </p:txBody>
      </p:sp>
      <p:sp>
        <p:nvSpPr>
          <p:cNvPr id="17" name="Text 11"/>
          <p:cNvSpPr txBox="1"/>
          <p:nvPr/>
        </p:nvSpPr>
        <p:spPr>
          <a:xfrm>
            <a:off x="7799832" y="3886200"/>
            <a:ext cx="3843223" cy="64008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Le guide complet, captures à l’appui.</a:t>
            </a:r>
            <a:endParaRPr lang="en-US" sz="1300" dirty="0"/>
          </a:p>
        </p:txBody>
      </p:sp>
      <p:sp>
        <p:nvSpPr>
          <p:cNvPr id="18" name="Shape 12"/>
          <p:cNvSpPr/>
          <p:nvPr/>
        </p:nvSpPr>
        <p:spPr>
          <a:xfrm>
            <a:off x="7114032" y="4617720"/>
            <a:ext cx="512064" cy="512064"/>
          </a:xfrm>
          <a:prstGeom prst="roundRect">
            <a:avLst>
              <a:gd name="adj" fmla="val 28571"/>
            </a:avLst>
          </a:prstGeom>
          <a:solidFill>
            <a:srgbClr val="FFECD4"/>
          </a:solidFill>
          <a:ln/>
        </p:spPr>
      </p:sp>
      <p:pic>
        <p:nvPicPr>
          <p:cNvPr id="19" name="Image 4" descr="/var/folders/b7/tkzbyvzx72qcg9wb0t1jybvm0000gn/T/diaporama-zLbeHS/logo-tchap.png">    </p:cNvPr>
          <p:cNvPicPr>
            <a:picLocks noChangeAspect="1"/>
          </p:cNvPicPr>
          <p:nvPr/>
        </p:nvPicPr>
        <p:blipFill>
          <a:blip r:embed="rId5"/>
          <a:stretch>
            <a:fillRect/>
          </a:stretch>
        </p:blipFill>
        <p:spPr>
          <a:xfrm>
            <a:off x="7205472" y="4709160"/>
            <a:ext cx="329184" cy="329184"/>
          </a:xfrm>
          <a:prstGeom prst="rect">
            <a:avLst/>
          </a:prstGeom>
        </p:spPr>
      </p:pic>
      <p:sp>
        <p:nvSpPr>
          <p:cNvPr id="20" name="Text 13"/>
          <p:cNvSpPr txBox="1"/>
          <p:nvPr/>
        </p:nvSpPr>
        <p:spPr>
          <a:xfrm>
            <a:off x="7799832" y="4590288"/>
            <a:ext cx="3843223" cy="292608"/>
          </a:xfrm>
          <a:prstGeom prst="rect">
            <a:avLst/>
          </a:prstGeom>
          <a:noFill/>
          <a:ln/>
        </p:spPr>
        <p:txBody>
          <a:bodyPr wrap="square" lIns="0" tIns="0" rIns="0" bIns="0" rtlCol="0" anchor="t"/>
          <a:lstStyle/>
          <a:p>
            <a:pPr indent="0" marL="0">
              <a:buNone/>
            </a:pPr>
            <a:r>
              <a:rPr lang="en-US" sz="1600" b="1" dirty="0">
                <a:solidFill>
                  <a:srgbClr val="1D1D1F"/>
                </a:solidFill>
                <a:latin typeface="Arial" pitchFamily="34" charset="0"/>
                <a:ea typeface="Arial" pitchFamily="34" charset="-122"/>
                <a:cs typeface="Arial" pitchFamily="34" charset="-120"/>
              </a:rPr>
              <a:t>Tchap</a:t>
            </a:r>
            <a:endParaRPr lang="en-US" sz="1600" dirty="0"/>
          </a:p>
        </p:txBody>
      </p:sp>
      <p:sp>
        <p:nvSpPr>
          <p:cNvPr id="21" name="Text 14"/>
          <p:cNvSpPr txBox="1"/>
          <p:nvPr/>
        </p:nvSpPr>
        <p:spPr>
          <a:xfrm>
            <a:off x="7799832" y="4892040"/>
            <a:ext cx="3843223" cy="64008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Le salon de la communauté : questions, idées, entraide.</a:t>
            </a:r>
            <a:endParaRPr lang="en-US" sz="1300" dirty="0"/>
          </a:p>
        </p:txBody>
      </p:sp>
      <p:sp>
        <p:nvSpPr>
          <p:cNvPr id="22" name="Text 15"/>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3" name="Text 16"/>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20 / 24</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4 · Partager et se faire aider</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Les bons réflexes</a:t>
            </a:r>
            <a:endParaRPr lang="en-US" sz="3000" dirty="0"/>
          </a:p>
        </p:txBody>
      </p:sp>
      <p:sp>
        <p:nvSpPr>
          <p:cNvPr id="4" name="Shape 2"/>
          <p:cNvSpPr/>
          <p:nvPr/>
        </p:nvSpPr>
        <p:spPr>
          <a:xfrm>
            <a:off x="548640" y="1508760"/>
            <a:ext cx="5410048" cy="1371600"/>
          </a:xfrm>
          <a:prstGeom prst="roundRect">
            <a:avLst>
              <a:gd name="adj" fmla="val 10667"/>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5" name="Shape 3"/>
          <p:cNvSpPr/>
          <p:nvPr/>
        </p:nvSpPr>
        <p:spPr>
          <a:xfrm>
            <a:off x="822960" y="1819656"/>
            <a:ext cx="566928" cy="566928"/>
          </a:xfrm>
          <a:prstGeom prst="roundRect">
            <a:avLst>
              <a:gd name="adj" fmla="val 28000"/>
            </a:avLst>
          </a:prstGeom>
          <a:solidFill>
            <a:srgbClr val="FFECD4"/>
          </a:solidFill>
          <a:ln/>
        </p:spPr>
      </p:sp>
      <p:pic>
        <p:nvPicPr>
          <p:cNvPr id="6" name="Image 0" descr="/var/folders/b7/tkzbyvzx72qcg9wb0t1jybvm0000gn/T/diaporama-zLbeHS/icone-19.png">    </p:cNvPr>
          <p:cNvPicPr>
            <a:picLocks noChangeAspect="1"/>
          </p:cNvPicPr>
          <p:nvPr/>
        </p:nvPicPr>
        <p:blipFill>
          <a:blip r:embed="rId1"/>
          <a:stretch>
            <a:fillRect/>
          </a:stretch>
        </p:blipFill>
        <p:spPr>
          <a:xfrm>
            <a:off x="959023" y="1955719"/>
            <a:ext cx="294803" cy="294803"/>
          </a:xfrm>
          <a:prstGeom prst="rect">
            <a:avLst/>
          </a:prstGeom>
        </p:spPr>
      </p:pic>
      <p:sp>
        <p:nvSpPr>
          <p:cNvPr id="7" name="Text 4"/>
          <p:cNvSpPr txBox="1"/>
          <p:nvPr/>
        </p:nvSpPr>
        <p:spPr>
          <a:xfrm>
            <a:off x="1600200" y="1746504"/>
            <a:ext cx="4129888" cy="329184"/>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Relire avant de diffuser</a:t>
            </a:r>
            <a:endParaRPr lang="en-US" sz="1700" dirty="0"/>
          </a:p>
        </p:txBody>
      </p:sp>
      <p:sp>
        <p:nvSpPr>
          <p:cNvPr id="8" name="Text 5"/>
          <p:cNvSpPr txBox="1"/>
          <p:nvPr/>
        </p:nvSpPr>
        <p:spPr>
          <a:xfrm>
            <a:off x="1600200" y="2112264"/>
            <a:ext cx="4129888" cy="68580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L’IA peut se tromper : un fait, une réponse, une consigne ambiguë. Vous restez l’auteur de ce que vous donnez aux élèves.</a:t>
            </a:r>
            <a:endParaRPr lang="en-US" sz="1350" dirty="0"/>
          </a:p>
        </p:txBody>
      </p:sp>
      <p:sp>
        <p:nvSpPr>
          <p:cNvPr id="9" name="Shape 6"/>
          <p:cNvSpPr/>
          <p:nvPr/>
        </p:nvSpPr>
        <p:spPr>
          <a:xfrm>
            <a:off x="6233008" y="1508760"/>
            <a:ext cx="5410048" cy="1371600"/>
          </a:xfrm>
          <a:prstGeom prst="roundRect">
            <a:avLst>
              <a:gd name="adj" fmla="val 10667"/>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0" name="Shape 7"/>
          <p:cNvSpPr/>
          <p:nvPr/>
        </p:nvSpPr>
        <p:spPr>
          <a:xfrm>
            <a:off x="6507328" y="1819656"/>
            <a:ext cx="566928" cy="566928"/>
          </a:xfrm>
          <a:prstGeom prst="roundRect">
            <a:avLst>
              <a:gd name="adj" fmla="val 28000"/>
            </a:avLst>
          </a:prstGeom>
          <a:solidFill>
            <a:srgbClr val="FFECD4"/>
          </a:solidFill>
          <a:ln/>
        </p:spPr>
      </p:sp>
      <p:pic>
        <p:nvPicPr>
          <p:cNvPr id="11" name="Image 1" descr="/var/folders/b7/tkzbyvzx72qcg9wb0t1jybvm0000gn/T/diaporama-zLbeHS/icone-20.png">    </p:cNvPr>
          <p:cNvPicPr>
            <a:picLocks noChangeAspect="1"/>
          </p:cNvPicPr>
          <p:nvPr/>
        </p:nvPicPr>
        <p:blipFill>
          <a:blip r:embed="rId2"/>
          <a:stretch>
            <a:fillRect/>
          </a:stretch>
        </p:blipFill>
        <p:spPr>
          <a:xfrm>
            <a:off x="6643390" y="1955719"/>
            <a:ext cx="294803" cy="294803"/>
          </a:xfrm>
          <a:prstGeom prst="rect">
            <a:avLst/>
          </a:prstGeom>
        </p:spPr>
      </p:pic>
      <p:sp>
        <p:nvSpPr>
          <p:cNvPr id="12" name="Text 8"/>
          <p:cNvSpPr txBox="1"/>
          <p:nvPr/>
        </p:nvSpPr>
        <p:spPr>
          <a:xfrm>
            <a:off x="7284568" y="1746504"/>
            <a:ext cx="4129888" cy="329184"/>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Protéger les élèves</a:t>
            </a:r>
            <a:endParaRPr lang="en-US" sz="1700" dirty="0"/>
          </a:p>
        </p:txBody>
      </p:sp>
      <p:sp>
        <p:nvSpPr>
          <p:cNvPr id="13" name="Text 9"/>
          <p:cNvSpPr txBox="1"/>
          <p:nvPr/>
        </p:nvSpPr>
        <p:spPr>
          <a:xfrm>
            <a:off x="7284568" y="2112264"/>
            <a:ext cx="4129888" cy="68580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Aucun nom, aucune donnée personnelle, ni dans les champs, ni dans les documents.</a:t>
            </a:r>
            <a:endParaRPr lang="en-US" sz="1350" dirty="0"/>
          </a:p>
        </p:txBody>
      </p:sp>
      <p:sp>
        <p:nvSpPr>
          <p:cNvPr id="14" name="Shape 10"/>
          <p:cNvSpPr/>
          <p:nvPr/>
        </p:nvSpPr>
        <p:spPr>
          <a:xfrm>
            <a:off x="548640" y="3081528"/>
            <a:ext cx="5410048" cy="1371600"/>
          </a:xfrm>
          <a:prstGeom prst="roundRect">
            <a:avLst>
              <a:gd name="adj" fmla="val 10667"/>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5" name="Shape 11"/>
          <p:cNvSpPr/>
          <p:nvPr/>
        </p:nvSpPr>
        <p:spPr>
          <a:xfrm>
            <a:off x="822960" y="3392424"/>
            <a:ext cx="566928" cy="566928"/>
          </a:xfrm>
          <a:prstGeom prst="roundRect">
            <a:avLst>
              <a:gd name="adj" fmla="val 28000"/>
            </a:avLst>
          </a:prstGeom>
          <a:solidFill>
            <a:srgbClr val="FFECD4"/>
          </a:solidFill>
          <a:ln/>
        </p:spPr>
      </p:sp>
      <p:pic>
        <p:nvPicPr>
          <p:cNvPr id="16" name="Image 2" descr="/var/folders/b7/tkzbyvzx72qcg9wb0t1jybvm0000gn/T/diaporama-zLbeHS/icone-21.png">    </p:cNvPr>
          <p:cNvPicPr>
            <a:picLocks noChangeAspect="1"/>
          </p:cNvPicPr>
          <p:nvPr/>
        </p:nvPicPr>
        <p:blipFill>
          <a:blip r:embed="rId3"/>
          <a:stretch>
            <a:fillRect/>
          </a:stretch>
        </p:blipFill>
        <p:spPr>
          <a:xfrm>
            <a:off x="959023" y="3528487"/>
            <a:ext cx="294803" cy="294803"/>
          </a:xfrm>
          <a:prstGeom prst="rect">
            <a:avLst/>
          </a:prstGeom>
        </p:spPr>
      </p:pic>
      <p:sp>
        <p:nvSpPr>
          <p:cNvPr id="17" name="Text 12"/>
          <p:cNvSpPr txBox="1"/>
          <p:nvPr/>
        </p:nvSpPr>
        <p:spPr>
          <a:xfrm>
            <a:off x="1600200" y="3319272"/>
            <a:ext cx="4129888" cy="329184"/>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Respecter les droits</a:t>
            </a:r>
            <a:endParaRPr lang="en-US" sz="1700" dirty="0"/>
          </a:p>
        </p:txBody>
      </p:sp>
      <p:sp>
        <p:nvSpPr>
          <p:cNvPr id="18" name="Text 13"/>
          <p:cNvSpPr txBox="1"/>
          <p:nvPr/>
        </p:nvSpPr>
        <p:spPr>
          <a:xfrm>
            <a:off x="1600200" y="3685032"/>
            <a:ext cx="4129888" cy="68580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Documents, images et textes utilisés doivent pouvoir l’être. En déposant sur la Sucrerie, vous le certifiez.</a:t>
            </a:r>
            <a:endParaRPr lang="en-US" sz="1350" dirty="0"/>
          </a:p>
        </p:txBody>
      </p:sp>
      <p:sp>
        <p:nvSpPr>
          <p:cNvPr id="19" name="Shape 14"/>
          <p:cNvSpPr/>
          <p:nvPr/>
        </p:nvSpPr>
        <p:spPr>
          <a:xfrm>
            <a:off x="6233008" y="3081528"/>
            <a:ext cx="5410048" cy="1371600"/>
          </a:xfrm>
          <a:prstGeom prst="roundRect">
            <a:avLst>
              <a:gd name="adj" fmla="val 10667"/>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20" name="Shape 15"/>
          <p:cNvSpPr/>
          <p:nvPr/>
        </p:nvSpPr>
        <p:spPr>
          <a:xfrm>
            <a:off x="6507328" y="3392424"/>
            <a:ext cx="566928" cy="566928"/>
          </a:xfrm>
          <a:prstGeom prst="roundRect">
            <a:avLst>
              <a:gd name="adj" fmla="val 28000"/>
            </a:avLst>
          </a:prstGeom>
          <a:solidFill>
            <a:srgbClr val="FFECD4"/>
          </a:solidFill>
          <a:ln/>
        </p:spPr>
      </p:sp>
      <p:pic>
        <p:nvPicPr>
          <p:cNvPr id="21" name="Image 3" descr="/var/folders/b7/tkzbyvzx72qcg9wb0t1jybvm0000gn/T/diaporama-zLbeHS/icone-22.png">    </p:cNvPr>
          <p:cNvPicPr>
            <a:picLocks noChangeAspect="1"/>
          </p:cNvPicPr>
          <p:nvPr/>
        </p:nvPicPr>
        <p:blipFill>
          <a:blip r:embed="rId4"/>
          <a:stretch>
            <a:fillRect/>
          </a:stretch>
        </p:blipFill>
        <p:spPr>
          <a:xfrm>
            <a:off x="6643390" y="3528487"/>
            <a:ext cx="294803" cy="294803"/>
          </a:xfrm>
          <a:prstGeom prst="rect">
            <a:avLst/>
          </a:prstGeom>
        </p:spPr>
      </p:pic>
      <p:sp>
        <p:nvSpPr>
          <p:cNvPr id="22" name="Text 16"/>
          <p:cNvSpPr txBox="1"/>
          <p:nvPr/>
        </p:nvSpPr>
        <p:spPr>
          <a:xfrm>
            <a:off x="7284568" y="3319272"/>
            <a:ext cx="4129888" cy="329184"/>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Tester avant la classe</a:t>
            </a:r>
            <a:endParaRPr lang="en-US" sz="1700" dirty="0"/>
          </a:p>
        </p:txBody>
      </p:sp>
      <p:sp>
        <p:nvSpPr>
          <p:cNvPr id="23" name="Text 17"/>
          <p:cNvSpPr txBox="1"/>
          <p:nvPr/>
        </p:nvSpPr>
        <p:spPr>
          <a:xfrm>
            <a:off x="7284568" y="3685032"/>
            <a:ext cx="4129888" cy="68580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Importez d’abord dans un espace de test et jouez l’activité comme un élève.</a:t>
            </a:r>
            <a:endParaRPr lang="en-US" sz="1350" dirty="0"/>
          </a:p>
        </p:txBody>
      </p:sp>
      <p:sp>
        <p:nvSpPr>
          <p:cNvPr id="24" name="Shape 18"/>
          <p:cNvSpPr/>
          <p:nvPr/>
        </p:nvSpPr>
        <p:spPr>
          <a:xfrm>
            <a:off x="548640" y="4654296"/>
            <a:ext cx="5410048" cy="1371600"/>
          </a:xfrm>
          <a:prstGeom prst="roundRect">
            <a:avLst>
              <a:gd name="adj" fmla="val 10667"/>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25" name="Shape 19"/>
          <p:cNvSpPr/>
          <p:nvPr/>
        </p:nvSpPr>
        <p:spPr>
          <a:xfrm>
            <a:off x="822960" y="4965192"/>
            <a:ext cx="566928" cy="566928"/>
          </a:xfrm>
          <a:prstGeom prst="roundRect">
            <a:avLst>
              <a:gd name="adj" fmla="val 28000"/>
            </a:avLst>
          </a:prstGeom>
          <a:solidFill>
            <a:srgbClr val="FFECD4"/>
          </a:solidFill>
          <a:ln/>
        </p:spPr>
      </p:sp>
      <p:pic>
        <p:nvPicPr>
          <p:cNvPr id="26" name="Image 4" descr="/var/folders/b7/tkzbyvzx72qcg9wb0t1jybvm0000gn/T/diaporama-zLbeHS/icone-23.png">    </p:cNvPr>
          <p:cNvPicPr>
            <a:picLocks noChangeAspect="1"/>
          </p:cNvPicPr>
          <p:nvPr/>
        </p:nvPicPr>
        <p:blipFill>
          <a:blip r:embed="rId5"/>
          <a:stretch>
            <a:fillRect/>
          </a:stretch>
        </p:blipFill>
        <p:spPr>
          <a:xfrm>
            <a:off x="959023" y="5101255"/>
            <a:ext cx="294803" cy="294803"/>
          </a:xfrm>
          <a:prstGeom prst="rect">
            <a:avLst/>
          </a:prstGeom>
        </p:spPr>
      </p:pic>
      <p:sp>
        <p:nvSpPr>
          <p:cNvPr id="27" name="Text 20"/>
          <p:cNvSpPr txBox="1"/>
          <p:nvPr/>
        </p:nvSpPr>
        <p:spPr>
          <a:xfrm>
            <a:off x="1600200" y="4892040"/>
            <a:ext cx="4129888" cy="329184"/>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Signaler un problème</a:t>
            </a:r>
            <a:endParaRPr lang="en-US" sz="1700" dirty="0"/>
          </a:p>
        </p:txBody>
      </p:sp>
      <p:sp>
        <p:nvSpPr>
          <p:cNvPr id="28" name="Text 21"/>
          <p:cNvSpPr txBox="1"/>
          <p:nvPr/>
        </p:nvSpPr>
        <p:spPr>
          <a:xfrm>
            <a:off x="1600200" y="5257800"/>
            <a:ext cx="4129888" cy="68580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Un ticket sur la Forge ou un message sur Tchap, avec si possible le fichier JSON concerné.</a:t>
            </a:r>
            <a:endParaRPr lang="en-US" sz="1350" dirty="0"/>
          </a:p>
        </p:txBody>
      </p:sp>
      <p:sp>
        <p:nvSpPr>
          <p:cNvPr id="29" name="Shape 22"/>
          <p:cNvSpPr/>
          <p:nvPr/>
        </p:nvSpPr>
        <p:spPr>
          <a:xfrm>
            <a:off x="6233008" y="4654296"/>
            <a:ext cx="5410048" cy="1371600"/>
          </a:xfrm>
          <a:prstGeom prst="roundRect">
            <a:avLst>
              <a:gd name="adj" fmla="val 10667"/>
            </a:avLst>
          </a:prstGeom>
          <a:solidFill>
            <a:srgbClr val="FFF7EC"/>
          </a:solidFill>
          <a:ln w="9525">
            <a:solidFill>
              <a:srgbClr val="EEE0CF"/>
            </a:solidFill>
            <a:prstDash val="solid"/>
          </a:ln>
        </p:spPr>
      </p:sp>
      <p:sp>
        <p:nvSpPr>
          <p:cNvPr id="30" name="Text 23"/>
          <p:cNvSpPr txBox="1"/>
          <p:nvPr/>
        </p:nvSpPr>
        <p:spPr>
          <a:xfrm>
            <a:off x="6507328" y="4654296"/>
            <a:ext cx="4861408" cy="1371600"/>
          </a:xfrm>
          <a:prstGeom prst="rect">
            <a:avLst/>
          </a:prstGeom>
          <a:noFill/>
          <a:ln/>
        </p:spPr>
        <p:txBody>
          <a:bodyPr wrap="square" lIns="0" tIns="0" rIns="0" bIns="0" rtlCol="0" anchor="ctr"/>
          <a:lstStyle/>
          <a:p>
            <a:pPr algn="ctr" indent="0" marL="0">
              <a:buNone/>
            </a:pPr>
            <a:r>
              <a:rPr lang="en-US" sz="2200" b="1" dirty="0">
                <a:solidFill>
                  <a:srgbClr val="8F4014"/>
                </a:solidFill>
                <a:latin typeface="Arial" pitchFamily="34" charset="0"/>
                <a:ea typeface="Arial" pitchFamily="34" charset="-122"/>
                <a:cs typeface="Arial" pitchFamily="34" charset="-120"/>
              </a:rPr>
              <a:t>L’IA propose, vous décidez.</a:t>
            </a:r>
            <a:endParaRPr lang="en-US" sz="2200" dirty="0"/>
          </a:p>
        </p:txBody>
      </p:sp>
      <p:sp>
        <p:nvSpPr>
          <p:cNvPr id="31" name="Text 2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32" name="Text 2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21 / 24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Proposer un atelier de 45 minutes</a:t>
            </a:r>
            <a:endParaRPr lang="en-US" sz="3000" dirty="0"/>
          </a:p>
        </p:txBody>
      </p:sp>
      <p:sp>
        <p:nvSpPr>
          <p:cNvPr id="3" name="Shape 1"/>
          <p:cNvSpPr/>
          <p:nvPr/>
        </p:nvSpPr>
        <p:spPr>
          <a:xfrm>
            <a:off x="548640" y="1554480"/>
            <a:ext cx="2602154" cy="2834640"/>
          </a:xfrm>
          <a:prstGeom prst="roundRect">
            <a:avLst>
              <a:gd name="adj" fmla="val 562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4" name="Shape 2"/>
          <p:cNvSpPr/>
          <p:nvPr/>
        </p:nvSpPr>
        <p:spPr>
          <a:xfrm>
            <a:off x="822960" y="1847088"/>
            <a:ext cx="914400" cy="384048"/>
          </a:xfrm>
          <a:prstGeom prst="roundRect">
            <a:avLst>
              <a:gd name="adj" fmla="val 50000"/>
            </a:avLst>
          </a:prstGeom>
          <a:solidFill>
            <a:srgbClr val="FFECD4"/>
          </a:solidFill>
          <a:ln/>
        </p:spPr>
      </p:sp>
      <p:sp>
        <p:nvSpPr>
          <p:cNvPr id="5" name="Text 3"/>
          <p:cNvSpPr txBox="1"/>
          <p:nvPr/>
        </p:nvSpPr>
        <p:spPr>
          <a:xfrm>
            <a:off x="822960" y="1847088"/>
            <a:ext cx="914400" cy="384048"/>
          </a:xfrm>
          <a:prstGeom prst="rect">
            <a:avLst/>
          </a:prstGeom>
          <a:noFill/>
          <a:ln/>
        </p:spPr>
        <p:txBody>
          <a:bodyPr wrap="square" lIns="0" tIns="0" rIns="0" bIns="0" rtlCol="0" anchor="ctr"/>
          <a:lstStyle/>
          <a:p>
            <a:pPr algn="ctr" indent="0" marL="0">
              <a:buNone/>
            </a:pPr>
            <a:r>
              <a:rPr lang="en-US" sz="1300" b="1" dirty="0">
                <a:solidFill>
                  <a:srgbClr val="8F4014"/>
                </a:solidFill>
                <a:latin typeface="Arial" pitchFamily="34" charset="0"/>
                <a:ea typeface="Arial" pitchFamily="34" charset="-122"/>
                <a:cs typeface="Arial" pitchFamily="34" charset="-120"/>
              </a:rPr>
              <a:t>5 min</a:t>
            </a:r>
            <a:endParaRPr lang="en-US" sz="1300" dirty="0"/>
          </a:p>
        </p:txBody>
      </p:sp>
      <p:sp>
        <p:nvSpPr>
          <p:cNvPr id="6" name="Text 4"/>
          <p:cNvSpPr txBox="1"/>
          <p:nvPr/>
        </p:nvSpPr>
        <p:spPr>
          <a:xfrm>
            <a:off x="822960" y="2450592"/>
            <a:ext cx="2053514"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La vidéo</a:t>
            </a:r>
            <a:endParaRPr lang="en-US" sz="1800" dirty="0"/>
          </a:p>
        </p:txBody>
      </p:sp>
      <p:sp>
        <p:nvSpPr>
          <p:cNvPr id="7" name="Text 5"/>
          <p:cNvSpPr txBox="1"/>
          <p:nvPr/>
        </p:nvSpPr>
        <p:spPr>
          <a:xfrm>
            <a:off x="822960" y="2880360"/>
            <a:ext cx="2053514" cy="141732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La présentation de Caramel 7 pour poser le décor : ce que l’outil prépare, et ses limites.</a:t>
            </a:r>
            <a:endParaRPr lang="en-US" sz="1400" dirty="0"/>
          </a:p>
        </p:txBody>
      </p:sp>
      <p:sp>
        <p:nvSpPr>
          <p:cNvPr id="8" name="Shape 6"/>
          <p:cNvSpPr/>
          <p:nvPr/>
        </p:nvSpPr>
        <p:spPr>
          <a:xfrm>
            <a:off x="3379394" y="1554480"/>
            <a:ext cx="2602154" cy="2834640"/>
          </a:xfrm>
          <a:prstGeom prst="roundRect">
            <a:avLst>
              <a:gd name="adj" fmla="val 562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9" name="Shape 7"/>
          <p:cNvSpPr/>
          <p:nvPr/>
        </p:nvSpPr>
        <p:spPr>
          <a:xfrm>
            <a:off x="3653714" y="1847088"/>
            <a:ext cx="914400" cy="384048"/>
          </a:xfrm>
          <a:prstGeom prst="roundRect">
            <a:avLst>
              <a:gd name="adj" fmla="val 50000"/>
            </a:avLst>
          </a:prstGeom>
          <a:solidFill>
            <a:srgbClr val="FFECD4"/>
          </a:solidFill>
          <a:ln/>
        </p:spPr>
      </p:sp>
      <p:sp>
        <p:nvSpPr>
          <p:cNvPr id="10" name="Text 8"/>
          <p:cNvSpPr txBox="1"/>
          <p:nvPr/>
        </p:nvSpPr>
        <p:spPr>
          <a:xfrm>
            <a:off x="3653714" y="1847088"/>
            <a:ext cx="914400" cy="384048"/>
          </a:xfrm>
          <a:prstGeom prst="rect">
            <a:avLst/>
          </a:prstGeom>
          <a:noFill/>
          <a:ln/>
        </p:spPr>
        <p:txBody>
          <a:bodyPr wrap="square" lIns="0" tIns="0" rIns="0" bIns="0" rtlCol="0" anchor="ctr"/>
          <a:lstStyle/>
          <a:p>
            <a:pPr algn="ctr" indent="0" marL="0">
              <a:buNone/>
            </a:pPr>
            <a:r>
              <a:rPr lang="en-US" sz="1300" b="1" dirty="0">
                <a:solidFill>
                  <a:srgbClr val="8F4014"/>
                </a:solidFill>
                <a:latin typeface="Arial" pitchFamily="34" charset="0"/>
                <a:ea typeface="Arial" pitchFamily="34" charset="-122"/>
                <a:cs typeface="Arial" pitchFamily="34" charset="-120"/>
              </a:rPr>
              <a:t>10 min</a:t>
            </a:r>
            <a:endParaRPr lang="en-US" sz="1300" dirty="0"/>
          </a:p>
        </p:txBody>
      </p:sp>
      <p:sp>
        <p:nvSpPr>
          <p:cNvPr id="11" name="Text 9"/>
          <p:cNvSpPr txBox="1"/>
          <p:nvPr/>
        </p:nvSpPr>
        <p:spPr>
          <a:xfrm>
            <a:off x="3653714" y="2450592"/>
            <a:ext cx="2053514"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En direct</a:t>
            </a:r>
            <a:endParaRPr lang="en-US" sz="1800" dirty="0"/>
          </a:p>
        </p:txBody>
      </p:sp>
      <p:sp>
        <p:nvSpPr>
          <p:cNvPr id="12" name="Text 10"/>
          <p:cNvSpPr txBox="1"/>
          <p:nvPr/>
        </p:nvSpPr>
        <p:spPr>
          <a:xfrm>
            <a:off x="3653714" y="2880360"/>
            <a:ext cx="2053514" cy="141732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Une démonstration sur une activité de la discipline du groupe, de la demande à l’aperçu.</a:t>
            </a:r>
            <a:endParaRPr lang="en-US" sz="1400" dirty="0"/>
          </a:p>
        </p:txBody>
      </p:sp>
      <p:sp>
        <p:nvSpPr>
          <p:cNvPr id="13" name="Shape 11"/>
          <p:cNvSpPr/>
          <p:nvPr/>
        </p:nvSpPr>
        <p:spPr>
          <a:xfrm>
            <a:off x="6210148" y="1554480"/>
            <a:ext cx="2602154" cy="2834640"/>
          </a:xfrm>
          <a:prstGeom prst="roundRect">
            <a:avLst>
              <a:gd name="adj" fmla="val 562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4" name="Shape 12"/>
          <p:cNvSpPr/>
          <p:nvPr/>
        </p:nvSpPr>
        <p:spPr>
          <a:xfrm>
            <a:off x="6484468" y="1847088"/>
            <a:ext cx="914400" cy="384048"/>
          </a:xfrm>
          <a:prstGeom prst="roundRect">
            <a:avLst>
              <a:gd name="adj" fmla="val 50000"/>
            </a:avLst>
          </a:prstGeom>
          <a:solidFill>
            <a:srgbClr val="FFECD4"/>
          </a:solidFill>
          <a:ln/>
        </p:spPr>
      </p:sp>
      <p:sp>
        <p:nvSpPr>
          <p:cNvPr id="15" name="Text 13"/>
          <p:cNvSpPr txBox="1"/>
          <p:nvPr/>
        </p:nvSpPr>
        <p:spPr>
          <a:xfrm>
            <a:off x="6484468" y="1847088"/>
            <a:ext cx="914400" cy="384048"/>
          </a:xfrm>
          <a:prstGeom prst="rect">
            <a:avLst/>
          </a:prstGeom>
          <a:noFill/>
          <a:ln/>
        </p:spPr>
        <p:txBody>
          <a:bodyPr wrap="square" lIns="0" tIns="0" rIns="0" bIns="0" rtlCol="0" anchor="ctr"/>
          <a:lstStyle/>
          <a:p>
            <a:pPr algn="ctr" indent="0" marL="0">
              <a:buNone/>
            </a:pPr>
            <a:r>
              <a:rPr lang="en-US" sz="1300" b="1" dirty="0">
                <a:solidFill>
                  <a:srgbClr val="8F4014"/>
                </a:solidFill>
                <a:latin typeface="Arial" pitchFamily="34" charset="0"/>
                <a:ea typeface="Arial" pitchFamily="34" charset="-122"/>
                <a:cs typeface="Arial" pitchFamily="34" charset="-120"/>
              </a:rPr>
              <a:t>20 min</a:t>
            </a:r>
            <a:endParaRPr lang="en-US" sz="1300" dirty="0"/>
          </a:p>
        </p:txBody>
      </p:sp>
      <p:sp>
        <p:nvSpPr>
          <p:cNvPr id="16" name="Text 14"/>
          <p:cNvSpPr txBox="1"/>
          <p:nvPr/>
        </p:nvSpPr>
        <p:spPr>
          <a:xfrm>
            <a:off x="6484468" y="2450592"/>
            <a:ext cx="2053514"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L’atelier</a:t>
            </a:r>
            <a:endParaRPr lang="en-US" sz="1800" dirty="0"/>
          </a:p>
        </p:txBody>
      </p:sp>
      <p:sp>
        <p:nvSpPr>
          <p:cNvPr id="17" name="Text 15"/>
          <p:cNvSpPr txBox="1"/>
          <p:nvPr/>
        </p:nvSpPr>
        <p:spPr>
          <a:xfrm>
            <a:off x="6484468" y="2880360"/>
            <a:ext cx="2053514" cy="141732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Chacun prépare une activité pour sa classe, la relit, la corrige, puis la dépose sur un espace de test.</a:t>
            </a:r>
            <a:endParaRPr lang="en-US" sz="1400" dirty="0"/>
          </a:p>
        </p:txBody>
      </p:sp>
      <p:sp>
        <p:nvSpPr>
          <p:cNvPr id="18" name="Shape 16"/>
          <p:cNvSpPr/>
          <p:nvPr/>
        </p:nvSpPr>
        <p:spPr>
          <a:xfrm>
            <a:off x="9040901" y="1554480"/>
            <a:ext cx="2602154" cy="2834640"/>
          </a:xfrm>
          <a:prstGeom prst="roundRect">
            <a:avLst>
              <a:gd name="adj" fmla="val 562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9" name="Shape 17"/>
          <p:cNvSpPr/>
          <p:nvPr/>
        </p:nvSpPr>
        <p:spPr>
          <a:xfrm>
            <a:off x="9315221" y="1847088"/>
            <a:ext cx="914400" cy="384048"/>
          </a:xfrm>
          <a:prstGeom prst="roundRect">
            <a:avLst>
              <a:gd name="adj" fmla="val 50000"/>
            </a:avLst>
          </a:prstGeom>
          <a:solidFill>
            <a:srgbClr val="FFECD4"/>
          </a:solidFill>
          <a:ln/>
        </p:spPr>
      </p:sp>
      <p:sp>
        <p:nvSpPr>
          <p:cNvPr id="20" name="Text 18"/>
          <p:cNvSpPr txBox="1"/>
          <p:nvPr/>
        </p:nvSpPr>
        <p:spPr>
          <a:xfrm>
            <a:off x="9315221" y="1847088"/>
            <a:ext cx="914400" cy="384048"/>
          </a:xfrm>
          <a:prstGeom prst="rect">
            <a:avLst/>
          </a:prstGeom>
          <a:noFill/>
          <a:ln/>
        </p:spPr>
        <p:txBody>
          <a:bodyPr wrap="square" lIns="0" tIns="0" rIns="0" bIns="0" rtlCol="0" anchor="ctr"/>
          <a:lstStyle/>
          <a:p>
            <a:pPr algn="ctr" indent="0" marL="0">
              <a:buNone/>
            </a:pPr>
            <a:r>
              <a:rPr lang="en-US" sz="1300" b="1" dirty="0">
                <a:solidFill>
                  <a:srgbClr val="8F4014"/>
                </a:solidFill>
                <a:latin typeface="Arial" pitchFamily="34" charset="0"/>
                <a:ea typeface="Arial" pitchFamily="34" charset="-122"/>
                <a:cs typeface="Arial" pitchFamily="34" charset="-120"/>
              </a:rPr>
              <a:t>10 min</a:t>
            </a:r>
            <a:endParaRPr lang="en-US" sz="1300" dirty="0"/>
          </a:p>
        </p:txBody>
      </p:sp>
      <p:sp>
        <p:nvSpPr>
          <p:cNvPr id="21" name="Text 19"/>
          <p:cNvSpPr txBox="1"/>
          <p:nvPr/>
        </p:nvSpPr>
        <p:spPr>
          <a:xfrm>
            <a:off x="9315221" y="2450592"/>
            <a:ext cx="2053514" cy="365760"/>
          </a:xfrm>
          <a:prstGeom prst="rect">
            <a:avLst/>
          </a:prstGeom>
          <a:noFill/>
          <a:ln/>
        </p:spPr>
        <p:txBody>
          <a:bodyPr wrap="square" lIns="0" tIns="0" rIns="0" bIns="0" rtlCol="0" anchor="t"/>
          <a:lstStyle/>
          <a:p>
            <a:pPr indent="0" marL="0">
              <a:buNone/>
            </a:pPr>
            <a:r>
              <a:rPr lang="en-US" sz="1800" b="1" dirty="0">
                <a:solidFill>
                  <a:srgbClr val="1D1D1F"/>
                </a:solidFill>
                <a:latin typeface="Arial" pitchFamily="34" charset="0"/>
                <a:ea typeface="Arial" pitchFamily="34" charset="-122"/>
                <a:cs typeface="Arial" pitchFamily="34" charset="-120"/>
              </a:rPr>
              <a:t>Le retour collectif</a:t>
            </a:r>
            <a:endParaRPr lang="en-US" sz="1800" dirty="0"/>
          </a:p>
        </p:txBody>
      </p:sp>
      <p:sp>
        <p:nvSpPr>
          <p:cNvPr id="22" name="Text 20"/>
          <p:cNvSpPr txBox="1"/>
          <p:nvPr/>
        </p:nvSpPr>
        <p:spPr>
          <a:xfrm>
            <a:off x="9315221" y="2880360"/>
            <a:ext cx="2053514" cy="141732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Ce que l’IA a bien fait, ce qu’il a fallu reprendre, et la place de la Sucrerie pour partager.</a:t>
            </a:r>
            <a:endParaRPr lang="en-US" sz="1400" dirty="0"/>
          </a:p>
        </p:txBody>
      </p:sp>
      <p:sp>
        <p:nvSpPr>
          <p:cNvPr id="23" name="Shape 21"/>
          <p:cNvSpPr/>
          <p:nvPr/>
        </p:nvSpPr>
        <p:spPr>
          <a:xfrm>
            <a:off x="548640" y="4709160"/>
            <a:ext cx="11094415" cy="1143000"/>
          </a:xfrm>
          <a:prstGeom prst="roundRect">
            <a:avLst>
              <a:gd name="adj" fmla="val 12800"/>
            </a:avLst>
          </a:prstGeom>
          <a:solidFill>
            <a:srgbClr val="FFE8EE"/>
          </a:solidFill>
          <a:ln w="9525">
            <a:solidFill>
              <a:srgbClr val="EDDCE5"/>
            </a:solidFill>
            <a:prstDash val="solid"/>
          </a:ln>
        </p:spPr>
      </p:sp>
      <p:sp>
        <p:nvSpPr>
          <p:cNvPr id="24" name="Shape 22"/>
          <p:cNvSpPr/>
          <p:nvPr/>
        </p:nvSpPr>
        <p:spPr>
          <a:xfrm>
            <a:off x="822960" y="5010912"/>
            <a:ext cx="548640" cy="548640"/>
          </a:xfrm>
          <a:prstGeom prst="roundRect">
            <a:avLst>
              <a:gd name="adj" fmla="val 28000"/>
            </a:avLst>
          </a:prstGeom>
          <a:solidFill>
            <a:srgbClr val="FFFFFF"/>
          </a:solidFill>
          <a:ln/>
        </p:spPr>
      </p:sp>
      <p:pic>
        <p:nvPicPr>
          <p:cNvPr id="25" name="Image 0" descr="/var/folders/b7/tkzbyvzx72qcg9wb0t1jybvm0000gn/T/diaporama-zLbeHS/icone-25.png">    </p:cNvPr>
          <p:cNvPicPr>
            <a:picLocks noChangeAspect="1"/>
          </p:cNvPicPr>
          <p:nvPr/>
        </p:nvPicPr>
        <p:blipFill>
          <a:blip r:embed="rId1"/>
          <a:stretch>
            <a:fillRect/>
          </a:stretch>
        </p:blipFill>
        <p:spPr>
          <a:xfrm>
            <a:off x="954634" y="5142586"/>
            <a:ext cx="285293" cy="285293"/>
          </a:xfrm>
          <a:prstGeom prst="rect">
            <a:avLst/>
          </a:prstGeom>
        </p:spPr>
      </p:pic>
      <p:sp>
        <p:nvSpPr>
          <p:cNvPr id="26" name="Text 23"/>
          <p:cNvSpPr txBox="1"/>
          <p:nvPr/>
        </p:nvSpPr>
        <p:spPr>
          <a:xfrm>
            <a:off x="1600200" y="4754880"/>
            <a:ext cx="9768535" cy="1051560"/>
          </a:xfrm>
          <a:prstGeom prst="rect">
            <a:avLst/>
          </a:prstGeom>
          <a:noFill/>
          <a:ln/>
        </p:spPr>
        <p:txBody>
          <a:bodyPr wrap="square" lIns="0" tIns="0" rIns="0" bIns="0" rtlCol="0" anchor="ctr"/>
          <a:lstStyle/>
          <a:p>
            <a:pPr indent="0" marL="0">
              <a:buNone/>
            </a:pPr>
            <a:r>
              <a:rPr lang="en-US" sz="1500" b="1" dirty="0">
                <a:solidFill>
                  <a:srgbClr val="9A4F7E"/>
                </a:solidFill>
                <a:latin typeface="Arial" pitchFamily="34" charset="0"/>
                <a:ea typeface="Arial" pitchFamily="34" charset="-122"/>
                <a:cs typeface="Arial" pitchFamily="34" charset="-120"/>
              </a:rPr>
              <a:t>Variante en défi
</a:t>
            </a:r>
            <a:pPr indent="0" marL="0">
              <a:buNone/>
            </a:pPr>
            <a:r>
              <a:rPr lang="en-US" sz="1350" dirty="0">
                <a:solidFill>
                  <a:srgbClr val="4A4A4F"/>
                </a:solidFill>
                <a:latin typeface="Arial" pitchFamily="34" charset="0"/>
                <a:ea typeface="Arial" pitchFamily="34" charset="-122"/>
                <a:cs typeface="Arial" pitchFamily="34" charset="-120"/>
              </a:rPr>
              <a:t>Chaque groupe prépare au moins trois activités sur un même thème et les rassemble dans une collection sur la Sucrerie, que les autres groupes découvrent ensuite.</a:t>
            </a:r>
            <a:endParaRPr lang="en-US" sz="1500" dirty="0"/>
          </a:p>
        </p:txBody>
      </p:sp>
      <p:sp>
        <p:nvSpPr>
          <p:cNvPr id="27" name="Text 2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28" name="Text 2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22 / 24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Liens utiles</a:t>
            </a:r>
            <a:endParaRPr lang="en-US" sz="3000" dirty="0"/>
          </a:p>
        </p:txBody>
      </p:sp>
      <p:sp>
        <p:nvSpPr>
          <p:cNvPr id="3" name="Shape 1"/>
          <p:cNvSpPr/>
          <p:nvPr/>
        </p:nvSpPr>
        <p:spPr>
          <a:xfrm>
            <a:off x="548640" y="1417320"/>
            <a:ext cx="7589520" cy="4434840"/>
          </a:xfrm>
          <a:prstGeom prst="roundRect">
            <a:avLst>
              <a:gd name="adj" fmla="val 3299"/>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4" name="Shape 2"/>
          <p:cNvSpPr/>
          <p:nvPr/>
        </p:nvSpPr>
        <p:spPr>
          <a:xfrm>
            <a:off x="822960" y="1600200"/>
            <a:ext cx="402336" cy="402336"/>
          </a:xfrm>
          <a:prstGeom prst="roundRect">
            <a:avLst>
              <a:gd name="adj" fmla="val 28000"/>
            </a:avLst>
          </a:prstGeom>
          <a:solidFill>
            <a:srgbClr val="FFECD4"/>
          </a:solidFill>
          <a:ln/>
        </p:spPr>
      </p:sp>
      <p:pic>
        <p:nvPicPr>
          <p:cNvPr id="5" name="Image 0" descr="/var/folders/b7/tkzbyvzx72qcg9wb0t1jybvm0000gn/T/diaporama-zLbeHS/icone-33.png">    </p:cNvPr>
          <p:cNvPicPr>
            <a:picLocks noChangeAspect="1"/>
          </p:cNvPicPr>
          <p:nvPr/>
        </p:nvPicPr>
        <p:blipFill>
          <a:blip r:embed="rId1"/>
          <a:stretch>
            <a:fillRect/>
          </a:stretch>
        </p:blipFill>
        <p:spPr>
          <a:xfrm>
            <a:off x="919521" y="1696761"/>
            <a:ext cx="209215" cy="209215"/>
          </a:xfrm>
          <a:prstGeom prst="rect">
            <a:avLst/>
          </a:prstGeom>
        </p:spPr>
      </p:pic>
      <p:sp>
        <p:nvSpPr>
          <p:cNvPr id="6" name="Text 3"/>
          <p:cNvSpPr txBox="1"/>
          <p:nvPr/>
        </p:nvSpPr>
        <p:spPr>
          <a:xfrm>
            <a:off x="1417320" y="1545336"/>
            <a:ext cx="6492240" cy="475488"/>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Caramel
</a:t>
            </a:r>
            <a:pPr indent="0" marL="0">
              <a:buNone/>
            </a:pPr>
            <a:r>
              <a:rPr lang="en-US" sz="1100" u="sng" dirty="0">
                <a:solidFill>
                  <a:srgbClr val="0056B3"/>
                </a:solidFill>
                <a:latin typeface="Arial" pitchFamily="34" charset="0"/>
                <a:ea typeface="Arial" pitchFamily="34" charset="-122"/>
                <a:cs typeface="Arial" pitchFamily="34" charset="-120"/>
                <a:hlinkClick r:id="rId2" invalidUrl="" action="" tgtFrame="" tooltip="https://caramel.forge.apps.education.fr/" history="1" highlightClick="0" endSnd="0">
                  <a:extLst>
                    <a:ext uri="{A12FA001-AC4F-418D-AE19-62706E023703}">
                      <ahyp:hlinkClr xmlns:ahyp="http://schemas.microsoft.com/office/drawing/2018/hyperlinkcolor" val="tx"/>
                    </a:ext>
                  </a:extLst>
                </a:hlinkClick>
              </a:rPr>
              <a:t>caramel.forge.apps.education.fr</a:t>
            </a:r>
            <a:endParaRPr lang="en-US" sz="1300" dirty="0"/>
          </a:p>
        </p:txBody>
      </p:sp>
      <p:sp>
        <p:nvSpPr>
          <p:cNvPr id="7" name="Shape 4"/>
          <p:cNvSpPr/>
          <p:nvPr/>
        </p:nvSpPr>
        <p:spPr>
          <a:xfrm>
            <a:off x="822960" y="2121408"/>
            <a:ext cx="402336" cy="402336"/>
          </a:xfrm>
          <a:prstGeom prst="roundRect">
            <a:avLst>
              <a:gd name="adj" fmla="val 28000"/>
            </a:avLst>
          </a:prstGeom>
          <a:solidFill>
            <a:srgbClr val="FFECD4"/>
          </a:solidFill>
          <a:ln/>
        </p:spPr>
      </p:sp>
      <p:pic>
        <p:nvPicPr>
          <p:cNvPr id="8" name="Image 1" descr="/var/folders/b7/tkzbyvzx72qcg9wb0t1jybvm0000gn/T/diaporama-zLbeHS/icone-32.png">    </p:cNvPr>
          <p:cNvPicPr>
            <a:picLocks noChangeAspect="1"/>
          </p:cNvPicPr>
          <p:nvPr/>
        </p:nvPicPr>
        <p:blipFill>
          <a:blip r:embed="rId3"/>
          <a:stretch>
            <a:fillRect/>
          </a:stretch>
        </p:blipFill>
        <p:spPr>
          <a:xfrm>
            <a:off x="919521" y="2217969"/>
            <a:ext cx="209215" cy="209215"/>
          </a:xfrm>
          <a:prstGeom prst="rect">
            <a:avLst/>
          </a:prstGeom>
        </p:spPr>
      </p:pic>
      <p:sp>
        <p:nvSpPr>
          <p:cNvPr id="9" name="Text 5"/>
          <p:cNvSpPr txBox="1"/>
          <p:nvPr/>
        </p:nvSpPr>
        <p:spPr>
          <a:xfrm>
            <a:off x="1417320" y="2066544"/>
            <a:ext cx="6492240" cy="475488"/>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Découvrir Caramel : vidéo, diaporama, activités à essayer
</a:t>
            </a:r>
            <a:pPr indent="0" marL="0">
              <a:buNone/>
            </a:pPr>
            <a:r>
              <a:rPr lang="en-US" sz="1100" u="sng" dirty="0">
                <a:solidFill>
                  <a:srgbClr val="0056B3"/>
                </a:solidFill>
                <a:latin typeface="Arial" pitchFamily="34" charset="0"/>
                <a:ea typeface="Arial" pitchFamily="34" charset="-122"/>
                <a:cs typeface="Arial" pitchFamily="34" charset="-120"/>
                <a:hlinkClick r:id="rId4" invalidUrl="" action="" tgtFrame="" tooltip="https://caramel.forge.apps.education.fr/decouvrir/" history="1" highlightClick="0" endSnd="0">
                  <a:extLst>
                    <a:ext uri="{A12FA001-AC4F-418D-AE19-62706E023703}">
                      <ahyp:hlinkClr xmlns:ahyp="http://schemas.microsoft.com/office/drawing/2018/hyperlinkcolor" val="tx"/>
                    </a:ext>
                  </a:extLst>
                </a:hlinkClick>
              </a:rPr>
              <a:t>caramel.forge.apps.education.fr/decouvrir</a:t>
            </a:r>
            <a:endParaRPr lang="en-US" sz="1300" dirty="0"/>
          </a:p>
        </p:txBody>
      </p:sp>
      <p:sp>
        <p:nvSpPr>
          <p:cNvPr id="10" name="Shape 6"/>
          <p:cNvSpPr/>
          <p:nvPr/>
        </p:nvSpPr>
        <p:spPr>
          <a:xfrm>
            <a:off x="822960" y="2642616"/>
            <a:ext cx="402336" cy="402336"/>
          </a:xfrm>
          <a:prstGeom prst="roundRect">
            <a:avLst>
              <a:gd name="adj" fmla="val 28000"/>
            </a:avLst>
          </a:prstGeom>
          <a:solidFill>
            <a:srgbClr val="FFE8EE"/>
          </a:solidFill>
          <a:ln/>
        </p:spPr>
      </p:sp>
      <p:pic>
        <p:nvPicPr>
          <p:cNvPr id="11" name="Image 2" descr="/var/folders/b7/tkzbyvzx72qcg9wb0t1jybvm0000gn/T/diaporama-zLbeHS/icone-18.png">    </p:cNvPr>
          <p:cNvPicPr>
            <a:picLocks noChangeAspect="1"/>
          </p:cNvPicPr>
          <p:nvPr/>
        </p:nvPicPr>
        <p:blipFill>
          <a:blip r:embed="rId5"/>
          <a:stretch>
            <a:fillRect/>
          </a:stretch>
        </p:blipFill>
        <p:spPr>
          <a:xfrm>
            <a:off x="919521" y="2739177"/>
            <a:ext cx="209215" cy="209215"/>
          </a:xfrm>
          <a:prstGeom prst="rect">
            <a:avLst/>
          </a:prstGeom>
        </p:spPr>
      </p:pic>
      <p:sp>
        <p:nvSpPr>
          <p:cNvPr id="12" name="Text 7"/>
          <p:cNvSpPr txBox="1"/>
          <p:nvPr/>
        </p:nvSpPr>
        <p:spPr>
          <a:xfrm>
            <a:off x="1417320" y="2587752"/>
            <a:ext cx="6492240" cy="475488"/>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La Sucrerie, et son salon Tchap
</a:t>
            </a:r>
            <a:pPr indent="0" marL="0">
              <a:buNone/>
            </a:pPr>
            <a:r>
              <a:rPr lang="en-US" sz="1100" u="sng" dirty="0">
                <a:solidFill>
                  <a:srgbClr val="0056B3"/>
                </a:solidFill>
                <a:latin typeface="Arial" pitchFamily="34" charset="0"/>
                <a:ea typeface="Arial" pitchFamily="34" charset="-122"/>
                <a:cs typeface="Arial" pitchFamily="34" charset="-120"/>
                <a:hlinkClick r:id="rId6" invalidUrl="" action="" tgtFrame="" tooltip="https://sucrerie.forge.apps.education.fr/" history="1" highlightClick="0" endSnd="0">
                  <a:extLst>
                    <a:ext uri="{A12FA001-AC4F-418D-AE19-62706E023703}">
                      <ahyp:hlinkClr xmlns:ahyp="http://schemas.microsoft.com/office/drawing/2018/hyperlinkcolor" val="tx"/>
                    </a:ext>
                  </a:extLst>
                </a:hlinkClick>
              </a:rPr>
              <a:t>sucrerie.forge.apps.education.fr</a:t>
            </a:r>
            <a:pPr indent="0" marL="0">
              <a:buNone/>
            </a:pPr>
            <a:r>
              <a:rPr lang="en-US" sz="1100" dirty="0">
                <a:solidFill>
                  <a:srgbClr val="6E6E73"/>
                </a:solidFill>
                <a:latin typeface="Arial" pitchFamily="34" charset="0"/>
                <a:ea typeface="Arial" pitchFamily="34" charset="-122"/>
                <a:cs typeface="Arial" pitchFamily="34" charset="-120"/>
              </a:rPr>
              <a:t>  ·  </a:t>
            </a:r>
            <a:pPr indent="0" marL="0">
              <a:buNone/>
            </a:pPr>
            <a:r>
              <a:rPr lang="en-US" sz="1100" u="sng" dirty="0">
                <a:solidFill>
                  <a:srgbClr val="0056B3"/>
                </a:solidFill>
                <a:latin typeface="Arial" pitchFamily="34" charset="0"/>
                <a:ea typeface="Arial" pitchFamily="34" charset="-122"/>
                <a:cs typeface="Arial" pitchFamily="34" charset="-120"/>
                <a:hlinkClick r:id="rId7" invalidUrl="" action="" tgtFrame="" tooltip="https://edurl.fr/sucrerie-tchap" history="1" highlightClick="0" endSnd="0">
                  <a:extLst>
                    <a:ext uri="{A12FA001-AC4F-418D-AE19-62706E023703}">
                      <ahyp:hlinkClr xmlns:ahyp="http://schemas.microsoft.com/office/drawing/2018/hyperlinkcolor" val="tx"/>
                    </a:ext>
                  </a:extLst>
                </a:hlinkClick>
              </a:rPr>
              <a:t>edurl.fr/sucrerie-tchap</a:t>
            </a:r>
            <a:endParaRPr lang="en-US" sz="1300" dirty="0"/>
          </a:p>
        </p:txBody>
      </p:sp>
      <p:sp>
        <p:nvSpPr>
          <p:cNvPr id="13" name="Shape 8"/>
          <p:cNvSpPr/>
          <p:nvPr/>
        </p:nvSpPr>
        <p:spPr>
          <a:xfrm>
            <a:off x="822960" y="3163824"/>
            <a:ext cx="402336" cy="402336"/>
          </a:xfrm>
          <a:prstGeom prst="roundRect">
            <a:avLst>
              <a:gd name="adj" fmla="val 28000"/>
            </a:avLst>
          </a:prstGeom>
          <a:solidFill>
            <a:srgbClr val="FFECD4"/>
          </a:solidFill>
          <a:ln/>
        </p:spPr>
      </p:sp>
      <p:pic>
        <p:nvPicPr>
          <p:cNvPr id="14" name="Image 3" descr="/var/folders/b7/tkzbyvzx72qcg9wb0t1jybvm0000gn/T/diaporama-zLbeHS/icone-26.png">    </p:cNvPr>
          <p:cNvPicPr>
            <a:picLocks noChangeAspect="1"/>
          </p:cNvPicPr>
          <p:nvPr/>
        </p:nvPicPr>
        <p:blipFill>
          <a:blip r:embed="rId8"/>
          <a:stretch>
            <a:fillRect/>
          </a:stretch>
        </p:blipFill>
        <p:spPr>
          <a:xfrm>
            <a:off x="919521" y="3260385"/>
            <a:ext cx="209215" cy="209215"/>
          </a:xfrm>
          <a:prstGeom prst="rect">
            <a:avLst/>
          </a:prstGeom>
        </p:spPr>
      </p:pic>
      <p:sp>
        <p:nvSpPr>
          <p:cNvPr id="15" name="Text 9"/>
          <p:cNvSpPr txBox="1"/>
          <p:nvPr/>
        </p:nvSpPr>
        <p:spPr>
          <a:xfrm>
            <a:off x="1417320" y="3108960"/>
            <a:ext cx="6492240" cy="475488"/>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Le wiki : le guide complet
</a:t>
            </a:r>
            <a:pPr indent="0" marL="0">
              <a:buNone/>
            </a:pPr>
            <a:r>
              <a:rPr lang="en-US" sz="1100" u="sng" dirty="0">
                <a:solidFill>
                  <a:srgbClr val="0056B3"/>
                </a:solidFill>
                <a:latin typeface="Arial" pitchFamily="34" charset="0"/>
                <a:ea typeface="Arial" pitchFamily="34" charset="-122"/>
                <a:cs typeface="Arial" pitchFamily="34" charset="-120"/>
                <a:hlinkClick r:id="rId9" invalidUrl="" action="" tgtFrame="" tooltip="https://forge.apps.education.fr/caramel/caramel/-/wikis/home" history="1" highlightClick="0" endSnd="0">
                  <a:extLst>
                    <a:ext uri="{A12FA001-AC4F-418D-AE19-62706E023703}">
                      <ahyp:hlinkClr xmlns:ahyp="http://schemas.microsoft.com/office/drawing/2018/hyperlinkcolor" val="tx"/>
                    </a:ext>
                  </a:extLst>
                </a:hlinkClick>
              </a:rPr>
              <a:t>forge.apps.education.fr/caramel/caramel/-/wikis/home</a:t>
            </a:r>
            <a:endParaRPr lang="en-US" sz="1300" dirty="0"/>
          </a:p>
        </p:txBody>
      </p:sp>
      <p:sp>
        <p:nvSpPr>
          <p:cNvPr id="16" name="Shape 10"/>
          <p:cNvSpPr/>
          <p:nvPr/>
        </p:nvSpPr>
        <p:spPr>
          <a:xfrm>
            <a:off x="822960" y="3685032"/>
            <a:ext cx="402336" cy="402336"/>
          </a:xfrm>
          <a:prstGeom prst="roundRect">
            <a:avLst>
              <a:gd name="adj" fmla="val 28000"/>
            </a:avLst>
          </a:prstGeom>
          <a:solidFill>
            <a:srgbClr val="FFECD4"/>
          </a:solidFill>
          <a:ln/>
        </p:spPr>
      </p:sp>
      <p:pic>
        <p:nvPicPr>
          <p:cNvPr id="17" name="Image 4" descr="/var/folders/b7/tkzbyvzx72qcg9wb0t1jybvm0000gn/T/diaporama-zLbeHS/icone-27.png">    </p:cNvPr>
          <p:cNvPicPr>
            <a:picLocks noChangeAspect="1"/>
          </p:cNvPicPr>
          <p:nvPr/>
        </p:nvPicPr>
        <p:blipFill>
          <a:blip r:embed="rId10"/>
          <a:stretch>
            <a:fillRect/>
          </a:stretch>
        </p:blipFill>
        <p:spPr>
          <a:xfrm>
            <a:off x="919521" y="3781593"/>
            <a:ext cx="209215" cy="209215"/>
          </a:xfrm>
          <a:prstGeom prst="rect">
            <a:avLst/>
          </a:prstGeom>
        </p:spPr>
      </p:pic>
      <p:sp>
        <p:nvSpPr>
          <p:cNvPr id="18" name="Text 11"/>
          <p:cNvSpPr txBox="1"/>
          <p:nvPr/>
        </p:nvSpPr>
        <p:spPr>
          <a:xfrm>
            <a:off x="1417320" y="3630168"/>
            <a:ext cx="6492240" cy="475488"/>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Le salon Tchap de Caramel
</a:t>
            </a:r>
            <a:pPr indent="0" marL="0">
              <a:buNone/>
            </a:pPr>
            <a:r>
              <a:rPr lang="en-US" sz="1100" u="sng" dirty="0">
                <a:solidFill>
                  <a:srgbClr val="0056B3"/>
                </a:solidFill>
                <a:latin typeface="Arial" pitchFamily="34" charset="0"/>
                <a:ea typeface="Arial" pitchFamily="34" charset="-122"/>
                <a:cs typeface="Arial" pitchFamily="34" charset="-120"/>
                <a:hlinkClick r:id="rId11" invalidUrl="" action="" tgtFrame="" tooltip="https://edurl.fr/caramel-tchap" history="1" highlightClick="0" endSnd="0">
                  <a:extLst>
                    <a:ext uri="{A12FA001-AC4F-418D-AE19-62706E023703}">
                      <ahyp:hlinkClr xmlns:ahyp="http://schemas.microsoft.com/office/drawing/2018/hyperlinkcolor" val="tx"/>
                    </a:ext>
                  </a:extLst>
                </a:hlinkClick>
              </a:rPr>
              <a:t>edurl.fr/caramel-tchap</a:t>
            </a:r>
            <a:endParaRPr lang="en-US" sz="1300" dirty="0"/>
          </a:p>
        </p:txBody>
      </p:sp>
      <p:sp>
        <p:nvSpPr>
          <p:cNvPr id="19" name="Shape 12"/>
          <p:cNvSpPr/>
          <p:nvPr/>
        </p:nvSpPr>
        <p:spPr>
          <a:xfrm>
            <a:off x="822960" y="4206240"/>
            <a:ext cx="402336" cy="402336"/>
          </a:xfrm>
          <a:prstGeom prst="roundRect">
            <a:avLst>
              <a:gd name="adj" fmla="val 28000"/>
            </a:avLst>
          </a:prstGeom>
          <a:solidFill>
            <a:srgbClr val="FFECD4"/>
          </a:solidFill>
          <a:ln/>
        </p:spPr>
      </p:sp>
      <p:pic>
        <p:nvPicPr>
          <p:cNvPr id="20" name="Image 5" descr="/var/folders/b7/tkzbyvzx72qcg9wb0t1jybvm0000gn/T/diaporama-zLbeHS/icone-31.png">    </p:cNvPr>
          <p:cNvPicPr>
            <a:picLocks noChangeAspect="1"/>
          </p:cNvPicPr>
          <p:nvPr/>
        </p:nvPicPr>
        <p:blipFill>
          <a:blip r:embed="rId12"/>
          <a:stretch>
            <a:fillRect/>
          </a:stretch>
        </p:blipFill>
        <p:spPr>
          <a:xfrm>
            <a:off x="919521" y="4302801"/>
            <a:ext cx="209215" cy="209215"/>
          </a:xfrm>
          <a:prstGeom prst="rect">
            <a:avLst/>
          </a:prstGeom>
        </p:spPr>
      </p:pic>
      <p:sp>
        <p:nvSpPr>
          <p:cNvPr id="21" name="Text 13"/>
          <p:cNvSpPr txBox="1"/>
          <p:nvPr/>
        </p:nvSpPr>
        <p:spPr>
          <a:xfrm>
            <a:off x="1417320" y="4151376"/>
            <a:ext cx="6492240" cy="475488"/>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La vidéo « Caramel 7 » (Podeduc)
</a:t>
            </a:r>
            <a:pPr indent="0" marL="0">
              <a:buNone/>
            </a:pPr>
            <a:r>
              <a:rPr lang="en-US" sz="1100" u="sng" dirty="0">
                <a:solidFill>
                  <a:srgbClr val="0056B3"/>
                </a:solidFill>
                <a:latin typeface="Arial" pitchFamily="34" charset="0"/>
                <a:ea typeface="Arial" pitchFamily="34" charset="-122"/>
                <a:cs typeface="Arial" pitchFamily="34" charset="-120"/>
                <a:hlinkClick r:id="rId13" invalidUrl="" action="" tgtFrame="" tooltip="https://podeduc.apps.education.fr/video/161411-caramel-7/" history="1" highlightClick="0" endSnd="0">
                  <a:extLst>
                    <a:ext uri="{A12FA001-AC4F-418D-AE19-62706E023703}">
                      <ahyp:hlinkClr xmlns:ahyp="http://schemas.microsoft.com/office/drawing/2018/hyperlinkcolor" val="tx"/>
                    </a:ext>
                  </a:extLst>
                </a:hlinkClick>
              </a:rPr>
              <a:t>podeduc.apps.education.fr/video/161411-caramel-7</a:t>
            </a:r>
            <a:endParaRPr lang="en-US" sz="1300" dirty="0"/>
          </a:p>
        </p:txBody>
      </p:sp>
      <p:sp>
        <p:nvSpPr>
          <p:cNvPr id="22" name="Shape 14"/>
          <p:cNvSpPr/>
          <p:nvPr/>
        </p:nvSpPr>
        <p:spPr>
          <a:xfrm>
            <a:off x="822960" y="4727448"/>
            <a:ext cx="402336" cy="402336"/>
          </a:xfrm>
          <a:prstGeom prst="roundRect">
            <a:avLst>
              <a:gd name="adj" fmla="val 28000"/>
            </a:avLst>
          </a:prstGeom>
          <a:solidFill>
            <a:srgbClr val="FFECD4"/>
          </a:solidFill>
          <a:ln/>
        </p:spPr>
      </p:sp>
      <p:pic>
        <p:nvPicPr>
          <p:cNvPr id="23" name="Image 6" descr="/var/folders/b7/tkzbyvzx72qcg9wb0t1jybvm0000gn/T/diaporama-zLbeHS/icone-28.png">    </p:cNvPr>
          <p:cNvPicPr>
            <a:picLocks noChangeAspect="1"/>
          </p:cNvPicPr>
          <p:nvPr/>
        </p:nvPicPr>
        <p:blipFill>
          <a:blip r:embed="rId14"/>
          <a:stretch>
            <a:fillRect/>
          </a:stretch>
        </p:blipFill>
        <p:spPr>
          <a:xfrm>
            <a:off x="919521" y="4824009"/>
            <a:ext cx="209215" cy="209215"/>
          </a:xfrm>
          <a:prstGeom prst="rect">
            <a:avLst/>
          </a:prstGeom>
        </p:spPr>
      </p:pic>
      <p:sp>
        <p:nvSpPr>
          <p:cNvPr id="24" name="Text 15"/>
          <p:cNvSpPr txBox="1"/>
          <p:nvPr/>
        </p:nvSpPr>
        <p:spPr>
          <a:xfrm>
            <a:off x="1417320" y="4672584"/>
            <a:ext cx="6492240" cy="475488"/>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Le code, les tickets, les nouveautés de chaque version
</a:t>
            </a:r>
            <a:pPr indent="0" marL="0">
              <a:buNone/>
            </a:pPr>
            <a:r>
              <a:rPr lang="en-US" sz="1100" u="sng" dirty="0">
                <a:solidFill>
                  <a:srgbClr val="0056B3"/>
                </a:solidFill>
                <a:latin typeface="Arial" pitchFamily="34" charset="0"/>
                <a:ea typeface="Arial" pitchFamily="34" charset="-122"/>
                <a:cs typeface="Arial" pitchFamily="34" charset="-120"/>
                <a:hlinkClick r:id="rId15" invalidUrl="" action="" tgtFrame="" tooltip="https://forge.apps.education.fr/caramel/caramel" history="1" highlightClick="0" endSnd="0">
                  <a:extLst>
                    <a:ext uri="{A12FA001-AC4F-418D-AE19-62706E023703}">
                      <ahyp:hlinkClr xmlns:ahyp="http://schemas.microsoft.com/office/drawing/2018/hyperlinkcolor" val="tx"/>
                    </a:ext>
                  </a:extLst>
                </a:hlinkClick>
              </a:rPr>
              <a:t>forge.apps.education.fr/caramel/caramel</a:t>
            </a:r>
            <a:endParaRPr lang="en-US" sz="1300" dirty="0"/>
          </a:p>
        </p:txBody>
      </p:sp>
      <p:sp>
        <p:nvSpPr>
          <p:cNvPr id="25" name="Shape 16"/>
          <p:cNvSpPr/>
          <p:nvPr/>
        </p:nvSpPr>
        <p:spPr>
          <a:xfrm>
            <a:off x="822960" y="5248656"/>
            <a:ext cx="402336" cy="402336"/>
          </a:xfrm>
          <a:prstGeom prst="roundRect">
            <a:avLst>
              <a:gd name="adj" fmla="val 28000"/>
            </a:avLst>
          </a:prstGeom>
          <a:solidFill>
            <a:srgbClr val="FFECD4"/>
          </a:solidFill>
          <a:ln/>
        </p:spPr>
      </p:sp>
      <p:pic>
        <p:nvPicPr>
          <p:cNvPr id="26" name="Image 7" descr="/var/folders/b7/tkzbyvzx72qcg9wb0t1jybvm0000gn/T/diaporama-zLbeHS/icone-22.png">    </p:cNvPr>
          <p:cNvPicPr>
            <a:picLocks noChangeAspect="1"/>
          </p:cNvPicPr>
          <p:nvPr/>
        </p:nvPicPr>
        <p:blipFill>
          <a:blip r:embed="rId16"/>
          <a:stretch>
            <a:fillRect/>
          </a:stretch>
        </p:blipFill>
        <p:spPr>
          <a:xfrm>
            <a:off x="919521" y="5345217"/>
            <a:ext cx="209215" cy="209215"/>
          </a:xfrm>
          <a:prstGeom prst="rect">
            <a:avLst/>
          </a:prstGeom>
        </p:spPr>
      </p:pic>
      <p:sp>
        <p:nvSpPr>
          <p:cNvPr id="27" name="Text 17"/>
          <p:cNvSpPr txBox="1"/>
          <p:nvPr/>
        </p:nvSpPr>
        <p:spPr>
          <a:xfrm>
            <a:off x="1417320" y="5193792"/>
            <a:ext cx="6492240" cy="475488"/>
          </a:xfrm>
          <a:prstGeom prst="rect">
            <a:avLst/>
          </a:prstGeom>
          <a:noFill/>
          <a:ln/>
        </p:spPr>
        <p:txBody>
          <a:bodyPr wrap="square" lIns="0" tIns="0" rIns="0" bIns="0" rtlCol="0" anchor="t"/>
          <a:lstStyle/>
          <a:p>
            <a:pPr indent="0" marL="0">
              <a:buNone/>
            </a:pPr>
            <a:r>
              <a:rPr lang="en-US" sz="1300" b="1" dirty="0">
                <a:solidFill>
                  <a:srgbClr val="1D1D1F"/>
                </a:solidFill>
                <a:latin typeface="Arial" pitchFamily="34" charset="0"/>
                <a:ea typeface="Arial" pitchFamily="34" charset="-122"/>
                <a:cs typeface="Arial" pitchFamily="34" charset="-120"/>
              </a:rPr>
              <a:t>Le bac à sable : les nouveautés avant tout le monde
</a:t>
            </a:r>
            <a:pPr indent="0" marL="0">
              <a:buNone/>
            </a:pPr>
            <a:r>
              <a:rPr lang="en-US" sz="1100" u="sng" dirty="0">
                <a:solidFill>
                  <a:srgbClr val="0056B3"/>
                </a:solidFill>
                <a:latin typeface="Arial" pitchFamily="34" charset="0"/>
                <a:ea typeface="Arial" pitchFamily="34" charset="-122"/>
                <a:cs typeface="Arial" pitchFamily="34" charset="-120"/>
                <a:hlinkClick r:id="rId17" invalidUrl="" action="" tgtFrame="" tooltip="https://caramel.forge.apps.education.fr/bas/" history="1" highlightClick="0" endSnd="0">
                  <a:extLst>
                    <a:ext uri="{A12FA001-AC4F-418D-AE19-62706E023703}">
                      <ahyp:hlinkClr xmlns:ahyp="http://schemas.microsoft.com/office/drawing/2018/hyperlinkcolor" val="tx"/>
                    </a:ext>
                  </a:extLst>
                </a:hlinkClick>
              </a:rPr>
              <a:t>caramel.forge.apps.education.fr/bas</a:t>
            </a:r>
            <a:endParaRPr lang="en-US" sz="1300" dirty="0"/>
          </a:p>
        </p:txBody>
      </p:sp>
      <p:sp>
        <p:nvSpPr>
          <p:cNvPr id="28" name="Shape 18"/>
          <p:cNvSpPr/>
          <p:nvPr/>
        </p:nvSpPr>
        <p:spPr>
          <a:xfrm>
            <a:off x="8503920" y="1417320"/>
            <a:ext cx="3139135" cy="2103120"/>
          </a:xfrm>
          <a:prstGeom prst="roundRect">
            <a:avLst>
              <a:gd name="adj" fmla="val 6957"/>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29" name="Image 8" descr="/var/folders/b7/tkzbyvzx72qcg9wb0t1jybvm0000gn/T/diaporama-zLbeHS/qr-caramel.png">    </p:cNvPr>
          <p:cNvPicPr>
            <a:picLocks noChangeAspect="1"/>
          </p:cNvPicPr>
          <p:nvPr/>
        </p:nvPicPr>
        <p:blipFill>
          <a:blip r:embed="rId18"/>
          <a:stretch>
            <a:fillRect/>
          </a:stretch>
        </p:blipFill>
        <p:spPr>
          <a:xfrm>
            <a:off x="8778240" y="1691640"/>
            <a:ext cx="1554480" cy="1554480"/>
          </a:xfrm>
          <a:prstGeom prst="rect">
            <a:avLst/>
          </a:prstGeom>
        </p:spPr>
      </p:pic>
      <p:sp>
        <p:nvSpPr>
          <p:cNvPr id="30" name="Text 19"/>
          <p:cNvSpPr txBox="1"/>
          <p:nvPr/>
        </p:nvSpPr>
        <p:spPr>
          <a:xfrm>
            <a:off x="10469880" y="1920240"/>
            <a:ext cx="1036015" cy="548640"/>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Ouvrir Caramel</a:t>
            </a:r>
            <a:endParaRPr lang="en-US" sz="1500" dirty="0"/>
          </a:p>
        </p:txBody>
      </p:sp>
      <p:sp>
        <p:nvSpPr>
          <p:cNvPr id="31" name="Text 20"/>
          <p:cNvSpPr txBox="1"/>
          <p:nvPr/>
        </p:nvSpPr>
        <p:spPr>
          <a:xfrm>
            <a:off x="10469880" y="2468880"/>
            <a:ext cx="1036015" cy="640080"/>
          </a:xfrm>
          <a:prstGeom prst="rect">
            <a:avLst/>
          </a:prstGeom>
          <a:noFill/>
          <a:ln/>
        </p:spPr>
        <p:txBody>
          <a:bodyPr wrap="square" lIns="0" tIns="0" rIns="0" bIns="0" rtlCol="0" anchor="t"/>
          <a:lstStyle/>
          <a:p>
            <a:pPr indent="0" marL="0">
              <a:buNone/>
            </a:pPr>
            <a:r>
              <a:rPr lang="en-US" sz="1150" dirty="0">
                <a:solidFill>
                  <a:srgbClr val="6E6E73"/>
                </a:solidFill>
                <a:latin typeface="Arial" pitchFamily="34" charset="0"/>
                <a:ea typeface="Arial" pitchFamily="34" charset="-122"/>
                <a:cs typeface="Arial" pitchFamily="34" charset="-120"/>
              </a:rPr>
              <a:t>Scannez avec un téléphone ou une tablette.</a:t>
            </a:r>
            <a:endParaRPr lang="en-US" sz="1150" dirty="0"/>
          </a:p>
        </p:txBody>
      </p:sp>
      <p:sp>
        <p:nvSpPr>
          <p:cNvPr id="32" name="Shape 21"/>
          <p:cNvSpPr/>
          <p:nvPr/>
        </p:nvSpPr>
        <p:spPr>
          <a:xfrm>
            <a:off x="8503920" y="3749040"/>
            <a:ext cx="3139135" cy="2103120"/>
          </a:xfrm>
          <a:prstGeom prst="roundRect">
            <a:avLst>
              <a:gd name="adj" fmla="val 6957"/>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33" name="Image 9" descr="/var/folders/b7/tkzbyvzx72qcg9wb0t1jybvm0000gn/T/diaporama-zLbeHS/qr-decouvrir.png">    </p:cNvPr>
          <p:cNvPicPr>
            <a:picLocks noChangeAspect="1"/>
          </p:cNvPicPr>
          <p:nvPr/>
        </p:nvPicPr>
        <p:blipFill>
          <a:blip r:embed="rId19"/>
          <a:stretch>
            <a:fillRect/>
          </a:stretch>
        </p:blipFill>
        <p:spPr>
          <a:xfrm>
            <a:off x="8778240" y="4023360"/>
            <a:ext cx="1554480" cy="1554480"/>
          </a:xfrm>
          <a:prstGeom prst="rect">
            <a:avLst/>
          </a:prstGeom>
        </p:spPr>
      </p:pic>
      <p:sp>
        <p:nvSpPr>
          <p:cNvPr id="34" name="Text 22"/>
          <p:cNvSpPr txBox="1"/>
          <p:nvPr/>
        </p:nvSpPr>
        <p:spPr>
          <a:xfrm>
            <a:off x="10469880" y="4251960"/>
            <a:ext cx="1036015" cy="548640"/>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Découvrir Caramel</a:t>
            </a:r>
            <a:endParaRPr lang="en-US" sz="1500" dirty="0"/>
          </a:p>
        </p:txBody>
      </p:sp>
      <p:sp>
        <p:nvSpPr>
          <p:cNvPr id="35" name="Text 23"/>
          <p:cNvSpPr txBox="1"/>
          <p:nvPr/>
        </p:nvSpPr>
        <p:spPr>
          <a:xfrm>
            <a:off x="10469880" y="4800600"/>
            <a:ext cx="1036015" cy="640080"/>
          </a:xfrm>
          <a:prstGeom prst="rect">
            <a:avLst/>
          </a:prstGeom>
          <a:noFill/>
          <a:ln/>
        </p:spPr>
        <p:txBody>
          <a:bodyPr wrap="square" lIns="0" tIns="0" rIns="0" bIns="0" rtlCol="0" anchor="t"/>
          <a:lstStyle/>
          <a:p>
            <a:pPr indent="0" marL="0">
              <a:buNone/>
            </a:pPr>
            <a:r>
              <a:rPr lang="en-US" sz="1150" dirty="0">
                <a:solidFill>
                  <a:srgbClr val="6E6E73"/>
                </a:solidFill>
                <a:latin typeface="Arial" pitchFamily="34" charset="0"/>
                <a:ea typeface="Arial" pitchFamily="34" charset="-122"/>
                <a:cs typeface="Arial" pitchFamily="34" charset="-120"/>
              </a:rPr>
              <a:t>Scannez avec un téléphone ou une tablette.</a:t>
            </a:r>
            <a:endParaRPr lang="en-US" sz="1150" dirty="0"/>
          </a:p>
        </p:txBody>
      </p:sp>
      <p:sp>
        <p:nvSpPr>
          <p:cNvPr id="36" name="Text 2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v7.0.1 · Présentation · septembre 2026</a:t>
            </a:r>
            <a:endParaRPr lang="en-US" sz="900" dirty="0"/>
          </a:p>
        </p:txBody>
      </p:sp>
      <p:sp>
        <p:nvSpPr>
          <p:cNvPr id="37" name="Text 2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23 / 24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var/folders/b7/tkzbyvzx72qcg9wb0t1jybvm0000gn/T/diaporama-zLbeHS/logo-caramel.png">    </p:cNvPr>
          <p:cNvPicPr>
            <a:picLocks noChangeAspect="1"/>
          </p:cNvPicPr>
          <p:nvPr/>
        </p:nvPicPr>
        <p:blipFill>
          <a:blip r:embed="rId1"/>
          <a:stretch>
            <a:fillRect/>
          </a:stretch>
        </p:blipFill>
        <p:spPr>
          <a:xfrm>
            <a:off x="5547208" y="868680"/>
            <a:ext cx="1097280" cy="1097280"/>
          </a:xfrm>
          <a:prstGeom prst="rect">
            <a:avLst/>
          </a:prstGeom>
        </p:spPr>
      </p:pic>
      <p:sp>
        <p:nvSpPr>
          <p:cNvPr id="3" name="Text 0"/>
          <p:cNvSpPr txBox="1"/>
          <p:nvPr/>
        </p:nvSpPr>
        <p:spPr>
          <a:xfrm>
            <a:off x="548640" y="2103120"/>
            <a:ext cx="11094415" cy="822960"/>
          </a:xfrm>
          <a:prstGeom prst="rect">
            <a:avLst/>
          </a:prstGeom>
          <a:noFill/>
          <a:ln/>
        </p:spPr>
        <p:txBody>
          <a:bodyPr wrap="square" lIns="0" tIns="0" rIns="0" bIns="0" rtlCol="0" anchor="t"/>
          <a:lstStyle/>
          <a:p>
            <a:pPr algn="ctr" indent="0" marL="0">
              <a:buNone/>
            </a:pPr>
            <a:r>
              <a:rPr lang="en-US" sz="4400" b="1" dirty="0">
                <a:solidFill>
                  <a:srgbClr val="1D1D1F"/>
                </a:solidFill>
                <a:latin typeface="Arial" pitchFamily="34" charset="0"/>
                <a:ea typeface="Arial" pitchFamily="34" charset="-122"/>
                <a:cs typeface="Arial" pitchFamily="34" charset="-120"/>
              </a:rPr>
              <a:t>À vous de jouer !</a:t>
            </a:r>
            <a:endParaRPr lang="en-US" sz="4400" dirty="0"/>
          </a:p>
        </p:txBody>
      </p:sp>
      <p:sp>
        <p:nvSpPr>
          <p:cNvPr id="4" name="Text 1"/>
          <p:cNvSpPr txBox="1"/>
          <p:nvPr/>
        </p:nvSpPr>
        <p:spPr>
          <a:xfrm>
            <a:off x="1920240" y="2926080"/>
            <a:ext cx="8351215" cy="457200"/>
          </a:xfrm>
          <a:prstGeom prst="rect">
            <a:avLst/>
          </a:prstGeom>
          <a:noFill/>
          <a:ln/>
        </p:spPr>
        <p:txBody>
          <a:bodyPr wrap="square" lIns="0" tIns="0" rIns="0" bIns="0" rtlCol="0" anchor="t"/>
          <a:lstStyle/>
          <a:p>
            <a:pPr algn="ctr" indent="0" marL="0">
              <a:buNone/>
            </a:pPr>
            <a:r>
              <a:rPr lang="en-US" sz="1800" dirty="0">
                <a:solidFill>
                  <a:srgbClr val="4A4A4F"/>
                </a:solidFill>
                <a:latin typeface="Arial" pitchFamily="34" charset="0"/>
                <a:ea typeface="Arial" pitchFamily="34" charset="-122"/>
                <a:cs typeface="Arial" pitchFamily="34" charset="-120"/>
              </a:rPr>
              <a:t>Préparez votre première activité en quelques minutes : gratuit, sans compte, dans votre navigateur.</a:t>
            </a:r>
            <a:endParaRPr lang="en-US" sz="1800" dirty="0"/>
          </a:p>
        </p:txBody>
      </p:sp>
      <p:pic>
        <p:nvPicPr>
          <p:cNvPr id="5" name="Image 1" descr="/var/folders/b7/tkzbyvzx72qcg9wb0t1jybvm0000gn/T/diaporama-zLbeHS/qr-caramel.png">    </p:cNvPr>
          <p:cNvPicPr>
            <a:picLocks noChangeAspect="1"/>
          </p:cNvPicPr>
          <p:nvPr/>
        </p:nvPicPr>
        <p:blipFill>
          <a:blip r:embed="rId2"/>
          <a:stretch>
            <a:fillRect/>
          </a:stretch>
        </p:blipFill>
        <p:spPr>
          <a:xfrm>
            <a:off x="5387188" y="3611880"/>
            <a:ext cx="1417320" cy="1417320"/>
          </a:xfrm>
          <a:prstGeom prst="rect">
            <a:avLst/>
          </a:prstGeom>
        </p:spPr>
      </p:pic>
      <p:sp>
        <p:nvSpPr>
          <p:cNvPr id="6" name="Text 2"/>
          <p:cNvSpPr txBox="1"/>
          <p:nvPr/>
        </p:nvSpPr>
        <p:spPr>
          <a:xfrm>
            <a:off x="548640" y="5166360"/>
            <a:ext cx="11094415" cy="365760"/>
          </a:xfrm>
          <a:prstGeom prst="rect">
            <a:avLst/>
          </a:prstGeom>
          <a:noFill/>
          <a:ln/>
        </p:spPr>
        <p:txBody>
          <a:bodyPr wrap="square" lIns="0" tIns="0" rIns="0" bIns="0" rtlCol="0" anchor="t"/>
          <a:lstStyle/>
          <a:p>
            <a:pPr algn="ctr" indent="0" marL="0">
              <a:buNone/>
            </a:pPr>
            <a:r>
              <a:rPr lang="en-US" sz="1800" b="1" u="sng" dirty="0">
                <a:solidFill>
                  <a:srgbClr val="0056B3"/>
                </a:solidFill>
                <a:latin typeface="Arial" pitchFamily="34" charset="0"/>
                <a:ea typeface="Arial" pitchFamily="34" charset="-122"/>
                <a:cs typeface="Arial" pitchFamily="34" charset="-120"/>
                <a:hlinkClick r:id="rId3" invalidUrl="" action="" tgtFrame="" tooltip="https://caramel.forge.apps.education.fr/" history="1" highlightClick="0" endSnd="0">
                  <a:extLst>
                    <a:ext uri="{A12FA001-AC4F-418D-AE19-62706E023703}">
                      <ahyp:hlinkClr xmlns:ahyp="http://schemas.microsoft.com/office/drawing/2018/hyperlinkcolor" val="tx"/>
                    </a:ext>
                  </a:extLst>
                </a:hlinkClick>
              </a:rPr>
              <a:t>caramel.forge.apps.education.fr</a:t>
            </a:r>
            <a:endParaRPr lang="en-US" sz="1800" dirty="0"/>
          </a:p>
        </p:txBody>
      </p:sp>
      <p:sp>
        <p:nvSpPr>
          <p:cNvPr id="7" name="Text 3"/>
          <p:cNvSpPr txBox="1"/>
          <p:nvPr/>
        </p:nvSpPr>
        <p:spPr>
          <a:xfrm>
            <a:off x="548640" y="5760720"/>
            <a:ext cx="11094415" cy="274320"/>
          </a:xfrm>
          <a:prstGeom prst="rect">
            <a:avLst/>
          </a:prstGeom>
          <a:noFill/>
          <a:ln/>
        </p:spPr>
        <p:txBody>
          <a:bodyPr wrap="square" lIns="0" tIns="0" rIns="0" bIns="0" rtlCol="0" anchor="t"/>
          <a:lstStyle/>
          <a:p>
            <a:pPr algn="ctr" indent="0" marL="0">
              <a:buNone/>
            </a:pPr>
            <a:r>
              <a:rPr lang="en-US" sz="1200" dirty="0">
                <a:solidFill>
                  <a:srgbClr val="4A4A4F"/>
                </a:solidFill>
                <a:latin typeface="Arial" pitchFamily="34" charset="0"/>
                <a:ea typeface="Arial" pitchFamily="34" charset="-122"/>
                <a:cs typeface="Arial" pitchFamily="34" charset="-120"/>
              </a:rPr>
              <a:t>Emmanuel Gaunard · </a:t>
            </a:r>
            <a:pPr algn="ctr" indent="0" marL="0">
              <a:buNone/>
            </a:pPr>
            <a:r>
              <a:rPr lang="en-US" sz="1200" u="sng" dirty="0">
                <a:solidFill>
                  <a:srgbClr val="0056B3"/>
                </a:solidFill>
                <a:latin typeface="Arial" pitchFamily="34" charset="0"/>
                <a:ea typeface="Arial" pitchFamily="34" charset="-122"/>
                <a:cs typeface="Arial" pitchFamily="34" charset="-120"/>
                <a:hlinkClick r:id="rId4" invalidUrl="" action="" tgtFrame="" tooltip="mailto:emmanuel.gaunard@ac-grenoble.fr" history="1" highlightClick="0" endSnd="0">
                  <a:extLst>
                    <a:ext uri="{A12FA001-AC4F-418D-AE19-62706E023703}">
                      <ahyp:hlinkClr xmlns:ahyp="http://schemas.microsoft.com/office/drawing/2018/hyperlinkcolor" val="tx"/>
                    </a:ext>
                  </a:extLst>
                </a:hlinkClick>
              </a:rPr>
              <a:t>emmanuel.gaunard@ac-grenoble.fr</a:t>
            </a:r>
            <a:pPr algn="ctr" indent="0" marL="0">
              <a:buNone/>
            </a:pPr>
            <a:r>
              <a:rPr lang="en-US" sz="1200" dirty="0">
                <a:solidFill>
                  <a:srgbClr val="4A4A4F"/>
                </a:solidFill>
                <a:latin typeface="Arial" pitchFamily="34" charset="0"/>
                <a:ea typeface="Arial" pitchFamily="34" charset="-122"/>
                <a:cs typeface="Arial" pitchFamily="34" charset="-120"/>
              </a:rPr>
              <a:t>     Gauthier Remande · </a:t>
            </a:r>
            <a:pPr algn="ctr" indent="0" marL="0">
              <a:buNone/>
            </a:pPr>
            <a:r>
              <a:rPr lang="en-US" sz="1200" u="sng" dirty="0">
                <a:solidFill>
                  <a:srgbClr val="0056B3"/>
                </a:solidFill>
                <a:latin typeface="Arial" pitchFamily="34" charset="0"/>
                <a:ea typeface="Arial" pitchFamily="34" charset="-122"/>
                <a:cs typeface="Arial" pitchFamily="34" charset="-120"/>
                <a:hlinkClick r:id="rId5" invalidUrl="" action="" tgtFrame="" tooltip="mailto:gauthier.remande@ac-nantes.fr" history="1" highlightClick="0" endSnd="0">
                  <a:extLst>
                    <a:ext uri="{A12FA001-AC4F-418D-AE19-62706E023703}">
                      <ahyp:hlinkClr xmlns:ahyp="http://schemas.microsoft.com/office/drawing/2018/hyperlinkcolor" val="tx"/>
                    </a:ext>
                  </a:extLst>
                </a:hlinkClick>
              </a:rPr>
              <a:t>gauthier.remande@ac-nantes.fr</a:t>
            </a:r>
            <a:endParaRPr lang="en-US" sz="1200" dirty="0"/>
          </a:p>
        </p:txBody>
      </p:sp>
      <p:sp>
        <p:nvSpPr>
          <p:cNvPr id="8" name="Text 4"/>
          <p:cNvSpPr txBox="1"/>
          <p:nvPr/>
        </p:nvSpPr>
        <p:spPr>
          <a:xfrm>
            <a:off x="548640" y="6172200"/>
            <a:ext cx="11094415" cy="274320"/>
          </a:xfrm>
          <a:prstGeom prst="rect">
            <a:avLst/>
          </a:prstGeom>
          <a:noFill/>
          <a:ln/>
        </p:spPr>
        <p:txBody>
          <a:bodyPr wrap="square" lIns="0" tIns="0" rIns="0" bIns="0" rtlCol="0" anchor="t"/>
          <a:lstStyle/>
          <a:p>
            <a:pPr algn="ctr" indent="0" marL="0">
              <a:buNone/>
            </a:pPr>
            <a:r>
              <a:rPr lang="en-US" sz="1100" dirty="0">
                <a:solidFill>
                  <a:srgbClr val="6E6E73"/>
                </a:solidFill>
                <a:latin typeface="Arial" pitchFamily="34" charset="0"/>
                <a:ea typeface="Arial" pitchFamily="34" charset="-122"/>
                <a:cs typeface="Arial" pitchFamily="34" charset="-120"/>
              </a:rPr>
              <a:t>Caramel v7.0.1 · support mis à jour le 30 septembre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Caramel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Caramel 7.0.1 — présentation</dc:title>
  <dc:subject>Présenter Caramel en formation</dc:subject>
  <dc:creator>Emmanuel Gaunard, Gauthier Remande</dc:creator>
  <cp:lastModifiedBy>Emmanuel Gaunard, Gauthier Remande</cp:lastModifiedBy>
  <cp:revision>1</cp:revision>
  <dcterms:created xsi:type="dcterms:W3CDTF">2026-09-30T14:52:18Z</dcterms:created>
  <dcterms:modified xsi:type="dcterms:W3CDTF">2026-09-30T14:52:18Z</dcterms:modified>
</cp:coreProperties>
</file>