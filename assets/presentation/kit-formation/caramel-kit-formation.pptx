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kit sert à prendre en main Caramel en une séance courte. Caramel est une application web gratuite, sans compte, qui prépare avec l'IA des activités interactives et des parcours complets pour Éléa, Magistère et Moodle. Le déroulé suit deux parties : générer une activité, puis concevoir un parcours. Chaque diapositive porte une idée et montre l'écran réel ; les libellés cités entre guillemets sont ceux des boutons. Support conforme à Caramel 7.1.0, mis à jour le 1er octobre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parties. D’abord une activité seule : on décrit son besoin, on choisit un type d’activité, on génère, on relit, on télécharge et on importe dans sa plateforme. Ensuite un parcours complet : un cours entier, organisé en étapes, livré dans un seul fichier — le même pour tous les élèves, ou différencié selon les résultats d’un test. On termine par quelques points à savoir et par les ressources pour continuer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 commence sur la page d’accueil, par deux champs. « Qui êtes-vous ? » : une réponse courte suffit, par exemple « Professeur de mathématiques » ou « Formatrice académique ». « Que souhaitez-vous aborder ? » : c’est le cœur de la demande ; plus elle est précise — thème, niveau, contraintes —, meilleure est l’activité. C’est le mode Rapide, celui qui s’ouvre par défaut. Chaque champ se dicte aussi au micro. Tant que les deux champs sont vides, les tuiles d’activités restent grisées.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L’onglet « Mode Avancé » ajoute deux précisions — le niveau, et le nombre de questions ou d’éléments — et surtout la zone « Joindre des documents (facultatif) ». On y colle un texte ou on y dépose son propre cours : PDF, Word, LibreOffice, diaporama, image, audio ou vidéo, ou encore une page web par son lien. L’IA travaille alors exclusivement à partir de ces documents : ils deviennent la référence. Sans document, l’IA s’appuie sur ses connaissances. Le texte est extrait dans le navigateur ; rappel utile : aucune donnée personnelle d’élève dans les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Sous le formulaire, chaque tuile est un type d’activité : trente-cinq en tout, vingt-sept au format H5P — quiz, texte à trous, glisser-déposer, mots croisés, vidéo interactive… — et huit modules de la plateforme, comme la Page, le Livre ou le Test. Deux rangées de filtres aident à s’y retrouver : par famille, et par plateforme ou format. Les activités H5P fonctionnent sur Éléa, Magistère et Moodle. Un clic sur une tuile ouvre sa fenêtre de génération.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fenêtre d’une tuile s’ouvre en mode Simple : un seul bouton, « Générer en un clic ». L’IA de Caramel, hébergée en France, prépare l’activité en quelques dizaines de secondes. La petite flèche à droite du bouton ouvre le choix du modèle : Gemma 4, rapide et léger ; Qwen 3.8, plus nuancé ; Mistral Small 4, le plus puissant, choisi par défaut, et plus lent. Si une génération échoue ou tarde, on relance, ou on essaie un autre modèle.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L’interrupteur « Simple » / « Guidé », en haut de la fenêtre, affiche deux panneaux. À gauche, « 1/2 Obtenir le prompt à copier » : c’est l’ensemble des consignes que Caramel envoie à l’IA ; on peut le lire, le déverrouiller pour le modifier, et le copier. On le colle dans l’IA de son choix, puis on recopie sa réponse — un bloc de texte au format JSON — dans le panneau de droite, « 2/2 Créer le fichier à partir du JSON ». Le bouton devient alors « Générer l’activité ». Attention : avec une IA externe, ce sont ses conditions d’utilisation qui s’appliquent. On n’y met jamais de nom ni d’information personnelle d’élève.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l’activité générée, une fenêtre annonce « Votre sucrerie est prête ! ». Le grand bouton télécharge le fichier pour la plateforme : un .h5p pour une activité H5P, un .mbz ou un .xml pour un module de la plateforme. La flèche propose aussi une version papier, en Word, LibreOffice ou PDF. Mais le bon réflexe est l’autre bouton, « Visualiser et éditer » : on regarde l’activité avant de la télécharger.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L’aperçu montre l’activité telle que les élèves la verront sur la plateforme, et on peut la jouer : répondre, vérifier, recommencer. En haut, les plateformes compatibles. En bas, la barre de l’aperçu rassemble tout : « Télécharger » et un bouton par format, le point d’interrogation qui explique l’import, « Vers la Sucrerie » pour partager, et « Éditer » pour corriger.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bouton « Éditer » ouvre l’éditeur visuel, sans code. À gauche, la liste des éléments — ici les phrases du texte à trous — qu’on ajoute, supprime ou réordonne par glisser-déposer. À droite, le détail de l’élément choisi : texte enrichi, formules mathématiques avec un assistant, images, retours, réglages. « Enregistrer » met à jour l’aperçu et les fichiers à télécharger ; « Aide » rappelle la syntaxe propre à chaque activité. C’est l’étape à ne jamais sauter : l’IA peut se tromper.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activité sort sous deux formes. Pour la plateforme : le fichier .h5p d’une activité interactive ; pour un module de la plateforme, un .mbz, la sauvegarde Moodle d’une activité ; pour une banque de questions ou un glossaire, un .xml. Pour la classe : une version imprimable en Word, LibreOffice ou PDF, avec l’énoncé et le corrigé ; dans Word et LibreOffice, les formules mathématiques restent modifiables.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la barre de l’aperçu, à droite du bouton du format, un petit point d’interrogation : « Aide pour importer ce fichier ». Il ouvre « Comment utiliser ce fichier ? », avec les étapes et des captures. Pour un .h5p, deux méthodes : la méthode simple — glisser-déposer le fichier dans une section du cours en mode édition — et la méthode recommandée, par « Ajouter une activité ou une ressource », puis « Contenu interactif (H5P) ». Un .mbz s’importe sans écraser le contenu du cours. Les captures montrent Éléa ; la démarche est très proche sur Magistère et Moodle. Le « Tutoriel », en haut de Caramel, reprend tout pas à pas, dans son chapitre « Intégrer dans Éléa / Magistère / Moodle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Sucrerie est la bibliothèque publique d’activités qui accompagne Caramel. Le bouton « Vers la Sucrerie », dans l’aperçu, ouvre « Publier sur La Sucrerie ». C’est facultatif, et c’est une publication : l’activité devient publique, visible de tous les enseignants, sous licence libre CC BY-SA 4.0. On s’identifie avec son adresse académique, qui sert aussi à recevoir un lien de gestion pour la retirer. On atteste en être l’auteur, l’avoir vérifiée, et qu’elle ne contient aucune donnée personnelle. Sans ce choix, rien n’est publié : l’activité reste sur votre ordinateur.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Au-delà d’une activité, Caramel prépare un parcours complet : plusieurs activités organisées en étapes, livrées dans un seul fichier de cours. On garde le même formulaire d’accueil, puis le commutateur « Une activité | Un parcours », juste en dessous, ouvre l’atelier de parcours à la place des tuiles. L’atelier avance en quatre temps : le cadrage, le plan, la fabrication et la livraison. Point important : rien n’est généré avant que vous ayez relu le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cadrage tient en quatre questions, sous le formulaire déjà rempli. « Pour quelle plateforme ? » : Éléa, Magistère ou Moodle — le vocabulaire suit : élèves sur Éléa, stagiaires sur Magistère, étudiants sur Moodle. « Comment se déroule-t-il ? » : en classe, à distance, ou les deux. « Quelle ampleur ? » : d’une séance de trois ou quatre activités à une séquence entière de neuf à douze. Enfin : « Tous vos élèves suivent-ils le même chemin ? » — un même chemin pour tous, ou des chemins selon les résultats ; on y revient dans un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Sous les quatre questions, « Quelle trame ? » propose des modèles de déroulé : apprendre en autonomie, réviser avant l’évaluation, s’entraîner, évaluer… et d’autres derrière « Voir les autres modèles ». On peut aussi laisser Caramel choisir. Trois boutons pour la suite : « Composer le plan », le plus courant, demande le plan à l’IA — sa flèche choisit le modèle, comme pour une activité ; « Partir du modèle » reprend tel quel le plan de la trame choisie, sans l’IA ; « Personnaliser le plan » donne le prompt à copier vers l’IA de votre choix, puis « 2/2 Coller la réponse de l’IA ». Dans tous les cas, rien n’est encore généré.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plan est une proposition, entièrement modifiable. Le titre et l’objectif se réécrivent. La « Relecture du plan » signale ce qui mérite attention, selon plusieurs repères. Chaque étape devient une section du cours : on la réordonne avec les flèches, on la supprime avec la corbeille, on en ajoute avec « Ajouter une étape ». Dans chaque étape, « Ajouter une activité ». Le volet « Consigne et palier » précise ce que l’IA doit produire. Le cadenas réserve une activité dont vous fournirez vous-même le contenu : elle ne sera pas générée. Chaque activité a sa durée en minutes, et la durée totale se recalcule.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clic sur le type d’une activité ouvre la mosaïque « Choisir le type d’activité ». En haut, les activités générées par Caramel ; en bas, les modules de la plateforme — forum, atelier, wiki, choix de groupe… — pour lesquels l’IA rédige la consigne, et dont le contenu viendra de la classe. Si on change d’avis, le bandeau « Annuler la modification » récupère l’ancien contenu : il apparaît après un changement de type ou une suppression.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Quand le plan vous convient, « Fabriquer le parcours » lance la génération des activités, une à une, sous vos yeux. Chacune passe d’« En attente » à « En cours… » puis à « Prête ». Une activité prête se relit avec « Aperçu », se corrige avec « Modifier le contenu », ou se génère à nouveau. La fabrication prend quelques minutes : le service peut être lent, et une activité en échec se relance simplement. Quand tout est prêt, « Assembler le parcours » mène à la livraison.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À la livraison, « Télécharger le parcours (.mbz) » donne un seul fichier qui contient tout le cours : sections, activités et consignes. L’import se fait par restauration, en trois étapes : dans la plateforme, créer un cours vide ou ouvrir celui à compléter ; ouvrir « Restauration » et déposer le fichier .mbz ; choisir « Fusionner avec ce cours », puis valider. S’y ajoutent la fiche de séquence et le détail des activités en Word, LibreOffice ou PDF. Enfin, « Exporter le scénario (.json) » garde le parcours pour le rouvrir plus tard dans Caramel, par « Importer un modèle » en haut de l’atelier — sans refaire les générations. Ce fichier-là ne s’importe pas dans la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cadrage, « Des chemins selon les résultats » fait du parcours un parcours différencié. Un test — un quiz ou un Test de la plateforme — oriente chaque élève, d’après sa note à la première tentative, vers l’un de deux à quatre chemins : reprendre les bases, renforcer, consolider, approfondir. On choisit leur nombre avec « Combien de chemins ? ». Chaque élève ne voit que son chemin, puis tous se retrouvent pour une étape commune, jusqu’à la fin du parcours. Les restrictions d’accès sont posées par le fichier lui-même : rien à régler à la main dans la plateforme.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le plan, sous le test, l’aiguillage montre qui va où. La barre va de zéro bonne réponse au maximum du test, et chaque case prend la couleur du chemin qu’elle ouvre. Les boutons moins et plus déplacent les seuils, une bonne réponse à la fois : les seuils se règlent en nombre de bonnes réponses, pas en pourcentage. « Ajouter un chemin », « Retirer un chemin » ou « Un seul chemin pour tous » changent la structure. Une fois en classe, pour réorienter un élève, il suffit de modifier sa note au test dans le carnet de notes.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 besoin de tout reprendre au cadrage. Dans un parcours linéaire, chaque étape qui contient un test propose « Ouvrir des chemins selon ce test ». Un clic, et l’étape suivante se scinde en chemins — trois par défaut, que « Retirer un chemin » ou « Ajouter un chemin » ajustent —, avec l’aiguillage de la diapositive précédente. L’étape d’origine devient le premier chemin ; les nouveaux reprennent ses types d’activité, sans texte : écrivez au moins leurs titres, puis le bouton de fabrication propose de « Générer les activités manquantes ». Pour revenir en arrière : « Un seul chemin pour tous » garde le chemin déjà écrit.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bouton « Voir comme un élève », en haut de l’aiguillage, montre la page du cours telle qu’elle s’affichera sur la plateforme. On choisit qui regarde — un élève ou l’enseignant —, le moment — avant le test, pendant son chemin, chemin terminé, parcours terminé — et le nombre de bonnes réponses au test, avec le curseur. On vérifie ainsi, avant tout import, qu’un élève qui a eu quatre sur huit voit bien le chemin « Consolider », et lui seul.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points pour finir le parcours. Un parcours à chemins s’importe dans un cours vide : la plateforme range les sections du fichier dans celles du cours, et des sections existantes recevraient les restrictions des chemins. Et tout parcours, linéaire ou différencié, se termine par une section « Fin du parcours », masquée jusqu’à ce que l’élève ait terminé ses activités ; elle porte une page « Bilan du parcours », composée sans IA à partir du plan : l’objectif, ce que chaque étape a travaillé et où le revoir, les mots à retenir.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points à retenir. Tout relire : l’IA peut se tromper sur un fait, une réponse ou une consigne ; l’enseignant reste l’auteur de ce qu’il donne aux élèves. Aucune donnée personnelle d’élève, ni dans les champs, ni dans les documents, ni dans un prompt envoyé à une IA externe. Le service peut être lent, surtout aux heures chargées : on patiente, ou on recommence, éventuellement avec un autre modèle. Caramel ne publie rien à votre place : c’est vous qui importez le fichier dans votre cours, et le dépôt sur la Sucrerie reste un choix. Enfin, un parcours généré est un point de départ, à adapter à votre classe.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continuer seul : Caramel s’ouvre à l’adresse caramel.forge.apps.education.fr, gratuitement et sans compte. Le bouton « Tutoriel », en haut de l’écran, reprend chaque étape pas à pas, imports compris. Caramelia, l’assistante intégrée — la bulle en bas à droite —, répond aux questions sur l’outil et peut préparer une activité ou un parcours avec vous. Et la page « Découvrir Caramel », liée en pied de page, rassemble les vidéos, les tutoriels et des activités à essayer. Ce kit correspond à Caramel 7.1.0, dans sa version du 1er octobre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aramel.forge.apps.education.fr/" TargetMode="External"/><Relationship Id="rId1" Type="http://schemas.openxmlformats.org/officeDocument/2006/relationships/image" Target="../media/image-1-1.png"/><Relationship Id="rId3" Type="http://schemas.openxmlformats.org/officeDocument/2006/relationships/image" Target="../media/image-1-2.jp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jp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jp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image" Target="../media/image-25-2.jp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slideLayout" Target="../slideLayouts/slideLayout1.xml"/><Relationship Id="rId7"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4" Type="http://schemas.openxmlformats.org/officeDocument/2006/relationships/hyperlink" Target="https://caramel.forge.apps.education.fr/" TargetMode="External"/><Relationship Id="rId1" Type="http://schemas.openxmlformats.org/officeDocument/2006/relationships/image" Target="../media/image-27-1.png"/><Relationship Id="rId2" Type="http://schemas.openxmlformats.org/officeDocument/2006/relationships/image" Target="../media/image-27-2.jpg"/><Relationship Id="rId3" Type="http://schemas.openxmlformats.org/officeDocument/2006/relationships/image" Target="../media/image-27-3.png"/><Relationship Id="rId5" Type="http://schemas.openxmlformats.org/officeDocument/2006/relationships/image" Target="../media/image-27-4.png"/><Relationship Id="rId6" Type="http://schemas.openxmlformats.org/officeDocument/2006/relationships/image" Target="../media/image-27-5.png"/><Relationship Id="rId7" Type="http://schemas.openxmlformats.org/officeDocument/2006/relationships/image" Target="../media/image-27-6.png"/><Relationship Id="rId8" Type="http://schemas.openxmlformats.org/officeDocument/2006/relationships/image" Target="../media/image-27-7.png"/><Relationship Id="rId9" Type="http://schemas.openxmlformats.org/officeDocument/2006/relationships/image" Target="../media/image-27-8.png"/><Relationship Id="rId10" Type="http://schemas.openxmlformats.org/officeDocument/2006/relationships/slideLayout" Target="../slideLayouts/slideLayout1.xml"/><Relationship Id="rId11"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var/folders/b7/tkzbyvzx72qcg9wb0t1jybvm0000gn/T/kit-formation-xg52uF/logo-caramel.png">    </p:cNvPr>
          <p:cNvPicPr>
            <a:picLocks noChangeAspect="1"/>
          </p:cNvPicPr>
          <p:nvPr/>
        </p:nvPicPr>
        <p:blipFill>
          <a:blip r:embed="rId1"/>
          <a:stretch>
            <a:fillRect/>
          </a:stretch>
        </p:blipFill>
        <p:spPr>
          <a:xfrm>
            <a:off x="777240" y="960120"/>
            <a:ext cx="960120" cy="960120"/>
          </a:xfrm>
          <a:prstGeom prst="rect">
            <a:avLst/>
          </a:prstGeom>
        </p:spPr>
      </p:pic>
      <p:sp>
        <p:nvSpPr>
          <p:cNvPr id="3" name="Text 0"/>
          <p:cNvSpPr txBox="1"/>
          <p:nvPr/>
        </p:nvSpPr>
        <p:spPr>
          <a:xfrm>
            <a:off x="777240" y="2103120"/>
            <a:ext cx="5303520" cy="1371600"/>
          </a:xfrm>
          <a:prstGeom prst="rect">
            <a:avLst/>
          </a:prstGeom>
          <a:noFill/>
          <a:ln/>
        </p:spPr>
        <p:txBody>
          <a:bodyPr wrap="square" lIns="0" tIns="0" rIns="0" bIns="0" rtlCol="0" anchor="t"/>
          <a:lstStyle/>
          <a:p>
            <a:pPr indent="0" marL="0">
              <a:lnSpc>
                <a:spcPct val="95000"/>
              </a:lnSpc>
              <a:buNone/>
            </a:pPr>
            <a:r>
              <a:rPr lang="en-US" sz="4400" b="1" dirty="0">
                <a:solidFill>
                  <a:srgbClr val="1D1D1F"/>
                </a:solidFill>
                <a:latin typeface="Arial" pitchFamily="34" charset="0"/>
                <a:ea typeface="Arial" pitchFamily="34" charset="-122"/>
                <a:cs typeface="Arial" pitchFamily="34" charset="-120"/>
              </a:rPr>
              <a:t>Prendre en main Caramel</a:t>
            </a:r>
            <a:endParaRPr lang="en-US" sz="4400" dirty="0"/>
          </a:p>
        </p:txBody>
      </p:sp>
      <p:sp>
        <p:nvSpPr>
          <p:cNvPr id="4" name="Text 1"/>
          <p:cNvSpPr txBox="1"/>
          <p:nvPr/>
        </p:nvSpPr>
        <p:spPr>
          <a:xfrm>
            <a:off x="777240" y="3520440"/>
            <a:ext cx="5029200" cy="777240"/>
          </a:xfrm>
          <a:prstGeom prst="rect">
            <a:avLst/>
          </a:prstGeom>
          <a:noFill/>
          <a:ln/>
        </p:spPr>
        <p:txBody>
          <a:bodyPr wrap="square" lIns="0" tIns="0" rIns="0" bIns="0" rtlCol="0" anchor="t"/>
          <a:lstStyle/>
          <a:p>
            <a:pPr indent="0" marL="0">
              <a:lnSpc>
                <a:spcPct val="108000"/>
              </a:lnSpc>
              <a:buNone/>
            </a:pPr>
            <a:r>
              <a:rPr lang="en-US" sz="2000" dirty="0">
                <a:solidFill>
                  <a:srgbClr val="4A4A4F"/>
                </a:solidFill>
                <a:latin typeface="Arial" pitchFamily="34" charset="0"/>
                <a:ea typeface="Arial" pitchFamily="34" charset="-122"/>
                <a:cs typeface="Arial" pitchFamily="34" charset="-120"/>
              </a:rPr>
              <a:t>Kit de formation rapide : générer une activité, concevoir un parcours</a:t>
            </a:r>
            <a:endParaRPr lang="en-US" sz="2000" dirty="0"/>
          </a:p>
        </p:txBody>
      </p:sp>
      <p:sp>
        <p:nvSpPr>
          <p:cNvPr id="5" name="Text 2"/>
          <p:cNvSpPr txBox="1"/>
          <p:nvPr/>
        </p:nvSpPr>
        <p:spPr>
          <a:xfrm>
            <a:off x="777240" y="4389120"/>
            <a:ext cx="5029200" cy="548640"/>
          </a:xfrm>
          <a:prstGeom prst="rect">
            <a:avLst/>
          </a:prstGeom>
          <a:noFill/>
          <a:ln/>
        </p:spPr>
        <p:txBody>
          <a:bodyPr wrap="square" lIns="0" tIns="0" rIns="0" bIns="0" rtlCol="0" anchor="t"/>
          <a:lstStyle/>
          <a:p>
            <a:pPr indent="0" marL="0">
              <a:buNone/>
            </a:pPr>
            <a:r>
              <a:rPr lang="en-US" sz="1300" dirty="0">
                <a:solidFill>
                  <a:srgbClr val="6E6E73"/>
                </a:solidFill>
                <a:latin typeface="Arial" pitchFamily="34" charset="0"/>
                <a:ea typeface="Arial" pitchFamily="34" charset="-122"/>
                <a:cs typeface="Arial" pitchFamily="34" charset="-120"/>
              </a:rPr>
              <a:t>Pour les enseignants qui découvrent l’outil, et les formateurs qui le présentent. Éléa, Magistère, Moodle.</a:t>
            </a:r>
            <a:endParaRPr lang="en-US" sz="1300" dirty="0"/>
          </a:p>
        </p:txBody>
      </p:sp>
      <p:sp>
        <p:nvSpPr>
          <p:cNvPr id="6" name="Text 3"/>
          <p:cNvSpPr txBox="1"/>
          <p:nvPr/>
        </p:nvSpPr>
        <p:spPr>
          <a:xfrm>
            <a:off x="777240" y="5120640"/>
            <a:ext cx="4937760" cy="320040"/>
          </a:xfrm>
          <a:prstGeom prst="rect">
            <a:avLst/>
          </a:prstGeom>
          <a:noFill/>
          <a:ln/>
        </p:spPr>
        <p:txBody>
          <a:bodyPr wrap="square" lIns="0" tIns="0" rIns="0" bIns="0" rtlCol="0" anchor="t"/>
          <a:lstStyle/>
          <a:p>
            <a:pPr indent="0" marL="0">
              <a:buNone/>
            </a:pPr>
            <a:r>
              <a:rPr lang="en-US" sz="1600" b="1" u="sng" dirty="0">
                <a:solidFill>
                  <a:srgbClr val="0056B3"/>
                </a:solidFill>
                <a:latin typeface="Arial" pitchFamily="34" charset="0"/>
                <a:ea typeface="Arial" pitchFamily="34" charset="-122"/>
                <a:cs typeface="Arial" pitchFamily="34" charset="-120"/>
                <a:hlinkClick r:id="rId2" invalidUrl="" action="" tgtFrame="" tooltip="https://caramel.forge.apps.education.fr/" history="1" highlightClick="0" endSnd="0">
                  <a:extLst>
                    <a:ext uri="{A12FA001-AC4F-418D-AE19-62706E023703}">
                      <ahyp:hlinkClr xmlns:ahyp="http://schemas.microsoft.com/office/drawing/2018/hyperlinkcolor" val="tx"/>
                    </a:ext>
                  </a:extLst>
                </a:hlinkClick>
              </a:rPr>
              <a:t>caramel.forge.apps.education.fr</a:t>
            </a:r>
            <a:endParaRPr lang="en-US" sz="1600" dirty="0"/>
          </a:p>
        </p:txBody>
      </p:sp>
      <p:sp>
        <p:nvSpPr>
          <p:cNvPr id="7" name="Text 4"/>
          <p:cNvSpPr txBox="1"/>
          <p:nvPr/>
        </p:nvSpPr>
        <p:spPr>
          <a:xfrm>
            <a:off x="777240" y="5577840"/>
            <a:ext cx="5120640" cy="274320"/>
          </a:xfrm>
          <a:prstGeom prst="rect">
            <a:avLst/>
          </a:prstGeom>
          <a:noFill/>
          <a:ln/>
        </p:spPr>
        <p:txBody>
          <a:bodyPr wrap="square" lIns="0" tIns="0" rIns="0" bIns="0" rtlCol="0" anchor="t"/>
          <a:lstStyle/>
          <a:p>
            <a:pPr indent="0" marL="0">
              <a:buNone/>
            </a:pPr>
            <a:r>
              <a:rPr lang="en-US" sz="1200" dirty="0">
                <a:solidFill>
                  <a:srgbClr val="6E6E73"/>
                </a:solidFill>
                <a:latin typeface="Arial" pitchFamily="34" charset="0"/>
                <a:ea typeface="Arial" pitchFamily="34" charset="-122"/>
                <a:cs typeface="Arial" pitchFamily="34" charset="-120"/>
              </a:rPr>
              <a:t>Kit de formation · Caramel v7.1.0 · 1er octobre 2026</a:t>
            </a:r>
            <a:endParaRPr lang="en-US" sz="1200" dirty="0"/>
          </a:p>
        </p:txBody>
      </p:sp>
      <p:sp>
        <p:nvSpPr>
          <p:cNvPr id="8" name="Shape 5"/>
          <p:cNvSpPr/>
          <p:nvPr/>
        </p:nvSpPr>
        <p:spPr>
          <a:xfrm>
            <a:off x="6099048" y="1344168"/>
            <a:ext cx="5678424" cy="3603879"/>
          </a:xfrm>
          <a:prstGeom prst="roundRect">
            <a:avLst>
              <a:gd name="adj" fmla="val 304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9" name="Image 1" descr="/var/folders/b7/tkzbyvzx72qcg9wb0t1jybvm0000gn/T/kit-formation-xg52uF/accueil.jpg">    </p:cNvPr>
          <p:cNvPicPr>
            <a:picLocks noChangeAspect="1"/>
          </p:cNvPicPr>
          <p:nvPr/>
        </p:nvPicPr>
        <p:blipFill>
          <a:blip r:embed="rId3"/>
          <a:stretch>
            <a:fillRect/>
          </a:stretch>
        </p:blipFill>
        <p:spPr>
          <a:xfrm>
            <a:off x="6172200" y="1417320"/>
            <a:ext cx="5532120" cy="34575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Au programme</a:t>
            </a:r>
            <a:endParaRPr lang="en-US" sz="3000" dirty="0"/>
          </a:p>
        </p:txBody>
      </p:sp>
      <p:sp>
        <p:nvSpPr>
          <p:cNvPr id="3" name="Shape 1"/>
          <p:cNvSpPr/>
          <p:nvPr/>
        </p:nvSpPr>
        <p:spPr>
          <a:xfrm>
            <a:off x="548640" y="1600200"/>
            <a:ext cx="5364328" cy="1737360"/>
          </a:xfrm>
          <a:prstGeom prst="roundRect">
            <a:avLst>
              <a:gd name="adj" fmla="val 84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4" name="Shape 2"/>
          <p:cNvSpPr/>
          <p:nvPr/>
        </p:nvSpPr>
        <p:spPr>
          <a:xfrm>
            <a:off x="914400" y="2011680"/>
            <a:ext cx="566928" cy="566928"/>
          </a:xfrm>
          <a:prstGeom prst="ellipse">
            <a:avLst/>
          </a:prstGeom>
          <a:solidFill>
            <a:srgbClr val="007AFF"/>
          </a:solidFill>
          <a:ln/>
        </p:spPr>
      </p:sp>
      <p:sp>
        <p:nvSpPr>
          <p:cNvPr id="5" name="Text 3"/>
          <p:cNvSpPr txBox="1"/>
          <p:nvPr/>
        </p:nvSpPr>
        <p:spPr>
          <a:xfrm>
            <a:off x="914400" y="20116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txBox="1"/>
          <p:nvPr/>
        </p:nvSpPr>
        <p:spPr>
          <a:xfrm>
            <a:off x="1737360" y="1947672"/>
            <a:ext cx="3901288" cy="411480"/>
          </a:xfrm>
          <a:prstGeom prst="rect">
            <a:avLst/>
          </a:prstGeom>
          <a:noFill/>
          <a:ln/>
        </p:spPr>
        <p:txBody>
          <a:bodyPr wrap="square" lIns="0" tIns="0" rIns="0" bIns="0" rtlCol="0" anchor="t"/>
          <a:lstStyle/>
          <a:p>
            <a:pPr indent="0" marL="0">
              <a:buNone/>
            </a:pPr>
            <a:r>
              <a:rPr lang="en-US" sz="2100" b="1" dirty="0">
                <a:solidFill>
                  <a:srgbClr val="1D1D1F"/>
                </a:solidFill>
                <a:latin typeface="Arial" pitchFamily="34" charset="0"/>
                <a:ea typeface="Arial" pitchFamily="34" charset="-122"/>
                <a:cs typeface="Arial" pitchFamily="34" charset="-120"/>
              </a:rPr>
              <a:t>Générer une activité</a:t>
            </a:r>
            <a:endParaRPr lang="en-US" sz="2100" dirty="0"/>
          </a:p>
        </p:txBody>
      </p:sp>
      <p:sp>
        <p:nvSpPr>
          <p:cNvPr id="7" name="Text 5"/>
          <p:cNvSpPr txBox="1"/>
          <p:nvPr/>
        </p:nvSpPr>
        <p:spPr>
          <a:xfrm>
            <a:off x="1737360" y="2404872"/>
            <a:ext cx="3901288" cy="822960"/>
          </a:xfrm>
          <a:prstGeom prst="rect">
            <a:avLst/>
          </a:prstGeom>
          <a:noFill/>
          <a:ln/>
        </p:spPr>
        <p:txBody>
          <a:bodyPr wrap="square" lIns="0" tIns="0" rIns="0" bIns="0" rtlCol="0" anchor="t"/>
          <a:lstStyle/>
          <a:p>
            <a:pPr indent="0" marL="0">
              <a:buNone/>
            </a:pPr>
            <a:r>
              <a:rPr lang="en-US" sz="1450" dirty="0">
                <a:solidFill>
                  <a:srgbClr val="4A4A4F"/>
                </a:solidFill>
                <a:latin typeface="Arial" pitchFamily="34" charset="0"/>
                <a:ea typeface="Arial" pitchFamily="34" charset="-122"/>
                <a:cs typeface="Arial" pitchFamily="34" charset="-120"/>
              </a:rPr>
              <a:t>Décrire son besoin, choisir le type d’activité, générer, relire, exporter, importer dans sa plateforme.</a:t>
            </a:r>
            <a:endParaRPr lang="en-US" sz="1450" dirty="0"/>
          </a:p>
        </p:txBody>
      </p:sp>
      <p:sp>
        <p:nvSpPr>
          <p:cNvPr id="8" name="Shape 6"/>
          <p:cNvSpPr/>
          <p:nvPr/>
        </p:nvSpPr>
        <p:spPr>
          <a:xfrm>
            <a:off x="6278728" y="1600200"/>
            <a:ext cx="5364328" cy="1737360"/>
          </a:xfrm>
          <a:prstGeom prst="roundRect">
            <a:avLst>
              <a:gd name="adj" fmla="val 84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9" name="Shape 7"/>
          <p:cNvSpPr/>
          <p:nvPr/>
        </p:nvSpPr>
        <p:spPr>
          <a:xfrm>
            <a:off x="6644488" y="2011680"/>
            <a:ext cx="566928" cy="566928"/>
          </a:xfrm>
          <a:prstGeom prst="ellipse">
            <a:avLst/>
          </a:prstGeom>
          <a:solidFill>
            <a:srgbClr val="007AFF"/>
          </a:solidFill>
          <a:ln/>
        </p:spPr>
      </p:sp>
      <p:sp>
        <p:nvSpPr>
          <p:cNvPr id="10" name="Text 8"/>
          <p:cNvSpPr txBox="1"/>
          <p:nvPr/>
        </p:nvSpPr>
        <p:spPr>
          <a:xfrm>
            <a:off x="6644488" y="201168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1" name="Text 9"/>
          <p:cNvSpPr txBox="1"/>
          <p:nvPr/>
        </p:nvSpPr>
        <p:spPr>
          <a:xfrm>
            <a:off x="7467448" y="1947672"/>
            <a:ext cx="3901288" cy="411480"/>
          </a:xfrm>
          <a:prstGeom prst="rect">
            <a:avLst/>
          </a:prstGeom>
          <a:noFill/>
          <a:ln/>
        </p:spPr>
        <p:txBody>
          <a:bodyPr wrap="square" lIns="0" tIns="0" rIns="0" bIns="0" rtlCol="0" anchor="t"/>
          <a:lstStyle/>
          <a:p>
            <a:pPr indent="0" marL="0">
              <a:buNone/>
            </a:pPr>
            <a:r>
              <a:rPr lang="en-US" sz="2100" b="1" dirty="0">
                <a:solidFill>
                  <a:srgbClr val="1D1D1F"/>
                </a:solidFill>
                <a:latin typeface="Arial" pitchFamily="34" charset="0"/>
                <a:ea typeface="Arial" pitchFamily="34" charset="-122"/>
                <a:cs typeface="Arial" pitchFamily="34" charset="-120"/>
              </a:rPr>
              <a:t>Concevoir un parcours</a:t>
            </a:r>
            <a:endParaRPr lang="en-US" sz="2100" dirty="0"/>
          </a:p>
        </p:txBody>
      </p:sp>
      <p:sp>
        <p:nvSpPr>
          <p:cNvPr id="12" name="Text 10"/>
          <p:cNvSpPr txBox="1"/>
          <p:nvPr/>
        </p:nvSpPr>
        <p:spPr>
          <a:xfrm>
            <a:off x="7467448" y="2404872"/>
            <a:ext cx="3901288" cy="822960"/>
          </a:xfrm>
          <a:prstGeom prst="rect">
            <a:avLst/>
          </a:prstGeom>
          <a:noFill/>
          <a:ln/>
        </p:spPr>
        <p:txBody>
          <a:bodyPr wrap="square" lIns="0" tIns="0" rIns="0" bIns="0" rtlCol="0" anchor="t"/>
          <a:lstStyle/>
          <a:p>
            <a:pPr indent="0" marL="0">
              <a:buNone/>
            </a:pPr>
            <a:r>
              <a:rPr lang="en-US" sz="1450" dirty="0">
                <a:solidFill>
                  <a:srgbClr val="4A4A4F"/>
                </a:solidFill>
                <a:latin typeface="Arial" pitchFamily="34" charset="0"/>
                <a:ea typeface="Arial" pitchFamily="34" charset="-122"/>
                <a:cs typeface="Arial" pitchFamily="34" charset="-120"/>
              </a:rPr>
              <a:t>Un cours entier en quatre temps : cadrage, plan, fabrication, livraison. Linéaire ou différencié.</a:t>
            </a:r>
            <a:endParaRPr lang="en-US" sz="1450" dirty="0"/>
          </a:p>
        </p:txBody>
      </p:sp>
      <p:sp>
        <p:nvSpPr>
          <p:cNvPr id="13" name="Shape 11"/>
          <p:cNvSpPr/>
          <p:nvPr/>
        </p:nvSpPr>
        <p:spPr>
          <a:xfrm>
            <a:off x="548640" y="3611880"/>
            <a:ext cx="5364328" cy="1737360"/>
          </a:xfrm>
          <a:prstGeom prst="roundRect">
            <a:avLst>
              <a:gd name="adj" fmla="val 84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4" name="Shape 12"/>
          <p:cNvSpPr/>
          <p:nvPr/>
        </p:nvSpPr>
        <p:spPr>
          <a:xfrm>
            <a:off x="914400" y="4023360"/>
            <a:ext cx="566928" cy="566928"/>
          </a:xfrm>
          <a:prstGeom prst="ellipse">
            <a:avLst/>
          </a:prstGeom>
          <a:solidFill>
            <a:srgbClr val="007AFF"/>
          </a:solidFill>
          <a:ln/>
        </p:spPr>
      </p:sp>
      <p:sp>
        <p:nvSpPr>
          <p:cNvPr id="15" name="Text 13"/>
          <p:cNvSpPr txBox="1"/>
          <p:nvPr/>
        </p:nvSpPr>
        <p:spPr>
          <a:xfrm>
            <a:off x="914400" y="4023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6" name="Text 14"/>
          <p:cNvSpPr txBox="1"/>
          <p:nvPr/>
        </p:nvSpPr>
        <p:spPr>
          <a:xfrm>
            <a:off x="1737360" y="3959352"/>
            <a:ext cx="3901288" cy="411480"/>
          </a:xfrm>
          <a:prstGeom prst="rect">
            <a:avLst/>
          </a:prstGeom>
          <a:noFill/>
          <a:ln/>
        </p:spPr>
        <p:txBody>
          <a:bodyPr wrap="square" lIns="0" tIns="0" rIns="0" bIns="0" rtlCol="0" anchor="t"/>
          <a:lstStyle/>
          <a:p>
            <a:pPr indent="0" marL="0">
              <a:buNone/>
            </a:pPr>
            <a:r>
              <a:rPr lang="en-US" sz="2100" b="1" dirty="0">
                <a:solidFill>
                  <a:srgbClr val="1D1D1F"/>
                </a:solidFill>
                <a:latin typeface="Arial" pitchFamily="34" charset="0"/>
                <a:ea typeface="Arial" pitchFamily="34" charset="-122"/>
                <a:cs typeface="Arial" pitchFamily="34" charset="-120"/>
              </a:rPr>
              <a:t>À savoir</a:t>
            </a:r>
            <a:endParaRPr lang="en-US" sz="2100" dirty="0"/>
          </a:p>
        </p:txBody>
      </p:sp>
      <p:sp>
        <p:nvSpPr>
          <p:cNvPr id="17" name="Text 15"/>
          <p:cNvSpPr txBox="1"/>
          <p:nvPr/>
        </p:nvSpPr>
        <p:spPr>
          <a:xfrm>
            <a:off x="1737360" y="4416552"/>
            <a:ext cx="3901288" cy="822960"/>
          </a:xfrm>
          <a:prstGeom prst="rect">
            <a:avLst/>
          </a:prstGeom>
          <a:noFill/>
          <a:ln/>
        </p:spPr>
        <p:txBody>
          <a:bodyPr wrap="square" lIns="0" tIns="0" rIns="0" bIns="0" rtlCol="0" anchor="t"/>
          <a:lstStyle/>
          <a:p>
            <a:pPr indent="0" marL="0">
              <a:buNone/>
            </a:pPr>
            <a:r>
              <a:rPr lang="en-US" sz="1450" dirty="0">
                <a:solidFill>
                  <a:srgbClr val="4A4A4F"/>
                </a:solidFill>
                <a:latin typeface="Arial" pitchFamily="34" charset="0"/>
                <a:ea typeface="Arial" pitchFamily="34" charset="-122"/>
                <a:cs typeface="Arial" pitchFamily="34" charset="-120"/>
              </a:rPr>
              <a:t>Relire, protéger les élèves, patienter ou recommencer : les bons réflexes.</a:t>
            </a:r>
            <a:endParaRPr lang="en-US" sz="1450" dirty="0"/>
          </a:p>
        </p:txBody>
      </p:sp>
      <p:sp>
        <p:nvSpPr>
          <p:cNvPr id="18" name="Shape 16"/>
          <p:cNvSpPr/>
          <p:nvPr/>
        </p:nvSpPr>
        <p:spPr>
          <a:xfrm>
            <a:off x="6278728" y="3611880"/>
            <a:ext cx="5364328" cy="1737360"/>
          </a:xfrm>
          <a:prstGeom prst="roundRect">
            <a:avLst>
              <a:gd name="adj" fmla="val 84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9" name="Shape 17"/>
          <p:cNvSpPr/>
          <p:nvPr/>
        </p:nvSpPr>
        <p:spPr>
          <a:xfrm>
            <a:off x="6644488" y="4023360"/>
            <a:ext cx="566928" cy="566928"/>
          </a:xfrm>
          <a:prstGeom prst="ellipse">
            <a:avLst/>
          </a:prstGeom>
          <a:solidFill>
            <a:srgbClr val="007AFF"/>
          </a:solidFill>
          <a:ln/>
        </p:spPr>
      </p:sp>
      <p:sp>
        <p:nvSpPr>
          <p:cNvPr id="20" name="Text 18"/>
          <p:cNvSpPr txBox="1"/>
          <p:nvPr/>
        </p:nvSpPr>
        <p:spPr>
          <a:xfrm>
            <a:off x="6644488" y="40233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1" name="Text 19"/>
          <p:cNvSpPr txBox="1"/>
          <p:nvPr/>
        </p:nvSpPr>
        <p:spPr>
          <a:xfrm>
            <a:off x="7467448" y="3959352"/>
            <a:ext cx="3901288" cy="411480"/>
          </a:xfrm>
          <a:prstGeom prst="rect">
            <a:avLst/>
          </a:prstGeom>
          <a:noFill/>
          <a:ln/>
        </p:spPr>
        <p:txBody>
          <a:bodyPr wrap="square" lIns="0" tIns="0" rIns="0" bIns="0" rtlCol="0" anchor="t"/>
          <a:lstStyle/>
          <a:p>
            <a:pPr indent="0" marL="0">
              <a:buNone/>
            </a:pPr>
            <a:r>
              <a:rPr lang="en-US" sz="2100" b="1" dirty="0">
                <a:solidFill>
                  <a:srgbClr val="1D1D1F"/>
                </a:solidFill>
                <a:latin typeface="Arial" pitchFamily="34" charset="0"/>
                <a:ea typeface="Arial" pitchFamily="34" charset="-122"/>
                <a:cs typeface="Arial" pitchFamily="34" charset="-120"/>
              </a:rPr>
              <a:t>Pour continuer</a:t>
            </a:r>
            <a:endParaRPr lang="en-US" sz="2100" dirty="0"/>
          </a:p>
        </p:txBody>
      </p:sp>
      <p:sp>
        <p:nvSpPr>
          <p:cNvPr id="22" name="Text 20"/>
          <p:cNvSpPr txBox="1"/>
          <p:nvPr/>
        </p:nvSpPr>
        <p:spPr>
          <a:xfrm>
            <a:off x="7467448" y="4416552"/>
            <a:ext cx="3901288" cy="822960"/>
          </a:xfrm>
          <a:prstGeom prst="rect">
            <a:avLst/>
          </a:prstGeom>
          <a:noFill/>
          <a:ln/>
        </p:spPr>
        <p:txBody>
          <a:bodyPr wrap="square" lIns="0" tIns="0" rIns="0" bIns="0" rtlCol="0" anchor="t"/>
          <a:lstStyle/>
          <a:p>
            <a:pPr indent="0" marL="0">
              <a:buNone/>
            </a:pPr>
            <a:r>
              <a:rPr lang="en-US" sz="1450" dirty="0">
                <a:solidFill>
                  <a:srgbClr val="4A4A4F"/>
                </a:solidFill>
                <a:latin typeface="Arial" pitchFamily="34" charset="0"/>
                <a:ea typeface="Arial" pitchFamily="34" charset="-122"/>
                <a:cs typeface="Arial" pitchFamily="34" charset="-120"/>
              </a:rPr>
              <a:t>Le tutoriel intégré, l’assistante Caramelia, les vidéos de la page « Découvrir Caramel ».</a:t>
            </a:r>
            <a:endParaRPr lang="en-US" sz="1450" dirty="0"/>
          </a:p>
        </p:txBody>
      </p:sp>
      <p:sp>
        <p:nvSpPr>
          <p:cNvPr id="23" name="Text 21"/>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Pour qui ? </a:t>
            </a:r>
            <a:pPr indent="0" marL="0">
              <a:buNone/>
            </a:pPr>
            <a:r>
              <a:rPr lang="en-US" sz="1400" dirty="0">
                <a:solidFill>
                  <a:srgbClr val="4A4A4F"/>
                </a:solidFill>
                <a:latin typeface="Arial" pitchFamily="34" charset="0"/>
                <a:ea typeface="Arial" pitchFamily="34" charset="-122"/>
                <a:cs typeface="Arial" pitchFamily="34" charset="-120"/>
              </a:rPr>
              <a:t>les enseignants du second degré sur Éléa, les formateurs sur Magistère, et plus largement tout utilisateur de Moodle.</a:t>
            </a:r>
            <a:endParaRPr lang="en-US" sz="1400" dirty="0"/>
          </a:p>
        </p:txBody>
      </p:sp>
      <p:sp>
        <p:nvSpPr>
          <p:cNvPr id="24" name="Text 22"/>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25" name="Text 23"/>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 / 27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Décrivez votre besoin en deux champs</a:t>
            </a:r>
            <a:endParaRPr lang="en-US" sz="3000" dirty="0"/>
          </a:p>
        </p:txBody>
      </p:sp>
      <p:sp>
        <p:nvSpPr>
          <p:cNvPr id="4" name="Shape 2"/>
          <p:cNvSpPr/>
          <p:nvPr/>
        </p:nvSpPr>
        <p:spPr>
          <a:xfrm>
            <a:off x="1725016" y="1435608"/>
            <a:ext cx="8741664" cy="2333823"/>
          </a:xfrm>
          <a:prstGeom prst="roundRect">
            <a:avLst>
              <a:gd name="adj" fmla="val 470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rapide.jpg">    </p:cNvPr>
          <p:cNvPicPr>
            <a:picLocks noChangeAspect="1"/>
          </p:cNvPicPr>
          <p:nvPr/>
        </p:nvPicPr>
        <p:blipFill>
          <a:blip r:embed="rId1"/>
          <a:stretch>
            <a:fillRect/>
          </a:stretch>
        </p:blipFill>
        <p:spPr>
          <a:xfrm>
            <a:off x="1798168" y="1508760"/>
            <a:ext cx="8595360" cy="2187519"/>
          </a:xfrm>
          <a:prstGeom prst="rect">
            <a:avLst/>
          </a:prstGeom>
        </p:spPr>
      </p:pic>
      <p:sp>
        <p:nvSpPr>
          <p:cNvPr id="6" name="Shape 3"/>
          <p:cNvSpPr/>
          <p:nvPr/>
        </p:nvSpPr>
        <p:spPr>
          <a:xfrm>
            <a:off x="548640" y="4023360"/>
            <a:ext cx="512064" cy="512064"/>
          </a:xfrm>
          <a:prstGeom prst="roundRect">
            <a:avLst>
              <a:gd name="adj" fmla="val 28000"/>
            </a:avLst>
          </a:prstGeom>
          <a:solidFill>
            <a:srgbClr val="FFECD4"/>
          </a:solidFill>
          <a:ln/>
        </p:spPr>
      </p:sp>
      <p:pic>
        <p:nvPicPr>
          <p:cNvPr id="7" name="Image 1" descr="/var/folders/b7/tkzbyvzx72qcg9wb0t1jybvm0000gn/T/kit-formation-xg52uF/icone-0.png">    </p:cNvPr>
          <p:cNvPicPr>
            <a:picLocks noChangeAspect="1"/>
          </p:cNvPicPr>
          <p:nvPr/>
        </p:nvPicPr>
        <p:blipFill>
          <a:blip r:embed="rId2"/>
          <a:stretch>
            <a:fillRect/>
          </a:stretch>
        </p:blipFill>
        <p:spPr>
          <a:xfrm>
            <a:off x="671535" y="4146255"/>
            <a:ext cx="266273" cy="266273"/>
          </a:xfrm>
          <a:prstGeom prst="rect">
            <a:avLst/>
          </a:prstGeom>
        </p:spPr>
      </p:pic>
      <p:sp>
        <p:nvSpPr>
          <p:cNvPr id="8" name="Text 4"/>
          <p:cNvSpPr txBox="1"/>
          <p:nvPr/>
        </p:nvSpPr>
        <p:spPr>
          <a:xfrm>
            <a:off x="1207008" y="4005072"/>
            <a:ext cx="2856890" cy="54864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 Qui êtes-vous ? »</a:t>
            </a:r>
            <a:endParaRPr lang="en-US" sz="1450" dirty="0"/>
          </a:p>
        </p:txBody>
      </p:sp>
      <p:sp>
        <p:nvSpPr>
          <p:cNvPr id="9" name="Text 5"/>
          <p:cNvSpPr txBox="1"/>
          <p:nvPr/>
        </p:nvSpPr>
        <p:spPr>
          <a:xfrm>
            <a:off x="548640" y="4681728"/>
            <a:ext cx="3515258" cy="86868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Votre rôle, en quelques mots : « Professeur de mathématiques », « Formateur académique ».</a:t>
            </a:r>
            <a:endParaRPr lang="en-US" sz="1400" dirty="0"/>
          </a:p>
        </p:txBody>
      </p:sp>
      <p:sp>
        <p:nvSpPr>
          <p:cNvPr id="10" name="Shape 6"/>
          <p:cNvSpPr/>
          <p:nvPr/>
        </p:nvSpPr>
        <p:spPr>
          <a:xfrm>
            <a:off x="4338218" y="4023360"/>
            <a:ext cx="512064" cy="512064"/>
          </a:xfrm>
          <a:prstGeom prst="roundRect">
            <a:avLst>
              <a:gd name="adj" fmla="val 28000"/>
            </a:avLst>
          </a:prstGeom>
          <a:solidFill>
            <a:srgbClr val="FFECD4"/>
          </a:solidFill>
          <a:ln/>
        </p:spPr>
      </p:sp>
      <p:pic>
        <p:nvPicPr>
          <p:cNvPr id="11" name="Image 2" descr="/var/folders/b7/tkzbyvzx72qcg9wb0t1jybvm0000gn/T/kit-formation-xg52uF/icone-1.png">    </p:cNvPr>
          <p:cNvPicPr>
            <a:picLocks noChangeAspect="1"/>
          </p:cNvPicPr>
          <p:nvPr/>
        </p:nvPicPr>
        <p:blipFill>
          <a:blip r:embed="rId3"/>
          <a:stretch>
            <a:fillRect/>
          </a:stretch>
        </p:blipFill>
        <p:spPr>
          <a:xfrm>
            <a:off x="4461114" y="4146255"/>
            <a:ext cx="266273" cy="266273"/>
          </a:xfrm>
          <a:prstGeom prst="rect">
            <a:avLst/>
          </a:prstGeom>
        </p:spPr>
      </p:pic>
      <p:sp>
        <p:nvSpPr>
          <p:cNvPr id="12" name="Text 7"/>
          <p:cNvSpPr txBox="1"/>
          <p:nvPr/>
        </p:nvSpPr>
        <p:spPr>
          <a:xfrm>
            <a:off x="4996586" y="4005072"/>
            <a:ext cx="2856890" cy="54864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 Que souhaitez-vous aborder ? »</a:t>
            </a:r>
            <a:endParaRPr lang="en-US" sz="1450" dirty="0"/>
          </a:p>
        </p:txBody>
      </p:sp>
      <p:sp>
        <p:nvSpPr>
          <p:cNvPr id="13" name="Text 8"/>
          <p:cNvSpPr txBox="1"/>
          <p:nvPr/>
        </p:nvSpPr>
        <p:spPr>
          <a:xfrm>
            <a:off x="4338218" y="4681728"/>
            <a:ext cx="3515258" cy="86868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Le thème, le niveau, vos contraintes. Plus c’est précis, meilleure est l’activité.</a:t>
            </a:r>
            <a:endParaRPr lang="en-US" sz="1400" dirty="0"/>
          </a:p>
        </p:txBody>
      </p:sp>
      <p:sp>
        <p:nvSpPr>
          <p:cNvPr id="14" name="Shape 9"/>
          <p:cNvSpPr/>
          <p:nvPr/>
        </p:nvSpPr>
        <p:spPr>
          <a:xfrm>
            <a:off x="8127797" y="4023360"/>
            <a:ext cx="512064" cy="512064"/>
          </a:xfrm>
          <a:prstGeom prst="roundRect">
            <a:avLst>
              <a:gd name="adj" fmla="val 28000"/>
            </a:avLst>
          </a:prstGeom>
          <a:solidFill>
            <a:srgbClr val="FFECD4"/>
          </a:solidFill>
          <a:ln/>
        </p:spPr>
      </p:sp>
      <p:pic>
        <p:nvPicPr>
          <p:cNvPr id="15" name="Image 3" descr="/var/folders/b7/tkzbyvzx72qcg9wb0t1jybvm0000gn/T/kit-formation-xg52uF/icone-2.png">    </p:cNvPr>
          <p:cNvPicPr>
            <a:picLocks noChangeAspect="1"/>
          </p:cNvPicPr>
          <p:nvPr/>
        </p:nvPicPr>
        <p:blipFill>
          <a:blip r:embed="rId4"/>
          <a:stretch>
            <a:fillRect/>
          </a:stretch>
        </p:blipFill>
        <p:spPr>
          <a:xfrm>
            <a:off x="8250692" y="4146255"/>
            <a:ext cx="266273" cy="266273"/>
          </a:xfrm>
          <a:prstGeom prst="rect">
            <a:avLst/>
          </a:prstGeom>
        </p:spPr>
      </p:pic>
      <p:sp>
        <p:nvSpPr>
          <p:cNvPr id="16" name="Text 10"/>
          <p:cNvSpPr txBox="1"/>
          <p:nvPr/>
        </p:nvSpPr>
        <p:spPr>
          <a:xfrm>
            <a:off x="8786165" y="4005072"/>
            <a:ext cx="2856890" cy="548640"/>
          </a:xfrm>
          <a:prstGeom prst="rect">
            <a:avLst/>
          </a:prstGeom>
          <a:noFill/>
          <a:ln/>
        </p:spPr>
        <p:txBody>
          <a:bodyPr wrap="square" lIns="0" tIns="0" rIns="0" bIns="0" rtlCol="0" anchor="ctr"/>
          <a:lstStyle/>
          <a:p>
            <a:pPr indent="0" marL="0">
              <a:buNone/>
            </a:pPr>
            <a:r>
              <a:rPr lang="en-US" sz="1450" b="1" dirty="0">
                <a:solidFill>
                  <a:srgbClr val="1D1D1F"/>
                </a:solidFill>
                <a:latin typeface="Arial" pitchFamily="34" charset="0"/>
                <a:ea typeface="Arial" pitchFamily="34" charset="-122"/>
                <a:cs typeface="Arial" pitchFamily="34" charset="-120"/>
              </a:rPr>
              <a:t>Au micro</a:t>
            </a:r>
            <a:endParaRPr lang="en-US" sz="1450" dirty="0"/>
          </a:p>
        </p:txBody>
      </p:sp>
      <p:sp>
        <p:nvSpPr>
          <p:cNvPr id="17" name="Text 11"/>
          <p:cNvSpPr txBox="1"/>
          <p:nvPr/>
        </p:nvSpPr>
        <p:spPr>
          <a:xfrm>
            <a:off x="8127797" y="4681728"/>
            <a:ext cx="3515258" cy="86868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Un clic sur le micro d’un champ, et vous dictez au lieu de taper.</a:t>
            </a:r>
            <a:endParaRPr lang="en-US" sz="1400" dirty="0"/>
          </a:p>
        </p:txBody>
      </p:sp>
      <p:sp>
        <p:nvSpPr>
          <p:cNvPr id="18" name="Text 12"/>
          <p:cNvSpPr txBox="1"/>
          <p:nvPr/>
        </p:nvSpPr>
        <p:spPr>
          <a:xfrm>
            <a:off x="548640" y="5715000"/>
            <a:ext cx="11094415" cy="365760"/>
          </a:xfrm>
          <a:prstGeom prst="rect">
            <a:avLst/>
          </a:prstGeom>
          <a:noFill/>
          <a:ln/>
        </p:spPr>
        <p:txBody>
          <a:bodyPr wrap="square" lIns="0" tIns="0" rIns="0" bIns="0" rtlCol="0" anchor="t"/>
          <a:lstStyle/>
          <a:p>
            <a:pPr indent="0" marL="0">
              <a:buNone/>
            </a:pPr>
            <a:r>
              <a:rPr lang="en-US" sz="1350" b="1" dirty="0">
                <a:solidFill>
                  <a:srgbClr val="1D1D1F"/>
                </a:solidFill>
                <a:latin typeface="Arial" pitchFamily="34" charset="0"/>
                <a:ea typeface="Arial" pitchFamily="34" charset="-122"/>
                <a:cs typeface="Arial" pitchFamily="34" charset="-120"/>
              </a:rPr>
              <a:t>« Mode Rapide » </a:t>
            </a:r>
            <a:pPr indent="0" marL="0">
              <a:buNone/>
            </a:pPr>
            <a:r>
              <a:rPr lang="en-US" sz="1350" dirty="0">
                <a:solidFill>
                  <a:srgbClr val="4A4A4F"/>
                </a:solidFill>
                <a:latin typeface="Arial" pitchFamily="34" charset="0"/>
                <a:ea typeface="Arial" pitchFamily="34" charset="-122"/>
                <a:cs typeface="Arial" pitchFamily="34" charset="-120"/>
              </a:rPr>
              <a:t>s’ouvre par défaut. Les tuiles d’activités restent grisées tant que les deux champs sont vides.</a:t>
            </a:r>
            <a:endParaRPr lang="en-US" sz="1350" dirty="0"/>
          </a:p>
        </p:txBody>
      </p:sp>
      <p:sp>
        <p:nvSpPr>
          <p:cNvPr id="19" name="Text 13"/>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20" name="Text 14"/>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3 / 27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Le mode Avancé : préciser, et joindre votre cours</a:t>
            </a:r>
            <a:endParaRPr lang="en-US" sz="3000" dirty="0"/>
          </a:p>
        </p:txBody>
      </p:sp>
      <p:sp>
        <p:nvSpPr>
          <p:cNvPr id="4" name="Text 2"/>
          <p:cNvSpPr txBox="1"/>
          <p:nvPr/>
        </p:nvSpPr>
        <p:spPr>
          <a:xfrm>
            <a:off x="548640" y="1600200"/>
            <a:ext cx="4846320" cy="3017520"/>
          </a:xfrm>
          <a:prstGeom prst="rect">
            <a:avLst/>
          </a:prstGeom>
          <a:noFill/>
          <a:ln/>
        </p:spPr>
        <p:txBody>
          <a:bodyPr wrap="square" lIns="0" tIns="0" rIns="0" bIns="0" rtlCol="0" anchor="t"/>
          <a:lstStyle/>
          <a:p>
            <a:pPr marL="200025" indent="-200025">
              <a:lnSpc>
                <a:spcPct val="105000"/>
              </a:lnSpc>
              <a:spcAft>
                <a:spcPts val="1200"/>
              </a:spcAft>
              <a:buSzPct val="100000"/>
              <a:buChar char="•"/>
            </a:pPr>
            <a:r>
              <a:rPr lang="en-US" sz="1500" b="1" dirty="0">
                <a:solidFill>
                  <a:srgbClr val="1D1D1F"/>
                </a:solidFill>
                <a:latin typeface="Arial" pitchFamily="34" charset="0"/>
                <a:ea typeface="Arial" pitchFamily="34" charset="-122"/>
                <a:cs typeface="Arial" pitchFamily="34" charset="-120"/>
              </a:rPr>
              <a:t>« Pour quel niveau »</a:t>
            </a:r>
            <a:pPr indent="0" marL="0">
              <a:lnSpc>
                <a:spcPct val="105000"/>
              </a:lnSpc>
              <a:spcAft>
                <a:spcPts val="1200"/>
              </a:spcAft>
              <a:buNone/>
            </a:pPr>
            <a:r>
              <a:rPr lang="en-US" sz="1500" dirty="0">
                <a:solidFill>
                  <a:srgbClr val="4A4A4F"/>
                </a:solidFill>
                <a:latin typeface="Arial" pitchFamily="34" charset="0"/>
                <a:ea typeface="Arial" pitchFamily="34" charset="-122"/>
                <a:cs typeface="Arial" pitchFamily="34" charset="-120"/>
              </a:rPr>
              <a:t> : la classe ou le public visé.</a:t>
            </a:r>
            <a:endParaRPr lang="en-US" sz="1500" dirty="0"/>
          </a:p>
          <a:p>
            <a:pPr marL="200025" indent="-200025">
              <a:lnSpc>
                <a:spcPct val="105000"/>
              </a:lnSpc>
              <a:spcAft>
                <a:spcPts val="1200"/>
              </a:spcAft>
              <a:buSzPct val="100000"/>
              <a:buChar char="•"/>
            </a:pPr>
            <a:r>
              <a:rPr lang="en-US" sz="1500" b="1" dirty="0">
                <a:solidFill>
                  <a:srgbClr val="1D1D1F"/>
                </a:solidFill>
                <a:latin typeface="Arial" pitchFamily="34" charset="0"/>
                <a:ea typeface="Arial" pitchFamily="34" charset="-122"/>
                <a:cs typeface="Arial" pitchFamily="34" charset="-120"/>
              </a:rPr>
              <a:t>« Nombre de questions/éléments dans le module »</a:t>
            </a:r>
            <a:pPr indent="0" marL="0">
              <a:lnSpc>
                <a:spcPct val="105000"/>
              </a:lnSpc>
              <a:spcAft>
                <a:spcPts val="1200"/>
              </a:spcAft>
              <a:buNone/>
            </a:pPr>
            <a:r>
              <a:rPr lang="en-US" sz="1500" dirty="0">
                <a:solidFill>
                  <a:srgbClr val="4A4A4F"/>
                </a:solidFill>
                <a:latin typeface="Arial" pitchFamily="34" charset="0"/>
                <a:ea typeface="Arial" pitchFamily="34" charset="-122"/>
                <a:cs typeface="Arial" pitchFamily="34" charset="-120"/>
              </a:rPr>
              <a:t> : par exemple 5 ou 10.</a:t>
            </a:r>
            <a:endParaRPr lang="en-US" sz="1500" dirty="0"/>
          </a:p>
          <a:p>
            <a:pPr marL="200025" indent="-200025">
              <a:lnSpc>
                <a:spcPct val="105000"/>
              </a:lnSpc>
              <a:spcAft>
                <a:spcPts val="1200"/>
              </a:spcAft>
              <a:buSzPct val="100000"/>
              <a:buChar char="•"/>
            </a:pPr>
            <a:r>
              <a:rPr lang="en-US" sz="1500" b="1" dirty="0">
                <a:solidFill>
                  <a:srgbClr val="1D1D1F"/>
                </a:solidFill>
                <a:latin typeface="Arial" pitchFamily="34" charset="0"/>
                <a:ea typeface="Arial" pitchFamily="34" charset="-122"/>
                <a:cs typeface="Arial" pitchFamily="34" charset="-120"/>
              </a:rPr>
              <a:t>« Joindre des documents (facultatif) »</a:t>
            </a:r>
            <a:pPr indent="0" marL="0">
              <a:lnSpc>
                <a:spcPct val="105000"/>
              </a:lnSpc>
              <a:spcAft>
                <a:spcPts val="1200"/>
              </a:spcAft>
              <a:buNone/>
            </a:pPr>
            <a:r>
              <a:rPr lang="en-US" sz="1500" dirty="0">
                <a:solidFill>
                  <a:srgbClr val="4A4A4F"/>
                </a:solidFill>
                <a:latin typeface="Arial" pitchFamily="34" charset="0"/>
                <a:ea typeface="Arial" pitchFamily="34" charset="-122"/>
                <a:cs typeface="Arial" pitchFamily="34" charset="-120"/>
              </a:rPr>
              <a:t> : collez un texte ou déposez vos fichiers — PDF, Word (DOCX), LibreOffice, diaporama, image, audio, vidéo — ou un lien web.</a:t>
            </a:r>
            <a:endParaRPr lang="en-US" sz="1500" dirty="0"/>
          </a:p>
        </p:txBody>
      </p:sp>
      <p:sp>
        <p:nvSpPr>
          <p:cNvPr id="5" name="Shape 3"/>
          <p:cNvSpPr/>
          <p:nvPr/>
        </p:nvSpPr>
        <p:spPr>
          <a:xfrm>
            <a:off x="548640" y="4069080"/>
            <a:ext cx="4846320" cy="1188720"/>
          </a:xfrm>
          <a:prstGeom prst="roundRect">
            <a:avLst>
              <a:gd name="adj" fmla="val 12308"/>
            </a:avLst>
          </a:prstGeom>
          <a:solidFill>
            <a:srgbClr val="FFF7EC"/>
          </a:solidFill>
          <a:ln w="9525">
            <a:solidFill>
              <a:srgbClr val="EEE0CF"/>
            </a:solidFill>
            <a:prstDash val="solid"/>
          </a:ln>
        </p:spPr>
      </p:sp>
      <p:sp>
        <p:nvSpPr>
          <p:cNvPr id="6" name="Shape 4"/>
          <p:cNvSpPr/>
          <p:nvPr/>
        </p:nvSpPr>
        <p:spPr>
          <a:xfrm>
            <a:off x="777240" y="4389120"/>
            <a:ext cx="512064" cy="512064"/>
          </a:xfrm>
          <a:prstGeom prst="roundRect">
            <a:avLst>
              <a:gd name="adj" fmla="val 28000"/>
            </a:avLst>
          </a:prstGeom>
          <a:solidFill>
            <a:srgbClr val="FFECD4"/>
          </a:solidFill>
          <a:ln/>
        </p:spPr>
      </p:sp>
      <p:pic>
        <p:nvPicPr>
          <p:cNvPr id="7" name="Image 0" descr="/var/folders/b7/tkzbyvzx72qcg9wb0t1jybvm0000gn/T/kit-formation-xg52uF/icone-41.png">    </p:cNvPr>
          <p:cNvPicPr>
            <a:picLocks noChangeAspect="1"/>
          </p:cNvPicPr>
          <p:nvPr/>
        </p:nvPicPr>
        <p:blipFill>
          <a:blip r:embed="rId1"/>
          <a:stretch>
            <a:fillRect/>
          </a:stretch>
        </p:blipFill>
        <p:spPr>
          <a:xfrm>
            <a:off x="900135" y="4512015"/>
            <a:ext cx="266273" cy="266273"/>
          </a:xfrm>
          <a:prstGeom prst="rect">
            <a:avLst/>
          </a:prstGeom>
        </p:spPr>
      </p:pic>
      <p:sp>
        <p:nvSpPr>
          <p:cNvPr id="8" name="Text 5"/>
          <p:cNvSpPr txBox="1"/>
          <p:nvPr/>
        </p:nvSpPr>
        <p:spPr>
          <a:xfrm>
            <a:off x="1463040" y="4069080"/>
            <a:ext cx="3749040" cy="1188720"/>
          </a:xfrm>
          <a:prstGeom prst="rect">
            <a:avLst/>
          </a:prstGeom>
          <a:noFill/>
          <a:ln/>
        </p:spPr>
        <p:txBody>
          <a:bodyPr wrap="square" lIns="0" tIns="0" rIns="0" bIns="0" rtlCol="0" anchor="ctr"/>
          <a:lstStyle/>
          <a:p>
            <a:pPr indent="0" marL="0">
              <a:buNone/>
            </a:pPr>
            <a:r>
              <a:rPr lang="en-US" sz="1450" b="1" dirty="0">
                <a:solidFill>
                  <a:srgbClr val="8F4014"/>
                </a:solidFill>
                <a:latin typeface="Arial" pitchFamily="34" charset="0"/>
                <a:ea typeface="Arial" pitchFamily="34" charset="-122"/>
                <a:cs typeface="Arial" pitchFamily="34" charset="-120"/>
              </a:rPr>
              <a:t>Avec vos documents, l’IA travaille exclusivement à partir d’eux : votre cours devient la référence.</a:t>
            </a:r>
            <a:endParaRPr lang="en-US" sz="1450" dirty="0"/>
          </a:p>
        </p:txBody>
      </p:sp>
      <p:sp>
        <p:nvSpPr>
          <p:cNvPr id="9" name="Shape 6"/>
          <p:cNvSpPr/>
          <p:nvPr/>
        </p:nvSpPr>
        <p:spPr>
          <a:xfrm>
            <a:off x="5733288" y="1481328"/>
            <a:ext cx="5982919" cy="4209237"/>
          </a:xfrm>
          <a:prstGeom prst="roundRect">
            <a:avLst>
              <a:gd name="adj" fmla="val 2607"/>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10" name="Image 1" descr="/var/folders/b7/tkzbyvzx72qcg9wb0t1jybvm0000gn/T/kit-formation-xg52uF/avance.jpg">    </p:cNvPr>
          <p:cNvPicPr>
            <a:picLocks noChangeAspect="1"/>
          </p:cNvPicPr>
          <p:nvPr/>
        </p:nvPicPr>
        <p:blipFill>
          <a:blip r:embed="rId2"/>
          <a:stretch>
            <a:fillRect/>
          </a:stretch>
        </p:blipFill>
        <p:spPr>
          <a:xfrm>
            <a:off x="5806440" y="1554480"/>
            <a:ext cx="5836615" cy="4062933"/>
          </a:xfrm>
          <a:prstGeom prst="rect">
            <a:avLst/>
          </a:prstGeom>
        </p:spPr>
      </p:pic>
      <p:sp>
        <p:nvSpPr>
          <p:cNvPr id="11" name="Text 7"/>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2" name="Text 8"/>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4 / 27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Choisissez le type d’activité</a:t>
            </a:r>
            <a:endParaRPr lang="en-US" sz="3000" dirty="0"/>
          </a:p>
        </p:txBody>
      </p:sp>
      <p:sp>
        <p:nvSpPr>
          <p:cNvPr id="4" name="Shape 2"/>
          <p:cNvSpPr/>
          <p:nvPr/>
        </p:nvSpPr>
        <p:spPr>
          <a:xfrm>
            <a:off x="548640" y="1527048"/>
            <a:ext cx="7370064" cy="3620933"/>
          </a:xfrm>
          <a:prstGeom prst="roundRect">
            <a:avLst>
              <a:gd name="adj" fmla="val 3030"/>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activites.jpg">    </p:cNvPr>
          <p:cNvPicPr>
            <a:picLocks noChangeAspect="1"/>
          </p:cNvPicPr>
          <p:nvPr/>
        </p:nvPicPr>
        <p:blipFill>
          <a:blip r:embed="rId1"/>
          <a:stretch>
            <a:fillRect/>
          </a:stretch>
        </p:blipFill>
        <p:spPr>
          <a:xfrm>
            <a:off x="621792" y="1600200"/>
            <a:ext cx="7223760" cy="3474629"/>
          </a:xfrm>
          <a:prstGeom prst="rect">
            <a:avLst/>
          </a:prstGeom>
        </p:spPr>
      </p:pic>
      <p:sp>
        <p:nvSpPr>
          <p:cNvPr id="6" name="Text 3"/>
          <p:cNvSpPr txBox="1"/>
          <p:nvPr/>
        </p:nvSpPr>
        <p:spPr>
          <a:xfrm>
            <a:off x="8348472" y="1645920"/>
            <a:ext cx="3294583" cy="4114800"/>
          </a:xfrm>
          <a:prstGeom prst="rect">
            <a:avLst/>
          </a:prstGeom>
          <a:noFill/>
          <a:ln/>
        </p:spPr>
        <p:txBody>
          <a:bodyPr wrap="square" lIns="0" tIns="0" rIns="0" bIns="0" rtlCol="0" anchor="t"/>
          <a:lstStyle/>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35 tuiles</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27 activités H5P interactives et 8 modules de la plateforme (Page, Livre, Test…).</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Par famille</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 Tout », « Quiz &amp; Tests », « Manipulation de texte », « Mémorisation &amp; Découverte ».</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Par plateforme ou format</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 H5P », « Éléa », « Magistère », « Moodle ».</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Un clic sur une tuile</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ouvre sa fenêtre de génération.</a:t>
            </a:r>
            <a:endParaRPr lang="en-US" sz="1450" dirty="0"/>
          </a:p>
        </p:txBody>
      </p:sp>
      <p:sp>
        <p:nvSpPr>
          <p:cNvPr id="7" name="Text 4"/>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dirty="0">
                <a:solidFill>
                  <a:srgbClr val="6E6E73"/>
                </a:solidFill>
                <a:latin typeface="Arial" pitchFamily="34" charset="0"/>
                <a:ea typeface="Arial" pitchFamily="34" charset="-122"/>
                <a:cs typeface="Arial" pitchFamily="34" charset="-120"/>
              </a:rPr>
              <a:t>H5P : format libre d’activités interactives, lu par Éléa, Magistère et Moodle. Le badge de chaque tuile indique son format.</a:t>
            </a:r>
            <a:endParaRPr lang="en-US" sz="950" dirty="0"/>
          </a:p>
        </p:txBody>
      </p:sp>
      <p:sp>
        <p:nvSpPr>
          <p:cNvPr id="8" name="Text 5"/>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9" name="Text 6"/>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5 / 27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Générer en un clic, et choisir le modèle d’IA</a:t>
            </a:r>
            <a:endParaRPr lang="en-US" sz="3000" dirty="0"/>
          </a:p>
        </p:txBody>
      </p:sp>
      <p:sp>
        <p:nvSpPr>
          <p:cNvPr id="4" name="Shape 2"/>
          <p:cNvSpPr/>
          <p:nvPr/>
        </p:nvSpPr>
        <p:spPr>
          <a:xfrm>
            <a:off x="548640" y="1527048"/>
            <a:ext cx="7095744" cy="3058119"/>
          </a:xfrm>
          <a:prstGeom prst="roundRect">
            <a:avLst>
              <a:gd name="adj" fmla="val 358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modeles.jpg">    </p:cNvPr>
          <p:cNvPicPr>
            <a:picLocks noChangeAspect="1"/>
          </p:cNvPicPr>
          <p:nvPr/>
        </p:nvPicPr>
        <p:blipFill>
          <a:blip r:embed="rId1"/>
          <a:stretch>
            <a:fillRect/>
          </a:stretch>
        </p:blipFill>
        <p:spPr>
          <a:xfrm>
            <a:off x="621792" y="1600200"/>
            <a:ext cx="6949440" cy="2911815"/>
          </a:xfrm>
          <a:prstGeom prst="rect">
            <a:avLst/>
          </a:prstGeom>
        </p:spPr>
      </p:pic>
      <p:sp>
        <p:nvSpPr>
          <p:cNvPr id="6" name="Shape 3"/>
          <p:cNvSpPr/>
          <p:nvPr/>
        </p:nvSpPr>
        <p:spPr>
          <a:xfrm>
            <a:off x="8046720" y="1691640"/>
            <a:ext cx="329184" cy="329184"/>
          </a:xfrm>
          <a:prstGeom prst="ellipse">
            <a:avLst/>
          </a:prstGeom>
          <a:solidFill>
            <a:srgbClr val="007AFF"/>
          </a:solidFill>
          <a:ln/>
        </p:spPr>
      </p:sp>
      <p:sp>
        <p:nvSpPr>
          <p:cNvPr id="7" name="Text 4"/>
          <p:cNvSpPr txBox="1"/>
          <p:nvPr/>
        </p:nvSpPr>
        <p:spPr>
          <a:xfrm>
            <a:off x="8046720" y="169164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8" name="Text 5"/>
          <p:cNvSpPr txBox="1"/>
          <p:nvPr/>
        </p:nvSpPr>
        <p:spPr>
          <a:xfrm>
            <a:off x="8558784" y="1664208"/>
            <a:ext cx="3084271" cy="740664"/>
          </a:xfrm>
          <a:prstGeom prst="rect">
            <a:avLst/>
          </a:prstGeom>
          <a:noFill/>
          <a:ln/>
        </p:spPr>
        <p:txBody>
          <a:bodyPr wrap="square" lIns="0" tIns="0" rIns="0" bIns="0" rtlCol="0" anchor="t"/>
          <a:lstStyle/>
          <a:p>
            <a:pPr indent="0" marL="0">
              <a:buNone/>
            </a:pPr>
            <a:r>
              <a:rPr lang="en-US" sz="1450" dirty="0">
                <a:solidFill>
                  <a:srgbClr val="4A4A4F"/>
                </a:solidFill>
                <a:latin typeface="Arial" pitchFamily="34" charset="0"/>
                <a:ea typeface="Arial" pitchFamily="34" charset="-122"/>
                <a:cs typeface="Arial" pitchFamily="34" charset="-120"/>
              </a:rPr>
              <a:t>Cliquez sur </a:t>
            </a:r>
            <a:pPr indent="0" marL="0">
              <a:buNone/>
            </a:pPr>
            <a:r>
              <a:rPr lang="en-US" sz="1450" b="1" dirty="0">
                <a:solidFill>
                  <a:srgbClr val="1D1D1F"/>
                </a:solidFill>
                <a:latin typeface="Arial" pitchFamily="34" charset="0"/>
                <a:ea typeface="Arial" pitchFamily="34" charset="-122"/>
                <a:cs typeface="Arial" pitchFamily="34" charset="-120"/>
              </a:rPr>
              <a:t>« Générer en un clic »</a:t>
            </a:r>
            <a:pPr indent="0" marL="0">
              <a:buNone/>
            </a:pPr>
            <a:r>
              <a:rPr lang="en-US" sz="1450" dirty="0">
                <a:solidFill>
                  <a:srgbClr val="4A4A4F"/>
                </a:solidFill>
                <a:latin typeface="Arial" pitchFamily="34" charset="0"/>
                <a:ea typeface="Arial" pitchFamily="34" charset="-122"/>
                <a:cs typeface="Arial" pitchFamily="34" charset="-120"/>
              </a:rPr>
              <a:t>.</a:t>
            </a:r>
            <a:endParaRPr lang="en-US" sz="1450" dirty="0"/>
          </a:p>
        </p:txBody>
      </p:sp>
      <p:sp>
        <p:nvSpPr>
          <p:cNvPr id="9" name="Shape 6"/>
          <p:cNvSpPr/>
          <p:nvPr/>
        </p:nvSpPr>
        <p:spPr>
          <a:xfrm>
            <a:off x="8046720" y="2468880"/>
            <a:ext cx="329184" cy="329184"/>
          </a:xfrm>
          <a:prstGeom prst="ellipse">
            <a:avLst/>
          </a:prstGeom>
          <a:solidFill>
            <a:srgbClr val="007AFF"/>
          </a:solidFill>
          <a:ln/>
        </p:spPr>
      </p:sp>
      <p:sp>
        <p:nvSpPr>
          <p:cNvPr id="10" name="Text 7"/>
          <p:cNvSpPr txBox="1"/>
          <p:nvPr/>
        </p:nvSpPr>
        <p:spPr>
          <a:xfrm>
            <a:off x="8046720" y="246888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1" name="Text 8"/>
          <p:cNvSpPr txBox="1"/>
          <p:nvPr/>
        </p:nvSpPr>
        <p:spPr>
          <a:xfrm>
            <a:off x="8558784" y="2441448"/>
            <a:ext cx="3084271" cy="740664"/>
          </a:xfrm>
          <a:prstGeom prst="rect">
            <a:avLst/>
          </a:prstGeom>
          <a:noFill/>
          <a:ln/>
        </p:spPr>
        <p:txBody>
          <a:bodyPr wrap="square" lIns="0" tIns="0" rIns="0" bIns="0" rtlCol="0" anchor="t"/>
          <a:lstStyle/>
          <a:p>
            <a:pPr indent="0" marL="0">
              <a:buNone/>
            </a:pPr>
            <a:r>
              <a:rPr lang="en-US" sz="1450" dirty="0">
                <a:solidFill>
                  <a:srgbClr val="4A4A4F"/>
                </a:solidFill>
                <a:latin typeface="Arial" pitchFamily="34" charset="0"/>
                <a:ea typeface="Arial" pitchFamily="34" charset="-122"/>
                <a:cs typeface="Arial" pitchFamily="34" charset="-120"/>
              </a:rPr>
              <a:t>La flèche à droite du bouton ouvre le choix du modèle.</a:t>
            </a:r>
            <a:endParaRPr lang="en-US" sz="1450" dirty="0"/>
          </a:p>
        </p:txBody>
      </p:sp>
      <p:sp>
        <p:nvSpPr>
          <p:cNvPr id="12" name="Shape 9"/>
          <p:cNvSpPr/>
          <p:nvPr/>
        </p:nvSpPr>
        <p:spPr>
          <a:xfrm>
            <a:off x="8046720" y="3246120"/>
            <a:ext cx="329184" cy="329184"/>
          </a:xfrm>
          <a:prstGeom prst="ellipse">
            <a:avLst/>
          </a:prstGeom>
          <a:solidFill>
            <a:srgbClr val="007AFF"/>
          </a:solidFill>
          <a:ln/>
        </p:spPr>
      </p:sp>
      <p:sp>
        <p:nvSpPr>
          <p:cNvPr id="13" name="Text 10"/>
          <p:cNvSpPr txBox="1"/>
          <p:nvPr/>
        </p:nvSpPr>
        <p:spPr>
          <a:xfrm>
            <a:off x="8046720" y="3246120"/>
            <a:ext cx="329184" cy="329184"/>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4" name="Text 11"/>
          <p:cNvSpPr txBox="1"/>
          <p:nvPr/>
        </p:nvSpPr>
        <p:spPr>
          <a:xfrm>
            <a:off x="8558784" y="3218688"/>
            <a:ext cx="3084271" cy="740664"/>
          </a:xfrm>
          <a:prstGeom prst="rect">
            <a:avLst/>
          </a:prstGeom>
          <a:noFill/>
          <a:ln/>
        </p:spPr>
        <p:txBody>
          <a:bodyPr wrap="square" lIns="0" tIns="0" rIns="0" bIns="0" rtlCol="0" anchor="t"/>
          <a:lstStyle/>
          <a:p>
            <a:pPr indent="0" marL="0">
              <a:buNone/>
            </a:pPr>
            <a:r>
              <a:rPr lang="en-US" sz="1450" dirty="0">
                <a:solidFill>
                  <a:srgbClr val="4A4A4F"/>
                </a:solidFill>
                <a:latin typeface="Arial" pitchFamily="34" charset="0"/>
                <a:ea typeface="Arial" pitchFamily="34" charset="-122"/>
                <a:cs typeface="Arial" pitchFamily="34" charset="-120"/>
              </a:rPr>
              <a:t>Quelques dizaines de secondes plus tard, l’activité est prête.</a:t>
            </a:r>
            <a:endParaRPr lang="en-US" sz="1450" dirty="0"/>
          </a:p>
        </p:txBody>
      </p:sp>
      <p:sp>
        <p:nvSpPr>
          <p:cNvPr id="15" name="Text 12"/>
          <p:cNvSpPr txBox="1"/>
          <p:nvPr/>
        </p:nvSpPr>
        <p:spPr>
          <a:xfrm>
            <a:off x="8046720" y="4160520"/>
            <a:ext cx="3596335" cy="36576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Gemma 4</a:t>
            </a:r>
            <a:pPr indent="0" marL="0">
              <a:buNone/>
            </a:pPr>
            <a:r>
              <a:rPr lang="en-US" sz="1400" dirty="0">
                <a:solidFill>
                  <a:srgbClr val="4A4A4F"/>
                </a:solidFill>
                <a:latin typeface="Arial" pitchFamily="34" charset="0"/>
                <a:ea typeface="Arial" pitchFamily="34" charset="-122"/>
                <a:cs typeface="Arial" pitchFamily="34" charset="-120"/>
              </a:rPr>
              <a:t>  rapide et léger</a:t>
            </a:r>
            <a:endParaRPr lang="en-US" sz="1400" dirty="0"/>
          </a:p>
        </p:txBody>
      </p:sp>
      <p:sp>
        <p:nvSpPr>
          <p:cNvPr id="16" name="Text 13"/>
          <p:cNvSpPr txBox="1"/>
          <p:nvPr/>
        </p:nvSpPr>
        <p:spPr>
          <a:xfrm>
            <a:off x="8046720" y="4617720"/>
            <a:ext cx="3596335" cy="36576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Qwen 3.8</a:t>
            </a:r>
            <a:pPr indent="0" marL="0">
              <a:buNone/>
            </a:pPr>
            <a:r>
              <a:rPr lang="en-US" sz="1400" dirty="0">
                <a:solidFill>
                  <a:srgbClr val="4A4A4F"/>
                </a:solidFill>
                <a:latin typeface="Arial" pitchFamily="34" charset="0"/>
                <a:ea typeface="Arial" pitchFamily="34" charset="-122"/>
                <a:cs typeface="Arial" pitchFamily="34" charset="-120"/>
              </a:rPr>
              <a:t>  plus riche, plus nuancé</a:t>
            </a:r>
            <a:endParaRPr lang="en-US" sz="1400" dirty="0"/>
          </a:p>
        </p:txBody>
      </p:sp>
      <p:sp>
        <p:nvSpPr>
          <p:cNvPr id="17" name="Text 14"/>
          <p:cNvSpPr txBox="1"/>
          <p:nvPr/>
        </p:nvSpPr>
        <p:spPr>
          <a:xfrm>
            <a:off x="8046720" y="5074920"/>
            <a:ext cx="3596335" cy="365760"/>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Mistral Small 4</a:t>
            </a:r>
            <a:pPr indent="0" marL="0">
              <a:buNone/>
            </a:pPr>
            <a:r>
              <a:rPr lang="en-US" sz="1400" dirty="0">
                <a:solidFill>
                  <a:srgbClr val="4A4A4F"/>
                </a:solidFill>
                <a:latin typeface="Arial" pitchFamily="34" charset="0"/>
                <a:ea typeface="Arial" pitchFamily="34" charset="-122"/>
                <a:cs typeface="Arial" pitchFamily="34" charset="-120"/>
              </a:rPr>
              <a:t>  le plus puissant, par défaut ; plus lent</a:t>
            </a:r>
            <a:endParaRPr lang="en-US" sz="1400" dirty="0"/>
          </a:p>
        </p:txBody>
      </p:sp>
      <p:sp>
        <p:nvSpPr>
          <p:cNvPr id="18" name="Text 15"/>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dirty="0">
                <a:solidFill>
                  <a:srgbClr val="6E6E73"/>
                </a:solidFill>
                <a:latin typeface="Arial" pitchFamily="34" charset="0"/>
                <a:ea typeface="Arial" pitchFamily="34" charset="-122"/>
                <a:cs typeface="Arial" pitchFamily="34" charset="-120"/>
              </a:rPr>
              <a:t>Les modèles de Caramel sont hébergés en France, sur des serveurs de l’Enseignement supérieur et de la recherche (ILaaS).</a:t>
            </a:r>
            <a:endParaRPr lang="en-US" sz="950" dirty="0"/>
          </a:p>
        </p:txBody>
      </p:sp>
      <p:sp>
        <p:nvSpPr>
          <p:cNvPr id="19" name="Text 16"/>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20" name="Text 17"/>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6 / 27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Ou passer par l’IA de votre choix : le mode Guidé</a:t>
            </a:r>
            <a:endParaRPr lang="en-US" sz="3000" dirty="0"/>
          </a:p>
        </p:txBody>
      </p:sp>
      <p:sp>
        <p:nvSpPr>
          <p:cNvPr id="4" name="Shape 2"/>
          <p:cNvSpPr/>
          <p:nvPr/>
        </p:nvSpPr>
        <p:spPr>
          <a:xfrm>
            <a:off x="548640" y="1481328"/>
            <a:ext cx="5112442" cy="4306824"/>
          </a:xfrm>
          <a:prstGeom prst="roundRect">
            <a:avLst>
              <a:gd name="adj" fmla="val 254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guide.jpg">    </p:cNvPr>
          <p:cNvPicPr>
            <a:picLocks noChangeAspect="1"/>
          </p:cNvPicPr>
          <p:nvPr/>
        </p:nvPicPr>
        <p:blipFill>
          <a:blip r:embed="rId1"/>
          <a:stretch>
            <a:fillRect/>
          </a:stretch>
        </p:blipFill>
        <p:spPr>
          <a:xfrm>
            <a:off x="621792" y="1554480"/>
            <a:ext cx="4966138" cy="4160520"/>
          </a:xfrm>
          <a:prstGeom prst="rect">
            <a:avLst/>
          </a:prstGeom>
        </p:spPr>
      </p:pic>
      <p:sp>
        <p:nvSpPr>
          <p:cNvPr id="6" name="Shape 3"/>
          <p:cNvSpPr/>
          <p:nvPr/>
        </p:nvSpPr>
        <p:spPr>
          <a:xfrm>
            <a:off x="6045130" y="1600200"/>
            <a:ext cx="329184" cy="329184"/>
          </a:xfrm>
          <a:prstGeom prst="ellipse">
            <a:avLst/>
          </a:prstGeom>
          <a:solidFill>
            <a:srgbClr val="007AFF"/>
          </a:solidFill>
          <a:ln/>
        </p:spPr>
      </p:sp>
      <p:sp>
        <p:nvSpPr>
          <p:cNvPr id="7" name="Text 4"/>
          <p:cNvSpPr txBox="1"/>
          <p:nvPr/>
        </p:nvSpPr>
        <p:spPr>
          <a:xfrm>
            <a:off x="6045130" y="160020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8" name="Text 5"/>
          <p:cNvSpPr txBox="1"/>
          <p:nvPr/>
        </p:nvSpPr>
        <p:spPr>
          <a:xfrm>
            <a:off x="6557194" y="1572768"/>
            <a:ext cx="5085861" cy="694944"/>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Basculez l’interrupteur de </a:t>
            </a:r>
            <a:pPr indent="0" marL="0">
              <a:buNone/>
            </a:pPr>
            <a:r>
              <a:rPr lang="en-US" sz="1350" b="1" dirty="0">
                <a:solidFill>
                  <a:srgbClr val="1D1D1F"/>
                </a:solidFill>
                <a:latin typeface="Arial" pitchFamily="34" charset="0"/>
                <a:ea typeface="Arial" pitchFamily="34" charset="-122"/>
                <a:cs typeface="Arial" pitchFamily="34" charset="-120"/>
              </a:rPr>
              <a:t>« Simple »</a:t>
            </a:r>
            <a:pPr indent="0" marL="0">
              <a:buNone/>
            </a:pPr>
            <a:r>
              <a:rPr lang="en-US" sz="1350" dirty="0">
                <a:solidFill>
                  <a:srgbClr val="4A4A4F"/>
                </a:solidFill>
                <a:latin typeface="Arial" pitchFamily="34" charset="0"/>
                <a:ea typeface="Arial" pitchFamily="34" charset="-122"/>
                <a:cs typeface="Arial" pitchFamily="34" charset="-120"/>
              </a:rPr>
              <a:t> à </a:t>
            </a:r>
            <a:pPr indent="0" marL="0">
              <a:buNone/>
            </a:pPr>
            <a:r>
              <a:rPr lang="en-US" sz="1350" b="1" dirty="0">
                <a:solidFill>
                  <a:srgbClr val="1D1D1F"/>
                </a:solidFill>
                <a:latin typeface="Arial" pitchFamily="34" charset="0"/>
                <a:ea typeface="Arial" pitchFamily="34" charset="-122"/>
                <a:cs typeface="Arial" pitchFamily="34" charset="-120"/>
              </a:rPr>
              <a:t>« Guidé »</a:t>
            </a:r>
            <a:pPr indent="0" marL="0">
              <a:buNone/>
            </a:pPr>
            <a:r>
              <a:rPr lang="en-US" sz="1350" dirty="0">
                <a:solidFill>
                  <a:srgbClr val="4A4A4F"/>
                </a:solidFill>
                <a:latin typeface="Arial" pitchFamily="34" charset="0"/>
                <a:ea typeface="Arial" pitchFamily="34" charset="-122"/>
                <a:cs typeface="Arial" pitchFamily="34" charset="-120"/>
              </a:rPr>
              <a:t>.</a:t>
            </a:r>
            <a:endParaRPr lang="en-US" sz="1350" dirty="0"/>
          </a:p>
        </p:txBody>
      </p:sp>
      <p:sp>
        <p:nvSpPr>
          <p:cNvPr id="9" name="Shape 6"/>
          <p:cNvSpPr/>
          <p:nvPr/>
        </p:nvSpPr>
        <p:spPr>
          <a:xfrm>
            <a:off x="6045130" y="2331720"/>
            <a:ext cx="329184" cy="329184"/>
          </a:xfrm>
          <a:prstGeom prst="ellipse">
            <a:avLst/>
          </a:prstGeom>
          <a:solidFill>
            <a:srgbClr val="007AFF"/>
          </a:solidFill>
          <a:ln/>
        </p:spPr>
      </p:sp>
      <p:sp>
        <p:nvSpPr>
          <p:cNvPr id="10" name="Text 7"/>
          <p:cNvSpPr txBox="1"/>
          <p:nvPr/>
        </p:nvSpPr>
        <p:spPr>
          <a:xfrm>
            <a:off x="6045130" y="233172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11" name="Text 8"/>
          <p:cNvSpPr txBox="1"/>
          <p:nvPr/>
        </p:nvSpPr>
        <p:spPr>
          <a:xfrm>
            <a:off x="6557194" y="2304288"/>
            <a:ext cx="5085861" cy="694944"/>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Dans </a:t>
            </a:r>
            <a:pPr indent="0" marL="0">
              <a:buNone/>
            </a:pPr>
            <a:r>
              <a:rPr lang="en-US" sz="1350" b="1" dirty="0">
                <a:solidFill>
                  <a:srgbClr val="1D1D1F"/>
                </a:solidFill>
                <a:latin typeface="Arial" pitchFamily="34" charset="0"/>
                <a:ea typeface="Arial" pitchFamily="34" charset="-122"/>
                <a:cs typeface="Arial" pitchFamily="34" charset="-120"/>
              </a:rPr>
              <a:t>« 1/2 Obtenir le prompt à copier »</a:t>
            </a:r>
            <a:pPr indent="0" marL="0">
              <a:buNone/>
            </a:pPr>
            <a:r>
              <a:rPr lang="en-US" sz="1350" dirty="0">
                <a:solidFill>
                  <a:srgbClr val="4A4A4F"/>
                </a:solidFill>
                <a:latin typeface="Arial" pitchFamily="34" charset="0"/>
                <a:ea typeface="Arial" pitchFamily="34" charset="-122"/>
                <a:cs typeface="Arial" pitchFamily="34" charset="-120"/>
              </a:rPr>
              <a:t>, cliquez sur </a:t>
            </a:r>
            <a:pPr indent="0" marL="0">
              <a:buNone/>
            </a:pPr>
            <a:r>
              <a:rPr lang="en-US" sz="1350" b="1" dirty="0">
                <a:solidFill>
                  <a:srgbClr val="1D1D1F"/>
                </a:solidFill>
                <a:latin typeface="Arial" pitchFamily="34" charset="0"/>
                <a:ea typeface="Arial" pitchFamily="34" charset="-122"/>
                <a:cs typeface="Arial" pitchFamily="34" charset="-120"/>
              </a:rPr>
              <a:t>« Copier le prompt »</a:t>
            </a:r>
            <a:pPr indent="0" marL="0">
              <a:buNone/>
            </a:pPr>
            <a:r>
              <a:rPr lang="en-US" sz="1350" dirty="0">
                <a:solidFill>
                  <a:srgbClr val="4A4A4F"/>
                </a:solidFill>
                <a:latin typeface="Arial" pitchFamily="34" charset="0"/>
                <a:ea typeface="Arial" pitchFamily="34" charset="-122"/>
                <a:cs typeface="Arial" pitchFamily="34" charset="-120"/>
              </a:rPr>
              <a:t>.</a:t>
            </a:r>
            <a:endParaRPr lang="en-US" sz="1350" dirty="0"/>
          </a:p>
        </p:txBody>
      </p:sp>
      <p:sp>
        <p:nvSpPr>
          <p:cNvPr id="12" name="Shape 9"/>
          <p:cNvSpPr/>
          <p:nvPr/>
        </p:nvSpPr>
        <p:spPr>
          <a:xfrm>
            <a:off x="6045130" y="3063240"/>
            <a:ext cx="329184" cy="329184"/>
          </a:xfrm>
          <a:prstGeom prst="ellipse">
            <a:avLst/>
          </a:prstGeom>
          <a:solidFill>
            <a:srgbClr val="007AFF"/>
          </a:solidFill>
          <a:ln/>
        </p:spPr>
      </p:sp>
      <p:sp>
        <p:nvSpPr>
          <p:cNvPr id="13" name="Text 10"/>
          <p:cNvSpPr txBox="1"/>
          <p:nvPr/>
        </p:nvSpPr>
        <p:spPr>
          <a:xfrm>
            <a:off x="6045130" y="306324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14" name="Text 11"/>
          <p:cNvSpPr txBox="1"/>
          <p:nvPr/>
        </p:nvSpPr>
        <p:spPr>
          <a:xfrm>
            <a:off x="6557194" y="3035808"/>
            <a:ext cx="5085861" cy="694944"/>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Collez-le dans l’IA de votre choix.</a:t>
            </a:r>
            <a:endParaRPr lang="en-US" sz="1350" dirty="0"/>
          </a:p>
        </p:txBody>
      </p:sp>
      <p:sp>
        <p:nvSpPr>
          <p:cNvPr id="15" name="Shape 12"/>
          <p:cNvSpPr/>
          <p:nvPr/>
        </p:nvSpPr>
        <p:spPr>
          <a:xfrm>
            <a:off x="6045130" y="3794760"/>
            <a:ext cx="329184" cy="329184"/>
          </a:xfrm>
          <a:prstGeom prst="ellipse">
            <a:avLst/>
          </a:prstGeom>
          <a:solidFill>
            <a:srgbClr val="007AFF"/>
          </a:solidFill>
          <a:ln/>
        </p:spPr>
      </p:sp>
      <p:sp>
        <p:nvSpPr>
          <p:cNvPr id="16" name="Text 13"/>
          <p:cNvSpPr txBox="1"/>
          <p:nvPr/>
        </p:nvSpPr>
        <p:spPr>
          <a:xfrm>
            <a:off x="6045130" y="379476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4</a:t>
            </a:r>
            <a:endParaRPr lang="en-US" sz="1150" dirty="0"/>
          </a:p>
        </p:txBody>
      </p:sp>
      <p:sp>
        <p:nvSpPr>
          <p:cNvPr id="17" name="Text 14"/>
          <p:cNvSpPr txBox="1"/>
          <p:nvPr/>
        </p:nvSpPr>
        <p:spPr>
          <a:xfrm>
            <a:off x="6557194" y="3767328"/>
            <a:ext cx="5085861" cy="694944"/>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Recopiez sa réponse dans </a:t>
            </a:r>
            <a:pPr indent="0" marL="0">
              <a:buNone/>
            </a:pPr>
            <a:r>
              <a:rPr lang="en-US" sz="1350" b="1" dirty="0">
                <a:solidFill>
                  <a:srgbClr val="1D1D1F"/>
                </a:solidFill>
                <a:latin typeface="Arial" pitchFamily="34" charset="0"/>
                <a:ea typeface="Arial" pitchFamily="34" charset="-122"/>
                <a:cs typeface="Arial" pitchFamily="34" charset="-120"/>
              </a:rPr>
              <a:t>« 2/2 Créer le fichier à partir du JSON »</a:t>
            </a:r>
            <a:pPr indent="0" marL="0">
              <a:buNone/>
            </a:pPr>
            <a:r>
              <a:rPr lang="en-US" sz="1350" dirty="0">
                <a:solidFill>
                  <a:srgbClr val="4A4A4F"/>
                </a:solidFill>
                <a:latin typeface="Arial" pitchFamily="34" charset="0"/>
                <a:ea typeface="Arial" pitchFamily="34" charset="-122"/>
                <a:cs typeface="Arial" pitchFamily="34" charset="-120"/>
              </a:rPr>
              <a:t>.</a:t>
            </a:r>
            <a:endParaRPr lang="en-US" sz="1350" dirty="0"/>
          </a:p>
        </p:txBody>
      </p:sp>
      <p:sp>
        <p:nvSpPr>
          <p:cNvPr id="18" name="Shape 15"/>
          <p:cNvSpPr/>
          <p:nvPr/>
        </p:nvSpPr>
        <p:spPr>
          <a:xfrm>
            <a:off x="6045130" y="4526280"/>
            <a:ext cx="329184" cy="329184"/>
          </a:xfrm>
          <a:prstGeom prst="ellipse">
            <a:avLst/>
          </a:prstGeom>
          <a:solidFill>
            <a:srgbClr val="007AFF"/>
          </a:solidFill>
          <a:ln/>
        </p:spPr>
      </p:sp>
      <p:sp>
        <p:nvSpPr>
          <p:cNvPr id="19" name="Text 16"/>
          <p:cNvSpPr txBox="1"/>
          <p:nvPr/>
        </p:nvSpPr>
        <p:spPr>
          <a:xfrm>
            <a:off x="6045130" y="4526280"/>
            <a:ext cx="329184" cy="329184"/>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5</a:t>
            </a:r>
            <a:endParaRPr lang="en-US" sz="1150" dirty="0"/>
          </a:p>
        </p:txBody>
      </p:sp>
      <p:sp>
        <p:nvSpPr>
          <p:cNvPr id="20" name="Text 17"/>
          <p:cNvSpPr txBox="1"/>
          <p:nvPr/>
        </p:nvSpPr>
        <p:spPr>
          <a:xfrm>
            <a:off x="6557194" y="4498848"/>
            <a:ext cx="5085861" cy="694944"/>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Cliquez sur </a:t>
            </a:r>
            <a:pPr indent="0" marL="0">
              <a:buNone/>
            </a:pPr>
            <a:r>
              <a:rPr lang="en-US" sz="1350" b="1" dirty="0">
                <a:solidFill>
                  <a:srgbClr val="1D1D1F"/>
                </a:solidFill>
                <a:latin typeface="Arial" pitchFamily="34" charset="0"/>
                <a:ea typeface="Arial" pitchFamily="34" charset="-122"/>
                <a:cs typeface="Arial" pitchFamily="34" charset="-120"/>
              </a:rPr>
              <a:t>« Générer l’activité »</a:t>
            </a:r>
            <a:pPr indent="0" marL="0">
              <a:buNone/>
            </a:pPr>
            <a:r>
              <a:rPr lang="en-US" sz="1350" dirty="0">
                <a:solidFill>
                  <a:srgbClr val="4A4A4F"/>
                </a:solidFill>
                <a:latin typeface="Arial" pitchFamily="34" charset="0"/>
                <a:ea typeface="Arial" pitchFamily="34" charset="-122"/>
                <a:cs typeface="Arial" pitchFamily="34" charset="-120"/>
              </a:rPr>
              <a:t>.</a:t>
            </a:r>
            <a:endParaRPr lang="en-US" sz="1350" dirty="0"/>
          </a:p>
        </p:txBody>
      </p:sp>
      <p:sp>
        <p:nvSpPr>
          <p:cNvPr id="21" name="Shape 18"/>
          <p:cNvSpPr/>
          <p:nvPr/>
        </p:nvSpPr>
        <p:spPr>
          <a:xfrm>
            <a:off x="6045130" y="5349240"/>
            <a:ext cx="5597925" cy="841248"/>
          </a:xfrm>
          <a:prstGeom prst="roundRect">
            <a:avLst>
              <a:gd name="adj" fmla="val 17391"/>
            </a:avLst>
          </a:prstGeom>
          <a:solidFill>
            <a:srgbClr val="FFF7EC"/>
          </a:solidFill>
          <a:ln w="9525">
            <a:solidFill>
              <a:srgbClr val="EEE0CF"/>
            </a:solidFill>
            <a:prstDash val="solid"/>
          </a:ln>
        </p:spPr>
      </p:sp>
      <p:pic>
        <p:nvPicPr>
          <p:cNvPr id="22" name="Image 1" descr="/var/folders/b7/tkzbyvzx72qcg9wb0t1jybvm0000gn/T/kit-formation-xg52uF/icone-38.png">    </p:cNvPr>
          <p:cNvPicPr>
            <a:picLocks noChangeAspect="1"/>
          </p:cNvPicPr>
          <p:nvPr/>
        </p:nvPicPr>
        <p:blipFill>
          <a:blip r:embed="rId2"/>
          <a:stretch>
            <a:fillRect/>
          </a:stretch>
        </p:blipFill>
        <p:spPr>
          <a:xfrm>
            <a:off x="6273730" y="5632704"/>
            <a:ext cx="274320" cy="274320"/>
          </a:xfrm>
          <a:prstGeom prst="rect">
            <a:avLst/>
          </a:prstGeom>
        </p:spPr>
      </p:pic>
      <p:sp>
        <p:nvSpPr>
          <p:cNvPr id="23" name="Text 19"/>
          <p:cNvSpPr txBox="1"/>
          <p:nvPr/>
        </p:nvSpPr>
        <p:spPr>
          <a:xfrm>
            <a:off x="6703498" y="5349240"/>
            <a:ext cx="4729245" cy="841248"/>
          </a:xfrm>
          <a:prstGeom prst="rect">
            <a:avLst/>
          </a:prstGeom>
          <a:noFill/>
          <a:ln/>
        </p:spPr>
        <p:txBody>
          <a:bodyPr wrap="square" lIns="0" tIns="0" rIns="0" bIns="0" rtlCol="0" anchor="ctr"/>
          <a:lstStyle/>
          <a:p>
            <a:pPr indent="0" marL="0">
              <a:buNone/>
            </a:pPr>
            <a:r>
              <a:rPr lang="en-US" sz="1250" b="1" dirty="0">
                <a:solidFill>
                  <a:srgbClr val="1D1D1F"/>
                </a:solidFill>
                <a:latin typeface="Arial" pitchFamily="34" charset="0"/>
                <a:ea typeface="Arial" pitchFamily="34" charset="-122"/>
                <a:cs typeface="Arial" pitchFamily="34" charset="-120"/>
              </a:rPr>
              <a:t>Aucune donnée personnelle d’élève </a:t>
            </a:r>
            <a:pPr indent="0" marL="0">
              <a:buNone/>
            </a:pPr>
            <a:r>
              <a:rPr lang="en-US" sz="1250" dirty="0">
                <a:solidFill>
                  <a:srgbClr val="1D1D1F"/>
                </a:solidFill>
                <a:latin typeface="Arial" pitchFamily="34" charset="0"/>
                <a:ea typeface="Arial" pitchFamily="34" charset="-122"/>
                <a:cs typeface="Arial" pitchFamily="34" charset="-120"/>
              </a:rPr>
              <a:t>dans ce que vous envoyez à une IA externe : ses conditions s’appliquent.</a:t>
            </a:r>
            <a:endParaRPr lang="en-US" sz="1250" dirty="0"/>
          </a:p>
        </p:txBody>
      </p:sp>
      <p:sp>
        <p:nvSpPr>
          <p:cNvPr id="24" name="Text 20"/>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25" name="Text 21"/>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7 / 27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L’activité est prête : télécharger ou visualiser</a:t>
            </a:r>
            <a:endParaRPr lang="en-US" sz="3000" dirty="0"/>
          </a:p>
        </p:txBody>
      </p:sp>
      <p:sp>
        <p:nvSpPr>
          <p:cNvPr id="4" name="Shape 2"/>
          <p:cNvSpPr/>
          <p:nvPr/>
        </p:nvSpPr>
        <p:spPr>
          <a:xfrm>
            <a:off x="548640" y="1527048"/>
            <a:ext cx="6455664" cy="3224249"/>
          </a:xfrm>
          <a:prstGeom prst="roundRect">
            <a:avLst>
              <a:gd name="adj" fmla="val 3403"/>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resultat.jpg">    </p:cNvPr>
          <p:cNvPicPr>
            <a:picLocks noChangeAspect="1"/>
          </p:cNvPicPr>
          <p:nvPr/>
        </p:nvPicPr>
        <p:blipFill>
          <a:blip r:embed="rId1"/>
          <a:stretch>
            <a:fillRect/>
          </a:stretch>
        </p:blipFill>
        <p:spPr>
          <a:xfrm>
            <a:off x="621792" y="1600200"/>
            <a:ext cx="6309360" cy="3077945"/>
          </a:xfrm>
          <a:prstGeom prst="rect">
            <a:avLst/>
          </a:prstGeom>
        </p:spPr>
      </p:pic>
      <p:sp>
        <p:nvSpPr>
          <p:cNvPr id="6" name="Text 3"/>
          <p:cNvSpPr txBox="1"/>
          <p:nvPr/>
        </p:nvSpPr>
        <p:spPr>
          <a:xfrm>
            <a:off x="7452360" y="1645920"/>
            <a:ext cx="4190695" cy="3108960"/>
          </a:xfrm>
          <a:prstGeom prst="rect">
            <a:avLst/>
          </a:prstGeom>
          <a:noFill/>
          <a:ln/>
        </p:spPr>
        <p:txBody>
          <a:bodyPr wrap="square" lIns="0" tIns="0" rIns="0" bIns="0" rtlCol="0" anchor="t"/>
          <a:lstStyle/>
          <a:p>
            <a:pPr marL="200025" indent="-200025">
              <a:lnSpc>
                <a:spcPct val="105000"/>
              </a:lnSpc>
              <a:spcAft>
                <a:spcPts val="1400"/>
              </a:spcAft>
              <a:buSzPct val="100000"/>
              <a:buChar char="•"/>
            </a:pPr>
            <a:r>
              <a:rPr lang="en-US" sz="1500" b="1" dirty="0">
                <a:solidFill>
                  <a:srgbClr val="1D1D1F"/>
                </a:solidFill>
                <a:latin typeface="Arial" pitchFamily="34" charset="0"/>
                <a:ea typeface="Arial" pitchFamily="34" charset="-122"/>
                <a:cs typeface="Arial" pitchFamily="34" charset="-120"/>
              </a:rPr>
              <a:t>« Télécharger en H5P »</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 le fichier pour la plateforme (selon l’activité : H5P, MBZ ou XML).</a:t>
            </a:r>
            <a:endParaRPr lang="en-US" sz="1500" dirty="0"/>
          </a:p>
          <a:p>
            <a:pPr marL="200025" indent="-200025">
              <a:lnSpc>
                <a:spcPct val="105000"/>
              </a:lnSpc>
              <a:spcAft>
                <a:spcPts val="1400"/>
              </a:spcAft>
              <a:buSzPct val="100000"/>
              <a:buChar char="•"/>
            </a:pPr>
            <a:r>
              <a:rPr lang="en-US" sz="1500" dirty="0">
                <a:solidFill>
                  <a:srgbClr val="4A4A4F"/>
                </a:solidFill>
                <a:latin typeface="Arial" pitchFamily="34" charset="0"/>
                <a:ea typeface="Arial" pitchFamily="34" charset="-122"/>
                <a:cs typeface="Arial" pitchFamily="34" charset="-120"/>
              </a:rPr>
              <a:t>La flèche : </a:t>
            </a:r>
            <a:pPr indent="0" marL="0">
              <a:lnSpc>
                <a:spcPct val="105000"/>
              </a:lnSpc>
              <a:spcAft>
                <a:spcPts val="1400"/>
              </a:spcAft>
              <a:buNone/>
            </a:pPr>
            <a:r>
              <a:rPr lang="en-US" sz="1500" b="1" dirty="0">
                <a:solidFill>
                  <a:srgbClr val="1D1D1F"/>
                </a:solidFill>
                <a:latin typeface="Arial" pitchFamily="34" charset="0"/>
                <a:ea typeface="Arial" pitchFamily="34" charset="-122"/>
                <a:cs typeface="Arial" pitchFamily="34" charset="-120"/>
              </a:rPr>
              <a:t>« Format DOCX »</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a:t>
            </a:r>
            <a:pPr indent="0" marL="0">
              <a:lnSpc>
                <a:spcPct val="105000"/>
              </a:lnSpc>
              <a:spcAft>
                <a:spcPts val="1400"/>
              </a:spcAft>
              <a:buNone/>
            </a:pPr>
            <a:r>
              <a:rPr lang="en-US" sz="1500" b="1" dirty="0">
                <a:solidFill>
                  <a:srgbClr val="1D1D1F"/>
                </a:solidFill>
                <a:latin typeface="Arial" pitchFamily="34" charset="0"/>
                <a:ea typeface="Arial" pitchFamily="34" charset="-122"/>
                <a:cs typeface="Arial" pitchFamily="34" charset="-120"/>
              </a:rPr>
              <a:t>« Format ODT »</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a:t>
            </a:r>
            <a:pPr indent="0" marL="0">
              <a:lnSpc>
                <a:spcPct val="105000"/>
              </a:lnSpc>
              <a:spcAft>
                <a:spcPts val="1400"/>
              </a:spcAft>
              <a:buNone/>
            </a:pPr>
            <a:r>
              <a:rPr lang="en-US" sz="1500" b="1" dirty="0">
                <a:solidFill>
                  <a:srgbClr val="1D1D1F"/>
                </a:solidFill>
                <a:latin typeface="Arial" pitchFamily="34" charset="0"/>
                <a:ea typeface="Arial" pitchFamily="34" charset="-122"/>
                <a:cs typeface="Arial" pitchFamily="34" charset="-120"/>
              </a:rPr>
              <a:t>« Format PDF »</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pour une version papier.</a:t>
            </a:r>
            <a:endParaRPr lang="en-US" sz="1500" dirty="0"/>
          </a:p>
          <a:p>
            <a:pPr marL="200025" indent="-200025">
              <a:lnSpc>
                <a:spcPct val="105000"/>
              </a:lnSpc>
              <a:spcAft>
                <a:spcPts val="1400"/>
              </a:spcAft>
              <a:buSzPct val="100000"/>
              <a:buChar char="•"/>
            </a:pPr>
            <a:r>
              <a:rPr lang="en-US" sz="1500" b="1" dirty="0">
                <a:solidFill>
                  <a:srgbClr val="1D1D1F"/>
                </a:solidFill>
                <a:latin typeface="Arial" pitchFamily="34" charset="0"/>
                <a:ea typeface="Arial" pitchFamily="34" charset="-122"/>
                <a:cs typeface="Arial" pitchFamily="34" charset="-120"/>
              </a:rPr>
              <a:t>« Visualiser et éditer »</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 l’aperçu, avant tout téléchargement.</a:t>
            </a:r>
            <a:endParaRPr lang="en-US" sz="1500" dirty="0"/>
          </a:p>
        </p:txBody>
      </p:sp>
      <p:sp>
        <p:nvSpPr>
          <p:cNvPr id="7" name="Shape 4"/>
          <p:cNvSpPr/>
          <p:nvPr/>
        </p:nvSpPr>
        <p:spPr>
          <a:xfrm>
            <a:off x="7452360" y="3703320"/>
            <a:ext cx="4190695" cy="868680"/>
          </a:xfrm>
          <a:prstGeom prst="roundRect">
            <a:avLst>
              <a:gd name="adj" fmla="val 16842"/>
            </a:avLst>
          </a:prstGeom>
          <a:solidFill>
            <a:srgbClr val="FFF7EC"/>
          </a:solidFill>
          <a:ln w="9525">
            <a:solidFill>
              <a:srgbClr val="EEE0CF"/>
            </a:solidFill>
            <a:prstDash val="solid"/>
          </a:ln>
        </p:spPr>
      </p:sp>
      <p:pic>
        <p:nvPicPr>
          <p:cNvPr id="8" name="Image 1" descr="/var/folders/b7/tkzbyvzx72qcg9wb0t1jybvm0000gn/T/kit-formation-xg52uF/icone-10.png">    </p:cNvPr>
          <p:cNvPicPr>
            <a:picLocks noChangeAspect="1"/>
          </p:cNvPicPr>
          <p:nvPr/>
        </p:nvPicPr>
        <p:blipFill>
          <a:blip r:embed="rId2"/>
          <a:stretch>
            <a:fillRect/>
          </a:stretch>
        </p:blipFill>
        <p:spPr>
          <a:xfrm>
            <a:off x="7680960" y="4000500"/>
            <a:ext cx="274320" cy="274320"/>
          </a:xfrm>
          <a:prstGeom prst="rect">
            <a:avLst/>
          </a:prstGeom>
        </p:spPr>
      </p:pic>
      <p:sp>
        <p:nvSpPr>
          <p:cNvPr id="9" name="Text 5"/>
          <p:cNvSpPr txBox="1"/>
          <p:nvPr/>
        </p:nvSpPr>
        <p:spPr>
          <a:xfrm>
            <a:off x="8110728" y="3703320"/>
            <a:ext cx="3322015" cy="86868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Bon réflexe : </a:t>
            </a:r>
            <a:pPr indent="0" marL="0">
              <a:buNone/>
            </a:pPr>
            <a:r>
              <a:rPr lang="en-US" sz="1400" dirty="0">
                <a:solidFill>
                  <a:srgbClr val="1D1D1F"/>
                </a:solidFill>
                <a:latin typeface="Arial" pitchFamily="34" charset="0"/>
                <a:ea typeface="Arial" pitchFamily="34" charset="-122"/>
                <a:cs typeface="Arial" pitchFamily="34" charset="-120"/>
              </a:rPr>
              <a:t>visualiser avant de télécharger.</a:t>
            </a:r>
            <a:endParaRPr lang="en-US" sz="1400" dirty="0"/>
          </a:p>
        </p:txBody>
      </p:sp>
      <p:sp>
        <p:nvSpPr>
          <p:cNvPr id="10" name="Text 6"/>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1" name="Text 7"/>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8 / 27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Visualisez : l’activité comme vos élèves la verront</a:t>
            </a:r>
            <a:endParaRPr lang="en-US" sz="3000" dirty="0"/>
          </a:p>
        </p:txBody>
      </p:sp>
      <p:sp>
        <p:nvSpPr>
          <p:cNvPr id="4" name="Shape 2"/>
          <p:cNvSpPr/>
          <p:nvPr/>
        </p:nvSpPr>
        <p:spPr>
          <a:xfrm>
            <a:off x="548640" y="1481328"/>
            <a:ext cx="5717483" cy="4352544"/>
          </a:xfrm>
          <a:prstGeom prst="roundRect">
            <a:avLst>
              <a:gd name="adj" fmla="val 25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apercu.jpg">    </p:cNvPr>
          <p:cNvPicPr>
            <a:picLocks noChangeAspect="1"/>
          </p:cNvPicPr>
          <p:nvPr/>
        </p:nvPicPr>
        <p:blipFill>
          <a:blip r:embed="rId1"/>
          <a:stretch>
            <a:fillRect/>
          </a:stretch>
        </p:blipFill>
        <p:spPr>
          <a:xfrm>
            <a:off x="621792" y="1554480"/>
            <a:ext cx="5571179" cy="4206240"/>
          </a:xfrm>
          <a:prstGeom prst="rect">
            <a:avLst/>
          </a:prstGeom>
        </p:spPr>
      </p:pic>
      <p:sp>
        <p:nvSpPr>
          <p:cNvPr id="6" name="Text 3"/>
          <p:cNvSpPr txBox="1"/>
          <p:nvPr/>
        </p:nvSpPr>
        <p:spPr>
          <a:xfrm>
            <a:off x="6695891" y="1645920"/>
            <a:ext cx="4947164" cy="4023360"/>
          </a:xfrm>
          <a:prstGeom prst="rect">
            <a:avLst/>
          </a:prstGeom>
          <a:noFill/>
          <a:ln/>
        </p:spPr>
        <p:txBody>
          <a:bodyPr wrap="square" lIns="0" tIns="0" rIns="0" bIns="0" rtlCol="0" anchor="t"/>
          <a:lstStyle/>
          <a:p>
            <a:pPr marL="200025" indent="-200025">
              <a:lnSpc>
                <a:spcPct val="105000"/>
              </a:lnSpc>
              <a:spcAft>
                <a:spcPts val="1400"/>
              </a:spcAft>
              <a:buSzPct val="100000"/>
              <a:buChar char="•"/>
            </a:pPr>
            <a:r>
              <a:rPr lang="en-US" sz="1500" b="1" dirty="0">
                <a:solidFill>
                  <a:srgbClr val="1D1D1F"/>
                </a:solidFill>
                <a:latin typeface="Arial" pitchFamily="34" charset="0"/>
                <a:ea typeface="Arial" pitchFamily="34" charset="-122"/>
                <a:cs typeface="Arial" pitchFamily="34" charset="-120"/>
              </a:rPr>
              <a:t>On la joue</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 répondre, vérifier, recommencer, comme un élève.</a:t>
            </a:r>
            <a:endParaRPr lang="en-US" sz="1500" dirty="0"/>
          </a:p>
          <a:p>
            <a:pPr marL="200025" indent="-200025">
              <a:lnSpc>
                <a:spcPct val="105000"/>
              </a:lnSpc>
              <a:spcAft>
                <a:spcPts val="1400"/>
              </a:spcAft>
              <a:buSzPct val="100000"/>
              <a:buChar char="•"/>
            </a:pPr>
            <a:r>
              <a:rPr lang="en-US" sz="1500" b="1" dirty="0">
                <a:solidFill>
                  <a:srgbClr val="1D1D1F"/>
                </a:solidFill>
                <a:latin typeface="Arial" pitchFamily="34" charset="0"/>
                <a:ea typeface="Arial" pitchFamily="34" charset="-122"/>
                <a:cs typeface="Arial" pitchFamily="34" charset="-120"/>
              </a:rPr>
              <a:t>En haut</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 les plateformes compatibles (Éléa, Magistère, Moodle).</a:t>
            </a:r>
            <a:endParaRPr lang="en-US" sz="1500" dirty="0"/>
          </a:p>
          <a:p>
            <a:pPr marL="200025" indent="-200025">
              <a:lnSpc>
                <a:spcPct val="105000"/>
              </a:lnSpc>
              <a:spcAft>
                <a:spcPts val="1400"/>
              </a:spcAft>
              <a:buSzPct val="100000"/>
              <a:buChar char="•"/>
            </a:pPr>
            <a:r>
              <a:rPr lang="en-US" sz="1500" b="1" dirty="0">
                <a:solidFill>
                  <a:srgbClr val="1D1D1F"/>
                </a:solidFill>
                <a:latin typeface="Arial" pitchFamily="34" charset="0"/>
                <a:ea typeface="Arial" pitchFamily="34" charset="-122"/>
                <a:cs typeface="Arial" pitchFamily="34" charset="-120"/>
              </a:rPr>
              <a:t>En bas</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 </a:t>
            </a:r>
            <a:pPr indent="0" marL="0">
              <a:lnSpc>
                <a:spcPct val="105000"/>
              </a:lnSpc>
              <a:spcAft>
                <a:spcPts val="1400"/>
              </a:spcAft>
              <a:buNone/>
            </a:pPr>
            <a:r>
              <a:rPr lang="en-US" sz="1500" b="1" dirty="0">
                <a:solidFill>
                  <a:srgbClr val="1D1D1F"/>
                </a:solidFill>
                <a:latin typeface="Arial" pitchFamily="34" charset="0"/>
                <a:ea typeface="Arial" pitchFamily="34" charset="-122"/>
                <a:cs typeface="Arial" pitchFamily="34" charset="-120"/>
              </a:rPr>
              <a:t>« Télécharger »</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et un bouton par format, le </a:t>
            </a:r>
            <a:pPr indent="0" marL="0">
              <a:lnSpc>
                <a:spcPct val="105000"/>
              </a:lnSpc>
              <a:spcAft>
                <a:spcPts val="1400"/>
              </a:spcAft>
              <a:buNone/>
            </a:pPr>
            <a:r>
              <a:rPr lang="en-US" sz="1500" b="1" dirty="0">
                <a:solidFill>
                  <a:srgbClr val="1D1D1F"/>
                </a:solidFill>
                <a:latin typeface="Arial" pitchFamily="34" charset="0"/>
                <a:ea typeface="Arial" pitchFamily="34" charset="-122"/>
                <a:cs typeface="Arial" pitchFamily="34" charset="-120"/>
              </a:rPr>
              <a:t>?</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de l’import, </a:t>
            </a:r>
            <a:pPr indent="0" marL="0">
              <a:lnSpc>
                <a:spcPct val="105000"/>
              </a:lnSpc>
              <a:spcAft>
                <a:spcPts val="1400"/>
              </a:spcAft>
              <a:buNone/>
            </a:pPr>
            <a:r>
              <a:rPr lang="en-US" sz="1500" b="1" dirty="0">
                <a:solidFill>
                  <a:srgbClr val="1D1D1F"/>
                </a:solidFill>
                <a:latin typeface="Arial" pitchFamily="34" charset="0"/>
                <a:ea typeface="Arial" pitchFamily="34" charset="-122"/>
                <a:cs typeface="Arial" pitchFamily="34" charset="-120"/>
              </a:rPr>
              <a:t>« Vers la Sucrerie »</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 et </a:t>
            </a:r>
            <a:pPr indent="0" marL="0">
              <a:lnSpc>
                <a:spcPct val="105000"/>
              </a:lnSpc>
              <a:spcAft>
                <a:spcPts val="1400"/>
              </a:spcAft>
              <a:buNone/>
            </a:pPr>
            <a:r>
              <a:rPr lang="en-US" sz="1500" b="1" dirty="0">
                <a:solidFill>
                  <a:srgbClr val="1D1D1F"/>
                </a:solidFill>
                <a:latin typeface="Arial" pitchFamily="34" charset="0"/>
                <a:ea typeface="Arial" pitchFamily="34" charset="-122"/>
                <a:cs typeface="Arial" pitchFamily="34" charset="-120"/>
              </a:rPr>
              <a:t>« Éditer »</a:t>
            </a:r>
            <a:pPr indent="0" marL="0">
              <a:lnSpc>
                <a:spcPct val="105000"/>
              </a:lnSpc>
              <a:spcAft>
                <a:spcPts val="1400"/>
              </a:spcAft>
              <a:buNone/>
            </a:pPr>
            <a:r>
              <a:rPr lang="en-US" sz="1500" dirty="0">
                <a:solidFill>
                  <a:srgbClr val="4A4A4F"/>
                </a:solidFill>
                <a:latin typeface="Arial" pitchFamily="34" charset="0"/>
                <a:ea typeface="Arial" pitchFamily="34" charset="-122"/>
                <a:cs typeface="Arial" pitchFamily="34" charset="-120"/>
              </a:rPr>
              <a:t>.</a:t>
            </a:r>
            <a:endParaRPr lang="en-US" sz="1500" dirty="0"/>
          </a:p>
        </p:txBody>
      </p:sp>
      <p:sp>
        <p:nvSpPr>
          <p:cNvPr id="7" name="Text 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8" name="Text 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9 / 27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Corrigez dans l’éditeur visuel</a:t>
            </a:r>
            <a:endParaRPr lang="en-US" sz="3000" dirty="0"/>
          </a:p>
        </p:txBody>
      </p:sp>
      <p:sp>
        <p:nvSpPr>
          <p:cNvPr id="4" name="Shape 2"/>
          <p:cNvSpPr/>
          <p:nvPr/>
        </p:nvSpPr>
        <p:spPr>
          <a:xfrm>
            <a:off x="548640" y="1481328"/>
            <a:ext cx="5717483" cy="4352544"/>
          </a:xfrm>
          <a:prstGeom prst="roundRect">
            <a:avLst>
              <a:gd name="adj" fmla="val 25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editeur.jpg">    </p:cNvPr>
          <p:cNvPicPr>
            <a:picLocks noChangeAspect="1"/>
          </p:cNvPicPr>
          <p:nvPr/>
        </p:nvPicPr>
        <p:blipFill>
          <a:blip r:embed="rId1"/>
          <a:stretch>
            <a:fillRect/>
          </a:stretch>
        </p:blipFill>
        <p:spPr>
          <a:xfrm>
            <a:off x="621792" y="1554480"/>
            <a:ext cx="5571179" cy="4206240"/>
          </a:xfrm>
          <a:prstGeom prst="rect">
            <a:avLst/>
          </a:prstGeom>
        </p:spPr>
      </p:pic>
      <p:sp>
        <p:nvSpPr>
          <p:cNvPr id="6" name="Text 3"/>
          <p:cNvSpPr txBox="1"/>
          <p:nvPr/>
        </p:nvSpPr>
        <p:spPr>
          <a:xfrm>
            <a:off x="6695891" y="1645920"/>
            <a:ext cx="4947164" cy="3291840"/>
          </a:xfrm>
          <a:prstGeom prst="rect">
            <a:avLst/>
          </a:prstGeom>
          <a:noFill/>
          <a:ln/>
        </p:spPr>
        <p:txBody>
          <a:bodyPr wrap="square" lIns="0" tIns="0" rIns="0" bIns="0" rtlCol="0" anchor="t"/>
          <a:lstStyle/>
          <a:p>
            <a:pPr marL="193358" indent="-193358">
              <a:lnSpc>
                <a:spcPct val="105000"/>
              </a:lnSpc>
              <a:spcAft>
                <a:spcPts val="1100"/>
              </a:spcAft>
              <a:buSzPct val="100000"/>
              <a:buChar char="•"/>
            </a:pPr>
            <a:r>
              <a:rPr lang="en-US" sz="1450" b="1" dirty="0">
                <a:solidFill>
                  <a:srgbClr val="1D1D1F"/>
                </a:solidFill>
                <a:latin typeface="Arial" pitchFamily="34" charset="0"/>
                <a:ea typeface="Arial" pitchFamily="34" charset="-122"/>
                <a:cs typeface="Arial" pitchFamily="34" charset="-120"/>
              </a:rPr>
              <a:t>« Éditer »</a:t>
            </a:r>
            <a:pPr indent="0" marL="0">
              <a:lnSpc>
                <a:spcPct val="105000"/>
              </a:lnSpc>
              <a:spcAft>
                <a:spcPts val="1100"/>
              </a:spcAft>
              <a:buNone/>
            </a:pPr>
            <a:r>
              <a:rPr lang="en-US" sz="1450" dirty="0">
                <a:solidFill>
                  <a:srgbClr val="4A4A4F"/>
                </a:solidFill>
                <a:latin typeface="Arial" pitchFamily="34" charset="0"/>
                <a:ea typeface="Arial" pitchFamily="34" charset="-122"/>
                <a:cs typeface="Arial" pitchFamily="34" charset="-120"/>
              </a:rPr>
              <a:t> dans la barre de l’aperçu.</a:t>
            </a:r>
            <a:endParaRPr lang="en-US" sz="1450" dirty="0"/>
          </a:p>
          <a:p>
            <a:pPr marL="193358" indent="-193358">
              <a:lnSpc>
                <a:spcPct val="105000"/>
              </a:lnSpc>
              <a:spcAft>
                <a:spcPts val="1100"/>
              </a:spcAft>
              <a:buSzPct val="100000"/>
              <a:buChar char="•"/>
            </a:pPr>
            <a:r>
              <a:rPr lang="en-US" sz="1450" b="1" dirty="0">
                <a:solidFill>
                  <a:srgbClr val="1D1D1F"/>
                </a:solidFill>
                <a:latin typeface="Arial" pitchFamily="34" charset="0"/>
                <a:ea typeface="Arial" pitchFamily="34" charset="-122"/>
                <a:cs typeface="Arial" pitchFamily="34" charset="-120"/>
              </a:rPr>
              <a:t>À gauche</a:t>
            </a:r>
            <a:pPr indent="0" marL="0">
              <a:lnSpc>
                <a:spcPct val="105000"/>
              </a:lnSpc>
              <a:spcAft>
                <a:spcPts val="1100"/>
              </a:spcAft>
              <a:buNone/>
            </a:pPr>
            <a:r>
              <a:rPr lang="en-US" sz="1450" dirty="0">
                <a:solidFill>
                  <a:srgbClr val="4A4A4F"/>
                </a:solidFill>
                <a:latin typeface="Arial" pitchFamily="34" charset="0"/>
                <a:ea typeface="Arial" pitchFamily="34" charset="-122"/>
                <a:cs typeface="Arial" pitchFamily="34" charset="-120"/>
              </a:rPr>
              <a:t> : la liste des éléments, à ajouter, supprimer, réordonner.</a:t>
            </a:r>
            <a:endParaRPr lang="en-US" sz="1450" dirty="0"/>
          </a:p>
          <a:p>
            <a:pPr marL="193358" indent="-193358">
              <a:lnSpc>
                <a:spcPct val="105000"/>
              </a:lnSpc>
              <a:spcAft>
                <a:spcPts val="1100"/>
              </a:spcAft>
              <a:buSzPct val="100000"/>
              <a:buChar char="•"/>
            </a:pPr>
            <a:r>
              <a:rPr lang="en-US" sz="1450" b="1" dirty="0">
                <a:solidFill>
                  <a:srgbClr val="1D1D1F"/>
                </a:solidFill>
                <a:latin typeface="Arial" pitchFamily="34" charset="0"/>
                <a:ea typeface="Arial" pitchFamily="34" charset="-122"/>
                <a:cs typeface="Arial" pitchFamily="34" charset="-120"/>
              </a:rPr>
              <a:t>À droite</a:t>
            </a:r>
            <a:pPr indent="0" marL="0">
              <a:lnSpc>
                <a:spcPct val="105000"/>
              </a:lnSpc>
              <a:spcAft>
                <a:spcPts val="1100"/>
              </a:spcAft>
              <a:buNone/>
            </a:pPr>
            <a:r>
              <a:rPr lang="en-US" sz="1450" dirty="0">
                <a:solidFill>
                  <a:srgbClr val="4A4A4F"/>
                </a:solidFill>
                <a:latin typeface="Arial" pitchFamily="34" charset="0"/>
                <a:ea typeface="Arial" pitchFamily="34" charset="-122"/>
                <a:cs typeface="Arial" pitchFamily="34" charset="-120"/>
              </a:rPr>
              <a:t> : le détail — texte enrichi, formules, images, retours, réglages.</a:t>
            </a:r>
            <a:endParaRPr lang="en-US" sz="1450" dirty="0"/>
          </a:p>
          <a:p>
            <a:pPr marL="193358" indent="-193358">
              <a:lnSpc>
                <a:spcPct val="105000"/>
              </a:lnSpc>
              <a:spcAft>
                <a:spcPts val="1100"/>
              </a:spcAft>
              <a:buSzPct val="100000"/>
              <a:buChar char="•"/>
            </a:pPr>
            <a:r>
              <a:rPr lang="en-US" sz="1450" b="1" dirty="0">
                <a:solidFill>
                  <a:srgbClr val="1D1D1F"/>
                </a:solidFill>
                <a:latin typeface="Arial" pitchFamily="34" charset="0"/>
                <a:ea typeface="Arial" pitchFamily="34" charset="-122"/>
                <a:cs typeface="Arial" pitchFamily="34" charset="-120"/>
              </a:rPr>
              <a:t>« Enregistrer »</a:t>
            </a:r>
            <a:pPr indent="0" marL="0">
              <a:lnSpc>
                <a:spcPct val="105000"/>
              </a:lnSpc>
              <a:spcAft>
                <a:spcPts val="1100"/>
              </a:spcAft>
              <a:buNone/>
            </a:pPr>
            <a:r>
              <a:rPr lang="en-US" sz="1450" dirty="0">
                <a:solidFill>
                  <a:srgbClr val="4A4A4F"/>
                </a:solidFill>
                <a:latin typeface="Arial" pitchFamily="34" charset="0"/>
                <a:ea typeface="Arial" pitchFamily="34" charset="-122"/>
                <a:cs typeface="Arial" pitchFamily="34" charset="-120"/>
              </a:rPr>
              <a:t> met à jour l’aperçu et les fichiers.</a:t>
            </a:r>
            <a:endParaRPr lang="en-US" sz="1450" dirty="0"/>
          </a:p>
        </p:txBody>
      </p:sp>
      <p:sp>
        <p:nvSpPr>
          <p:cNvPr id="7" name="Shape 4"/>
          <p:cNvSpPr/>
          <p:nvPr/>
        </p:nvSpPr>
        <p:spPr>
          <a:xfrm>
            <a:off x="6695891" y="4892040"/>
            <a:ext cx="4947164" cy="868680"/>
          </a:xfrm>
          <a:prstGeom prst="roundRect">
            <a:avLst>
              <a:gd name="adj" fmla="val 16842"/>
            </a:avLst>
          </a:prstGeom>
          <a:solidFill>
            <a:srgbClr val="FFF7EC"/>
          </a:solidFill>
          <a:ln w="9525">
            <a:solidFill>
              <a:srgbClr val="EEE0CF"/>
            </a:solidFill>
            <a:prstDash val="solid"/>
          </a:ln>
        </p:spPr>
      </p:sp>
      <p:pic>
        <p:nvPicPr>
          <p:cNvPr id="8" name="Image 1" descr="/var/folders/b7/tkzbyvzx72qcg9wb0t1jybvm0000gn/T/kit-formation-xg52uF/icone-28.png">    </p:cNvPr>
          <p:cNvPicPr>
            <a:picLocks noChangeAspect="1"/>
          </p:cNvPicPr>
          <p:nvPr/>
        </p:nvPicPr>
        <p:blipFill>
          <a:blip r:embed="rId2"/>
          <a:stretch>
            <a:fillRect/>
          </a:stretch>
        </p:blipFill>
        <p:spPr>
          <a:xfrm>
            <a:off x="6924491" y="5189220"/>
            <a:ext cx="274320" cy="274320"/>
          </a:xfrm>
          <a:prstGeom prst="rect">
            <a:avLst/>
          </a:prstGeom>
        </p:spPr>
      </p:pic>
      <p:sp>
        <p:nvSpPr>
          <p:cNvPr id="9" name="Text 5"/>
          <p:cNvSpPr txBox="1"/>
          <p:nvPr/>
        </p:nvSpPr>
        <p:spPr>
          <a:xfrm>
            <a:off x="7354259" y="4892040"/>
            <a:ext cx="4078484" cy="868680"/>
          </a:xfrm>
          <a:prstGeom prst="rect">
            <a:avLst/>
          </a:prstGeom>
          <a:noFill/>
          <a:ln/>
        </p:spPr>
        <p:txBody>
          <a:bodyPr wrap="square" lIns="0" tIns="0" rIns="0" bIns="0" rtlCol="0" anchor="ctr"/>
          <a:lstStyle/>
          <a:p>
            <a:pPr indent="0" marL="0">
              <a:buNone/>
            </a:pPr>
            <a:r>
              <a:rPr lang="en-US" sz="1350" b="1" dirty="0">
                <a:solidFill>
                  <a:srgbClr val="1D1D1F"/>
                </a:solidFill>
                <a:latin typeface="Arial" pitchFamily="34" charset="0"/>
                <a:ea typeface="Arial" pitchFamily="34" charset="-122"/>
                <a:cs typeface="Arial" pitchFamily="34" charset="-120"/>
              </a:rPr>
              <a:t>L’IA peut se tromper : </a:t>
            </a:r>
            <a:pPr indent="0" marL="0">
              <a:buNone/>
            </a:pPr>
            <a:r>
              <a:rPr lang="en-US" sz="1350" dirty="0">
                <a:solidFill>
                  <a:srgbClr val="1D1D1F"/>
                </a:solidFill>
                <a:latin typeface="Arial" pitchFamily="34" charset="0"/>
                <a:ea typeface="Arial" pitchFamily="34" charset="-122"/>
                <a:cs typeface="Arial" pitchFamily="34" charset="-120"/>
              </a:rPr>
              <a:t>relisez chaque élément.</a:t>
            </a:r>
            <a:endParaRPr lang="en-US" sz="1350" dirty="0"/>
          </a:p>
        </p:txBody>
      </p:sp>
      <p:sp>
        <p:nvSpPr>
          <p:cNvPr id="10" name="Text 6"/>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1" name="Text 7"/>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10 / 27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Exportez : pour la plateforme, et pour la classe</a:t>
            </a:r>
            <a:endParaRPr lang="en-US" sz="3000" dirty="0"/>
          </a:p>
        </p:txBody>
      </p:sp>
      <p:sp>
        <p:nvSpPr>
          <p:cNvPr id="4" name="Shape 2"/>
          <p:cNvSpPr/>
          <p:nvPr/>
        </p:nvSpPr>
        <p:spPr>
          <a:xfrm>
            <a:off x="1024128" y="1527048"/>
            <a:ext cx="10143439" cy="831108"/>
          </a:xfrm>
          <a:prstGeom prst="roundRect">
            <a:avLst>
              <a:gd name="adj" fmla="val 13203"/>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barre.jpg">    </p:cNvPr>
          <p:cNvPicPr>
            <a:picLocks noChangeAspect="1"/>
          </p:cNvPicPr>
          <p:nvPr/>
        </p:nvPicPr>
        <p:blipFill>
          <a:blip r:embed="rId1"/>
          <a:stretch>
            <a:fillRect/>
          </a:stretch>
        </p:blipFill>
        <p:spPr>
          <a:xfrm>
            <a:off x="1097280" y="1600200"/>
            <a:ext cx="9997135" cy="684804"/>
          </a:xfrm>
          <a:prstGeom prst="rect">
            <a:avLst/>
          </a:prstGeom>
        </p:spPr>
      </p:pic>
      <p:sp>
        <p:nvSpPr>
          <p:cNvPr id="6" name="Shape 3"/>
          <p:cNvSpPr/>
          <p:nvPr/>
        </p:nvSpPr>
        <p:spPr>
          <a:xfrm>
            <a:off x="548640" y="2743200"/>
            <a:ext cx="5364328" cy="3017520"/>
          </a:xfrm>
          <a:prstGeom prst="roundRect">
            <a:avLst>
              <a:gd name="adj" fmla="val 484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7" name="Shape 4"/>
          <p:cNvSpPr/>
          <p:nvPr/>
        </p:nvSpPr>
        <p:spPr>
          <a:xfrm>
            <a:off x="868680" y="3044952"/>
            <a:ext cx="548640" cy="548640"/>
          </a:xfrm>
          <a:prstGeom prst="roundRect">
            <a:avLst>
              <a:gd name="adj" fmla="val 28000"/>
            </a:avLst>
          </a:prstGeom>
          <a:solidFill>
            <a:srgbClr val="FFECD4"/>
          </a:solidFill>
          <a:ln/>
        </p:spPr>
      </p:sp>
      <p:pic>
        <p:nvPicPr>
          <p:cNvPr id="8" name="Image 1" descr="/var/folders/b7/tkzbyvzx72qcg9wb0t1jybvm0000gn/T/kit-formation-xg52uF/icone-36.png">    </p:cNvPr>
          <p:cNvPicPr>
            <a:picLocks noChangeAspect="1"/>
          </p:cNvPicPr>
          <p:nvPr/>
        </p:nvPicPr>
        <p:blipFill>
          <a:blip r:embed="rId2"/>
          <a:stretch>
            <a:fillRect/>
          </a:stretch>
        </p:blipFill>
        <p:spPr>
          <a:xfrm>
            <a:off x="1000354" y="3176626"/>
            <a:ext cx="285293" cy="285293"/>
          </a:xfrm>
          <a:prstGeom prst="rect">
            <a:avLst/>
          </a:prstGeom>
        </p:spPr>
      </p:pic>
      <p:sp>
        <p:nvSpPr>
          <p:cNvPr id="9" name="Text 5"/>
          <p:cNvSpPr txBox="1"/>
          <p:nvPr/>
        </p:nvSpPr>
        <p:spPr>
          <a:xfrm>
            <a:off x="1600200" y="3072384"/>
            <a:ext cx="4084168" cy="457200"/>
          </a:xfrm>
          <a:prstGeom prst="rect">
            <a:avLst/>
          </a:prstGeom>
          <a:noFill/>
          <a:ln/>
        </p:spPr>
        <p:txBody>
          <a:bodyPr wrap="square" lIns="0" tIns="0" rIns="0" bIns="0" rtlCol="0" anchor="ctr"/>
          <a:lstStyle/>
          <a:p>
            <a:pPr indent="0" marL="0">
              <a:buNone/>
            </a:pPr>
            <a:r>
              <a:rPr lang="en-US" sz="1900" b="1" dirty="0">
                <a:solidFill>
                  <a:srgbClr val="1D1D1F"/>
                </a:solidFill>
                <a:latin typeface="Arial" pitchFamily="34" charset="0"/>
                <a:ea typeface="Arial" pitchFamily="34" charset="-122"/>
                <a:cs typeface="Arial" pitchFamily="34" charset="-120"/>
              </a:rPr>
              <a:t>Pour la plateforme</a:t>
            </a:r>
            <a:endParaRPr lang="en-US" sz="1900" dirty="0"/>
          </a:p>
        </p:txBody>
      </p:sp>
      <p:sp>
        <p:nvSpPr>
          <p:cNvPr id="10" name="Text 6"/>
          <p:cNvSpPr txBox="1"/>
          <p:nvPr/>
        </p:nvSpPr>
        <p:spPr>
          <a:xfrm>
            <a:off x="868680" y="3794760"/>
            <a:ext cx="4724248" cy="2011680"/>
          </a:xfrm>
          <a:prstGeom prst="rect">
            <a:avLst/>
          </a:prstGeom>
          <a:noFill/>
          <a:ln/>
        </p:spPr>
        <p:txBody>
          <a:bodyPr wrap="square" lIns="0" tIns="0" rIns="0" bIns="0" rtlCol="0" anchor="t"/>
          <a:lstStyle/>
          <a:p>
            <a:pPr marL="193358" indent="-193358">
              <a:lnSpc>
                <a:spcPct val="105000"/>
              </a:lnSpc>
              <a:spcAft>
                <a:spcPts val="1000"/>
              </a:spcAft>
              <a:buSzPct val="100000"/>
              <a:buChar char="•"/>
            </a:pPr>
            <a:r>
              <a:rPr lang="en-US" sz="1450" b="1" dirty="0">
                <a:solidFill>
                  <a:srgbClr val="1D1D1F"/>
                </a:solidFill>
                <a:latin typeface="Arial" pitchFamily="34" charset="0"/>
                <a:ea typeface="Arial" pitchFamily="34" charset="-122"/>
                <a:cs typeface="Arial" pitchFamily="34" charset="-120"/>
              </a:rPr>
              <a:t>.h5p</a:t>
            </a:r>
            <a:pPr indent="0" marL="0">
              <a:lnSpc>
                <a:spcPct val="105000"/>
              </a:lnSpc>
              <a:spcAft>
                <a:spcPts val="1000"/>
              </a:spcAft>
              <a:buNone/>
            </a:pPr>
            <a:r>
              <a:rPr lang="en-US" sz="1450" dirty="0">
                <a:solidFill>
                  <a:srgbClr val="4A4A4F"/>
                </a:solidFill>
                <a:latin typeface="Arial" pitchFamily="34" charset="0"/>
                <a:ea typeface="Arial" pitchFamily="34" charset="-122"/>
                <a:cs typeface="Arial" pitchFamily="34" charset="-120"/>
              </a:rPr>
              <a:t> : une activité interactive (quiz, texte à trous, mots croisés…).</a:t>
            </a:r>
            <a:endParaRPr lang="en-US" sz="1450" dirty="0"/>
          </a:p>
          <a:p>
            <a:pPr marL="193358" indent="-193358">
              <a:lnSpc>
                <a:spcPct val="105000"/>
              </a:lnSpc>
              <a:spcAft>
                <a:spcPts val="1000"/>
              </a:spcAft>
              <a:buSzPct val="100000"/>
              <a:buChar char="•"/>
            </a:pPr>
            <a:r>
              <a:rPr lang="en-US" sz="1450" b="1" dirty="0">
                <a:solidFill>
                  <a:srgbClr val="1D1D1F"/>
                </a:solidFill>
                <a:latin typeface="Arial" pitchFamily="34" charset="0"/>
                <a:ea typeface="Arial" pitchFamily="34" charset="-122"/>
                <a:cs typeface="Arial" pitchFamily="34" charset="-120"/>
              </a:rPr>
              <a:t>.mbz</a:t>
            </a:r>
            <a:pPr indent="0" marL="0">
              <a:lnSpc>
                <a:spcPct val="105000"/>
              </a:lnSpc>
              <a:spcAft>
                <a:spcPts val="1000"/>
              </a:spcAft>
              <a:buNone/>
            </a:pPr>
            <a:r>
              <a:rPr lang="en-US" sz="1450" dirty="0">
                <a:solidFill>
                  <a:srgbClr val="4A4A4F"/>
                </a:solidFill>
                <a:latin typeface="Arial" pitchFamily="34" charset="0"/>
                <a:ea typeface="Arial" pitchFamily="34" charset="-122"/>
                <a:cs typeface="Arial" pitchFamily="34" charset="-120"/>
              </a:rPr>
              <a:t> : un module de la plateforme (Page, Livre, Devoir…).</a:t>
            </a:r>
            <a:endParaRPr lang="en-US" sz="1450" dirty="0"/>
          </a:p>
          <a:p>
            <a:pPr marL="193358" indent="-193358">
              <a:lnSpc>
                <a:spcPct val="105000"/>
              </a:lnSpc>
              <a:spcAft>
                <a:spcPts val="1000"/>
              </a:spcAft>
              <a:buSzPct val="100000"/>
              <a:buChar char="•"/>
            </a:pPr>
            <a:r>
              <a:rPr lang="en-US" sz="1450" b="1" dirty="0">
                <a:solidFill>
                  <a:srgbClr val="1D1D1F"/>
                </a:solidFill>
                <a:latin typeface="Arial" pitchFamily="34" charset="0"/>
                <a:ea typeface="Arial" pitchFamily="34" charset="-122"/>
                <a:cs typeface="Arial" pitchFamily="34" charset="-120"/>
              </a:rPr>
              <a:t>.xml</a:t>
            </a:r>
            <a:pPr indent="0" marL="0">
              <a:lnSpc>
                <a:spcPct val="105000"/>
              </a:lnSpc>
              <a:spcAft>
                <a:spcPts val="1000"/>
              </a:spcAft>
              <a:buNone/>
            </a:pPr>
            <a:r>
              <a:rPr lang="en-US" sz="1450" dirty="0">
                <a:solidFill>
                  <a:srgbClr val="4A4A4F"/>
                </a:solidFill>
                <a:latin typeface="Arial" pitchFamily="34" charset="0"/>
                <a:ea typeface="Arial" pitchFamily="34" charset="-122"/>
                <a:cs typeface="Arial" pitchFamily="34" charset="-120"/>
              </a:rPr>
              <a:t> : des questions pour la banque de questions, ou un glossaire.</a:t>
            </a:r>
            <a:endParaRPr lang="en-US" sz="1450" dirty="0"/>
          </a:p>
        </p:txBody>
      </p:sp>
      <p:sp>
        <p:nvSpPr>
          <p:cNvPr id="11" name="Shape 7"/>
          <p:cNvSpPr/>
          <p:nvPr/>
        </p:nvSpPr>
        <p:spPr>
          <a:xfrm>
            <a:off x="6278728" y="2743200"/>
            <a:ext cx="5364328" cy="3017520"/>
          </a:xfrm>
          <a:prstGeom prst="roundRect">
            <a:avLst>
              <a:gd name="adj" fmla="val 484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2" name="Shape 8"/>
          <p:cNvSpPr/>
          <p:nvPr/>
        </p:nvSpPr>
        <p:spPr>
          <a:xfrm>
            <a:off x="6598768" y="3044952"/>
            <a:ext cx="548640" cy="548640"/>
          </a:xfrm>
          <a:prstGeom prst="roundRect">
            <a:avLst>
              <a:gd name="adj" fmla="val 28000"/>
            </a:avLst>
          </a:prstGeom>
          <a:solidFill>
            <a:srgbClr val="FFECD4"/>
          </a:solidFill>
          <a:ln/>
        </p:spPr>
      </p:sp>
      <p:pic>
        <p:nvPicPr>
          <p:cNvPr id="13" name="Image 2" descr="/var/folders/b7/tkzbyvzx72qcg9wb0t1jybvm0000gn/T/kit-formation-xg52uF/icone-35.png">    </p:cNvPr>
          <p:cNvPicPr>
            <a:picLocks noChangeAspect="1"/>
          </p:cNvPicPr>
          <p:nvPr/>
        </p:nvPicPr>
        <p:blipFill>
          <a:blip r:embed="rId3"/>
          <a:stretch>
            <a:fillRect/>
          </a:stretch>
        </p:blipFill>
        <p:spPr>
          <a:xfrm>
            <a:off x="6730441" y="3176626"/>
            <a:ext cx="285293" cy="285293"/>
          </a:xfrm>
          <a:prstGeom prst="rect">
            <a:avLst/>
          </a:prstGeom>
        </p:spPr>
      </p:pic>
      <p:sp>
        <p:nvSpPr>
          <p:cNvPr id="14" name="Text 9"/>
          <p:cNvSpPr txBox="1"/>
          <p:nvPr/>
        </p:nvSpPr>
        <p:spPr>
          <a:xfrm>
            <a:off x="7330288" y="3072384"/>
            <a:ext cx="4084168" cy="457200"/>
          </a:xfrm>
          <a:prstGeom prst="rect">
            <a:avLst/>
          </a:prstGeom>
          <a:noFill/>
          <a:ln/>
        </p:spPr>
        <p:txBody>
          <a:bodyPr wrap="square" lIns="0" tIns="0" rIns="0" bIns="0" rtlCol="0" anchor="ctr"/>
          <a:lstStyle/>
          <a:p>
            <a:pPr indent="0" marL="0">
              <a:buNone/>
            </a:pPr>
            <a:r>
              <a:rPr lang="en-US" sz="1900" b="1" dirty="0">
                <a:solidFill>
                  <a:srgbClr val="1D1D1F"/>
                </a:solidFill>
                <a:latin typeface="Arial" pitchFamily="34" charset="0"/>
                <a:ea typeface="Arial" pitchFamily="34" charset="-122"/>
                <a:cs typeface="Arial" pitchFamily="34" charset="-120"/>
              </a:rPr>
              <a:t>Pour la classe</a:t>
            </a:r>
            <a:endParaRPr lang="en-US" sz="1900" dirty="0"/>
          </a:p>
        </p:txBody>
      </p:sp>
      <p:sp>
        <p:nvSpPr>
          <p:cNvPr id="15" name="Text 10"/>
          <p:cNvSpPr txBox="1"/>
          <p:nvPr/>
        </p:nvSpPr>
        <p:spPr>
          <a:xfrm>
            <a:off x="6598768" y="3794760"/>
            <a:ext cx="4724248" cy="2011680"/>
          </a:xfrm>
          <a:prstGeom prst="rect">
            <a:avLst/>
          </a:prstGeom>
          <a:noFill/>
          <a:ln/>
        </p:spPr>
        <p:txBody>
          <a:bodyPr wrap="square" lIns="0" tIns="0" rIns="0" bIns="0" rtlCol="0" anchor="t"/>
          <a:lstStyle/>
          <a:p>
            <a:pPr marL="193358" indent="-193358">
              <a:lnSpc>
                <a:spcPct val="105000"/>
              </a:lnSpc>
              <a:spcAft>
                <a:spcPts val="1000"/>
              </a:spcAft>
              <a:buSzPct val="100000"/>
              <a:buChar char="•"/>
            </a:pPr>
            <a:r>
              <a:rPr lang="en-US" sz="1450" b="1" dirty="0">
                <a:solidFill>
                  <a:srgbClr val="1D1D1F"/>
                </a:solidFill>
                <a:latin typeface="Arial" pitchFamily="34" charset="0"/>
                <a:ea typeface="Arial" pitchFamily="34" charset="-122"/>
                <a:cs typeface="Arial" pitchFamily="34" charset="-120"/>
              </a:rPr>
              <a:t>DOCX</a:t>
            </a:r>
            <a:pPr indent="0" marL="0">
              <a:lnSpc>
                <a:spcPct val="105000"/>
              </a:lnSpc>
              <a:spcAft>
                <a:spcPts val="1000"/>
              </a:spcAft>
              <a:buNone/>
            </a:pPr>
            <a:r>
              <a:rPr lang="en-US" sz="1450" dirty="0">
                <a:solidFill>
                  <a:srgbClr val="4A4A4F"/>
                </a:solidFill>
                <a:latin typeface="Arial" pitchFamily="34" charset="0"/>
                <a:ea typeface="Arial" pitchFamily="34" charset="-122"/>
                <a:cs typeface="Arial" pitchFamily="34" charset="-120"/>
              </a:rPr>
              <a:t> (Word) et </a:t>
            </a:r>
            <a:pPr indent="0" marL="0">
              <a:lnSpc>
                <a:spcPct val="105000"/>
              </a:lnSpc>
              <a:spcAft>
                <a:spcPts val="1000"/>
              </a:spcAft>
              <a:buNone/>
            </a:pPr>
            <a:r>
              <a:rPr lang="en-US" sz="1450" b="1" dirty="0">
                <a:solidFill>
                  <a:srgbClr val="1D1D1F"/>
                </a:solidFill>
                <a:latin typeface="Arial" pitchFamily="34" charset="0"/>
                <a:ea typeface="Arial" pitchFamily="34" charset="-122"/>
                <a:cs typeface="Arial" pitchFamily="34" charset="-120"/>
              </a:rPr>
              <a:t>ODT</a:t>
            </a:r>
            <a:pPr indent="0" marL="0">
              <a:lnSpc>
                <a:spcPct val="105000"/>
              </a:lnSpc>
              <a:spcAft>
                <a:spcPts val="1000"/>
              </a:spcAft>
              <a:buNone/>
            </a:pPr>
            <a:r>
              <a:rPr lang="en-US" sz="1450" dirty="0">
                <a:solidFill>
                  <a:srgbClr val="4A4A4F"/>
                </a:solidFill>
                <a:latin typeface="Arial" pitchFamily="34" charset="0"/>
                <a:ea typeface="Arial" pitchFamily="34" charset="-122"/>
                <a:cs typeface="Arial" pitchFamily="34" charset="-120"/>
              </a:rPr>
              <a:t> (LibreOffice) : l’énoncé et son corrigé, à retoucher ; les formules restent modifiables.</a:t>
            </a:r>
            <a:endParaRPr lang="en-US" sz="1450" dirty="0"/>
          </a:p>
          <a:p>
            <a:pPr marL="193358" indent="-193358">
              <a:lnSpc>
                <a:spcPct val="105000"/>
              </a:lnSpc>
              <a:spcAft>
                <a:spcPts val="1000"/>
              </a:spcAft>
              <a:buSzPct val="100000"/>
              <a:buChar char="•"/>
            </a:pPr>
            <a:r>
              <a:rPr lang="en-US" sz="1450" b="1" dirty="0">
                <a:solidFill>
                  <a:srgbClr val="1D1D1F"/>
                </a:solidFill>
                <a:latin typeface="Arial" pitchFamily="34" charset="0"/>
                <a:ea typeface="Arial" pitchFamily="34" charset="-122"/>
                <a:cs typeface="Arial" pitchFamily="34" charset="-120"/>
              </a:rPr>
              <a:t>PDF</a:t>
            </a:r>
            <a:pPr indent="0" marL="0">
              <a:lnSpc>
                <a:spcPct val="105000"/>
              </a:lnSpc>
              <a:spcAft>
                <a:spcPts val="1000"/>
              </a:spcAft>
              <a:buNone/>
            </a:pPr>
            <a:r>
              <a:rPr lang="en-US" sz="1450" dirty="0">
                <a:solidFill>
                  <a:srgbClr val="4A4A4F"/>
                </a:solidFill>
                <a:latin typeface="Arial" pitchFamily="34" charset="0"/>
                <a:ea typeface="Arial" pitchFamily="34" charset="-122"/>
                <a:cs typeface="Arial" pitchFamily="34" charset="-120"/>
              </a:rPr>
              <a:t> : à imprimer tel quel.</a:t>
            </a:r>
            <a:endParaRPr lang="en-US" sz="1450" dirty="0"/>
          </a:p>
        </p:txBody>
      </p:sp>
      <p:sp>
        <p:nvSpPr>
          <p:cNvPr id="16" name="Text 11"/>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7" name="Text 12"/>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11 / 27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Importez dans votre plateforme : le « ? » vous guide</a:t>
            </a:r>
            <a:endParaRPr lang="en-US" sz="3000" dirty="0"/>
          </a:p>
        </p:txBody>
      </p:sp>
      <p:sp>
        <p:nvSpPr>
          <p:cNvPr id="4" name="Shape 2"/>
          <p:cNvSpPr/>
          <p:nvPr/>
        </p:nvSpPr>
        <p:spPr>
          <a:xfrm>
            <a:off x="548640" y="1481328"/>
            <a:ext cx="6455664" cy="4124706"/>
          </a:xfrm>
          <a:prstGeom prst="roundRect">
            <a:avLst>
              <a:gd name="adj" fmla="val 2660"/>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aideImport.jpg">    </p:cNvPr>
          <p:cNvPicPr>
            <a:picLocks noChangeAspect="1"/>
          </p:cNvPicPr>
          <p:nvPr/>
        </p:nvPicPr>
        <p:blipFill>
          <a:blip r:embed="rId1"/>
          <a:stretch>
            <a:fillRect/>
          </a:stretch>
        </p:blipFill>
        <p:spPr>
          <a:xfrm>
            <a:off x="621792" y="1554480"/>
            <a:ext cx="6309360" cy="3978402"/>
          </a:xfrm>
          <a:prstGeom prst="rect">
            <a:avLst/>
          </a:prstGeom>
        </p:spPr>
      </p:pic>
      <p:sp>
        <p:nvSpPr>
          <p:cNvPr id="6" name="Text 3"/>
          <p:cNvSpPr txBox="1"/>
          <p:nvPr/>
        </p:nvSpPr>
        <p:spPr>
          <a:xfrm>
            <a:off x="7388352" y="1600200"/>
            <a:ext cx="4254703" cy="4023360"/>
          </a:xfrm>
          <a:prstGeom prst="rect">
            <a:avLst/>
          </a:prstGeom>
          <a:noFill/>
          <a:ln/>
        </p:spPr>
        <p:txBody>
          <a:bodyPr wrap="square" lIns="0" tIns="0" rIns="0" bIns="0" rtlCol="0" anchor="t"/>
          <a:lstStyle/>
          <a:p>
            <a:pPr marL="186690" indent="-186690">
              <a:lnSpc>
                <a:spcPct val="105000"/>
              </a:lnSpc>
              <a:spcAft>
                <a:spcPts val="1100"/>
              </a:spcAft>
              <a:buSzPct val="100000"/>
              <a:buChar char="•"/>
            </a:pPr>
            <a:r>
              <a:rPr lang="en-US" sz="1400" dirty="0">
                <a:solidFill>
                  <a:srgbClr val="4A4A4F"/>
                </a:solidFill>
                <a:latin typeface="Arial" pitchFamily="34" charset="0"/>
                <a:ea typeface="Arial" pitchFamily="34" charset="-122"/>
                <a:cs typeface="Arial" pitchFamily="34" charset="-120"/>
              </a:rPr>
              <a:t>Dans l’aperçu, le </a:t>
            </a:r>
            <a:pPr indent="0" marL="0">
              <a:lnSpc>
                <a:spcPct val="105000"/>
              </a:lnSpc>
              <a:spcAft>
                <a:spcPts val="1100"/>
              </a:spcAft>
              <a:buNone/>
            </a:pPr>
            <a:r>
              <a:rPr lang="en-US" sz="1400" b="1" dirty="0">
                <a:solidFill>
                  <a:srgbClr val="1D1D1F"/>
                </a:solidFill>
                <a:latin typeface="Arial" pitchFamily="34" charset="0"/>
                <a:ea typeface="Arial" pitchFamily="34" charset="-122"/>
                <a:cs typeface="Arial" pitchFamily="34" charset="-120"/>
              </a:rPr>
              <a:t>?</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à droite du format ouvre </a:t>
            </a:r>
            <a:pPr indent="0" marL="0">
              <a:lnSpc>
                <a:spcPct val="105000"/>
              </a:lnSpc>
              <a:spcAft>
                <a:spcPts val="1100"/>
              </a:spcAft>
              <a:buNone/>
            </a:pPr>
            <a:r>
              <a:rPr lang="en-US" sz="1400" b="1" dirty="0">
                <a:solidFill>
                  <a:srgbClr val="1D1D1F"/>
                </a:solidFill>
                <a:latin typeface="Arial" pitchFamily="34" charset="0"/>
                <a:ea typeface="Arial" pitchFamily="34" charset="-122"/>
                <a:cs typeface="Arial" pitchFamily="34" charset="-120"/>
              </a:rPr>
              <a:t>« Comment utiliser ce fichier ?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a:t>
            </a:r>
            <a:endParaRPr lang="en-US" sz="1400" dirty="0"/>
          </a:p>
          <a:p>
            <a:pPr marL="186690" indent="-186690">
              <a:lnSpc>
                <a:spcPct val="105000"/>
              </a:lnSpc>
              <a:spcAft>
                <a:spcPts val="1100"/>
              </a:spcAft>
              <a:buSzPct val="100000"/>
              <a:buChar char="•"/>
            </a:pPr>
            <a:r>
              <a:rPr lang="en-US" sz="1400" b="1" dirty="0">
                <a:solidFill>
                  <a:srgbClr val="1D1D1F"/>
                </a:solidFill>
                <a:latin typeface="Arial" pitchFamily="34" charset="0"/>
                <a:ea typeface="Arial" pitchFamily="34" charset="-122"/>
                <a:cs typeface="Arial" pitchFamily="34" charset="-120"/>
              </a:rPr>
              <a:t>.h5p</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 glisser-déposer dans une section, ou </a:t>
            </a:r>
            <a:pPr indent="0" marL="0">
              <a:lnSpc>
                <a:spcPct val="105000"/>
              </a:lnSpc>
              <a:spcAft>
                <a:spcPts val="1100"/>
              </a:spcAft>
              <a:buNone/>
            </a:pPr>
            <a:r>
              <a:rPr lang="en-US" sz="1400" b="1" dirty="0">
                <a:solidFill>
                  <a:srgbClr val="1D1D1F"/>
                </a:solidFill>
                <a:latin typeface="Arial" pitchFamily="34" charset="0"/>
                <a:ea typeface="Arial" pitchFamily="34" charset="-122"/>
                <a:cs typeface="Arial" pitchFamily="34" charset="-120"/>
              </a:rPr>
              <a:t>« Ajouter une activité ou une ressource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 </a:t>
            </a:r>
            <a:pPr indent="0" marL="0">
              <a:lnSpc>
                <a:spcPct val="105000"/>
              </a:lnSpc>
              <a:spcAft>
                <a:spcPts val="1100"/>
              </a:spcAft>
              <a:buNone/>
            </a:pPr>
            <a:r>
              <a:rPr lang="en-US" sz="1400" b="1" dirty="0">
                <a:solidFill>
                  <a:srgbClr val="1D1D1F"/>
                </a:solidFill>
                <a:latin typeface="Arial" pitchFamily="34" charset="0"/>
                <a:ea typeface="Arial" pitchFamily="34" charset="-122"/>
                <a:cs typeface="Arial" pitchFamily="34" charset="-120"/>
              </a:rPr>
              <a:t>« Contenu interactif (H5P)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a:t>
            </a:r>
            <a:endParaRPr lang="en-US" sz="1400" dirty="0"/>
          </a:p>
          <a:p>
            <a:pPr marL="186690" indent="-186690">
              <a:lnSpc>
                <a:spcPct val="105000"/>
              </a:lnSpc>
              <a:spcAft>
                <a:spcPts val="1100"/>
              </a:spcAft>
              <a:buSzPct val="100000"/>
              <a:buChar char="•"/>
            </a:pPr>
            <a:r>
              <a:rPr lang="en-US" sz="1400" b="1" dirty="0">
                <a:solidFill>
                  <a:srgbClr val="1D1D1F"/>
                </a:solidFill>
                <a:latin typeface="Arial" pitchFamily="34" charset="0"/>
                <a:ea typeface="Arial" pitchFamily="34" charset="-122"/>
                <a:cs typeface="Arial" pitchFamily="34" charset="-120"/>
              </a:rPr>
              <a:t>.mbz</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 s’importe sans écraser le contenu du cours.</a:t>
            </a:r>
            <a:endParaRPr lang="en-US" sz="1400" dirty="0"/>
          </a:p>
          <a:p>
            <a:pPr marL="186690" indent="-186690">
              <a:lnSpc>
                <a:spcPct val="105000"/>
              </a:lnSpc>
              <a:spcAft>
                <a:spcPts val="1100"/>
              </a:spcAft>
              <a:buSzPct val="100000"/>
              <a:buChar char="•"/>
            </a:pPr>
            <a:r>
              <a:rPr lang="en-US" sz="1400" b="1" dirty="0">
                <a:solidFill>
                  <a:srgbClr val="1D1D1F"/>
                </a:solidFill>
                <a:latin typeface="Arial" pitchFamily="34" charset="0"/>
                <a:ea typeface="Arial" pitchFamily="34" charset="-122"/>
                <a:cs typeface="Arial" pitchFamily="34" charset="-120"/>
              </a:rPr>
              <a:t>« Tutoriel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en haut de Caramel : chaque import, pas à pas.</a:t>
            </a:r>
            <a:endParaRPr lang="en-US" sz="1400" dirty="0"/>
          </a:p>
        </p:txBody>
      </p:sp>
      <p:sp>
        <p:nvSpPr>
          <p:cNvPr id="7" name="Text 4"/>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dirty="0">
                <a:solidFill>
                  <a:srgbClr val="6E6E73"/>
                </a:solidFill>
                <a:latin typeface="Arial" pitchFamily="34" charset="0"/>
                <a:ea typeface="Arial" pitchFamily="34" charset="-122"/>
                <a:cs typeface="Arial" pitchFamily="34" charset="-120"/>
              </a:rPr>
              <a:t>Les captures de l’aide montrent Éléa ; la démarche est très proche sur Magistère et Moodle.</a:t>
            </a:r>
            <a:endParaRPr lang="en-US" sz="950" dirty="0"/>
          </a:p>
        </p:txBody>
      </p:sp>
      <p:sp>
        <p:nvSpPr>
          <p:cNvPr id="8" name="Text 5"/>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9" name="Text 6"/>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12 / 27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1 · Générer une activité</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La Sucrerie : partager, si vous le souhaitez</a:t>
            </a:r>
            <a:endParaRPr lang="en-US" sz="3000" dirty="0"/>
          </a:p>
        </p:txBody>
      </p:sp>
      <p:sp>
        <p:nvSpPr>
          <p:cNvPr id="4" name="Shape 2"/>
          <p:cNvSpPr/>
          <p:nvPr/>
        </p:nvSpPr>
        <p:spPr>
          <a:xfrm>
            <a:off x="548640" y="1481328"/>
            <a:ext cx="5656927" cy="4306824"/>
          </a:xfrm>
          <a:prstGeom prst="roundRect">
            <a:avLst>
              <a:gd name="adj" fmla="val 254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sucrerie.jpg">    </p:cNvPr>
          <p:cNvPicPr>
            <a:picLocks noChangeAspect="1"/>
          </p:cNvPicPr>
          <p:nvPr/>
        </p:nvPicPr>
        <p:blipFill>
          <a:blip r:embed="rId1"/>
          <a:stretch>
            <a:fillRect/>
          </a:stretch>
        </p:blipFill>
        <p:spPr>
          <a:xfrm>
            <a:off x="621792" y="1554480"/>
            <a:ext cx="5510623" cy="4160520"/>
          </a:xfrm>
          <a:prstGeom prst="rect">
            <a:avLst/>
          </a:prstGeom>
        </p:spPr>
      </p:pic>
      <p:sp>
        <p:nvSpPr>
          <p:cNvPr id="6" name="Text 3"/>
          <p:cNvSpPr txBox="1"/>
          <p:nvPr/>
        </p:nvSpPr>
        <p:spPr>
          <a:xfrm>
            <a:off x="6635335" y="1600200"/>
            <a:ext cx="5007721" cy="3429000"/>
          </a:xfrm>
          <a:prstGeom prst="rect">
            <a:avLst/>
          </a:prstGeom>
          <a:noFill/>
          <a:ln/>
        </p:spPr>
        <p:txBody>
          <a:bodyPr wrap="square" lIns="0" tIns="0" rIns="0" bIns="0" rtlCol="0" anchor="t"/>
          <a:lstStyle/>
          <a:p>
            <a:pPr marL="186690" indent="-186690">
              <a:lnSpc>
                <a:spcPct val="105000"/>
              </a:lnSpc>
              <a:spcAft>
                <a:spcPts val="1000"/>
              </a:spcAft>
              <a:buSzPct val="100000"/>
              <a:buChar char="•"/>
            </a:pPr>
            <a:r>
              <a:rPr lang="en-US" sz="1400" b="1" dirty="0">
                <a:solidFill>
                  <a:srgbClr val="1D1D1F"/>
                </a:solidFill>
                <a:latin typeface="Arial" pitchFamily="34" charset="0"/>
                <a:ea typeface="Arial" pitchFamily="34" charset="-122"/>
                <a:cs typeface="Arial" pitchFamily="34" charset="-120"/>
              </a:rPr>
              <a:t>« Vers la Sucrerie »</a:t>
            </a:r>
            <a:pPr indent="0" marL="0">
              <a:lnSpc>
                <a:spcPct val="105000"/>
              </a:lnSpc>
              <a:spcAft>
                <a:spcPts val="1000"/>
              </a:spcAft>
              <a:buNone/>
            </a:pPr>
            <a:r>
              <a:rPr lang="en-US" sz="1400" dirty="0">
                <a:solidFill>
                  <a:srgbClr val="4A4A4F"/>
                </a:solidFill>
                <a:latin typeface="Arial" pitchFamily="34" charset="0"/>
                <a:ea typeface="Arial" pitchFamily="34" charset="-122"/>
                <a:cs typeface="Arial" pitchFamily="34" charset="-120"/>
              </a:rPr>
              <a:t>, dans l’aperçu, ouvre </a:t>
            </a:r>
            <a:pPr indent="0" marL="0">
              <a:lnSpc>
                <a:spcPct val="105000"/>
              </a:lnSpc>
              <a:spcAft>
                <a:spcPts val="1000"/>
              </a:spcAft>
              <a:buNone/>
            </a:pPr>
            <a:r>
              <a:rPr lang="en-US" sz="1400" b="1" dirty="0">
                <a:solidFill>
                  <a:srgbClr val="1D1D1F"/>
                </a:solidFill>
                <a:latin typeface="Arial" pitchFamily="34" charset="0"/>
                <a:ea typeface="Arial" pitchFamily="34" charset="-122"/>
                <a:cs typeface="Arial" pitchFamily="34" charset="-120"/>
              </a:rPr>
              <a:t>« Publier sur La Sucrerie »</a:t>
            </a:r>
            <a:pPr indent="0" marL="0">
              <a:lnSpc>
                <a:spcPct val="105000"/>
              </a:lnSpc>
              <a:spcAft>
                <a:spcPts val="1000"/>
              </a:spcAft>
              <a:buNone/>
            </a:pPr>
            <a:r>
              <a:rPr lang="en-US" sz="1400" dirty="0">
                <a:solidFill>
                  <a:srgbClr val="4A4A4F"/>
                </a:solidFill>
                <a:latin typeface="Arial" pitchFamily="34" charset="0"/>
                <a:ea typeface="Arial" pitchFamily="34" charset="-122"/>
                <a:cs typeface="Arial" pitchFamily="34" charset="-120"/>
              </a:rPr>
              <a:t>.</a:t>
            </a:r>
            <a:endParaRPr lang="en-US" sz="1400" dirty="0"/>
          </a:p>
          <a:p>
            <a:pPr marL="186690" indent="-186690">
              <a:lnSpc>
                <a:spcPct val="105000"/>
              </a:lnSpc>
              <a:spcAft>
                <a:spcPts val="1000"/>
              </a:spcAft>
              <a:buSzPct val="100000"/>
              <a:buChar char="•"/>
            </a:pPr>
            <a:r>
              <a:rPr lang="en-US" sz="1400" b="1" dirty="0">
                <a:solidFill>
                  <a:srgbClr val="1D1D1F"/>
                </a:solidFill>
                <a:latin typeface="Arial" pitchFamily="34" charset="0"/>
                <a:ea typeface="Arial" pitchFamily="34" charset="-122"/>
                <a:cs typeface="Arial" pitchFamily="34" charset="-120"/>
              </a:rPr>
              <a:t>L’activité devient publique</a:t>
            </a:r>
            <a:pPr indent="0" marL="0">
              <a:lnSpc>
                <a:spcPct val="105000"/>
              </a:lnSpc>
              <a:spcAft>
                <a:spcPts val="1000"/>
              </a:spcAft>
              <a:buNone/>
            </a:pPr>
            <a:r>
              <a:rPr lang="en-US" sz="1400" dirty="0">
                <a:solidFill>
                  <a:srgbClr val="4A4A4F"/>
                </a:solidFill>
                <a:latin typeface="Arial" pitchFamily="34" charset="0"/>
                <a:ea typeface="Arial" pitchFamily="34" charset="-122"/>
                <a:cs typeface="Arial" pitchFamily="34" charset="-120"/>
              </a:rPr>
              <a:t> : visible de tous les enseignants, sous licence CC BY-SA 4.0.</a:t>
            </a:r>
            <a:endParaRPr lang="en-US" sz="1400" dirty="0"/>
          </a:p>
          <a:p>
            <a:pPr marL="186690" indent="-186690">
              <a:lnSpc>
                <a:spcPct val="105000"/>
              </a:lnSpc>
              <a:spcAft>
                <a:spcPts val="1000"/>
              </a:spcAft>
              <a:buSzPct val="100000"/>
              <a:buChar char="•"/>
            </a:pPr>
            <a:r>
              <a:rPr lang="en-US" sz="1400" b="1" dirty="0">
                <a:solidFill>
                  <a:srgbClr val="1D1D1F"/>
                </a:solidFill>
                <a:latin typeface="Arial" pitchFamily="34" charset="0"/>
                <a:ea typeface="Arial" pitchFamily="34" charset="-122"/>
                <a:cs typeface="Arial" pitchFamily="34" charset="-120"/>
              </a:rPr>
              <a:t>Votre adresse académique</a:t>
            </a:r>
            <a:pPr indent="0" marL="0">
              <a:lnSpc>
                <a:spcPct val="105000"/>
              </a:lnSpc>
              <a:spcAft>
                <a:spcPts val="1000"/>
              </a:spcAft>
              <a:buNone/>
            </a:pPr>
            <a:r>
              <a:rPr lang="en-US" sz="1400" dirty="0">
                <a:solidFill>
                  <a:srgbClr val="4A4A4F"/>
                </a:solidFill>
                <a:latin typeface="Arial" pitchFamily="34" charset="0"/>
                <a:ea typeface="Arial" pitchFamily="34" charset="-122"/>
                <a:cs typeface="Arial" pitchFamily="34" charset="-120"/>
              </a:rPr>
              <a:t> vous identifie et reçoit le lien de gestion, pour retirer l’activité.</a:t>
            </a:r>
            <a:endParaRPr lang="en-US" sz="1400" dirty="0"/>
          </a:p>
          <a:p>
            <a:pPr marL="186690" indent="-186690">
              <a:lnSpc>
                <a:spcPct val="105000"/>
              </a:lnSpc>
              <a:spcAft>
                <a:spcPts val="1000"/>
              </a:spcAft>
              <a:buSzPct val="100000"/>
              <a:buChar char="•"/>
            </a:pPr>
            <a:r>
              <a:rPr lang="en-US" sz="1400" b="1" dirty="0">
                <a:solidFill>
                  <a:srgbClr val="1D1D1F"/>
                </a:solidFill>
                <a:latin typeface="Arial" pitchFamily="34" charset="0"/>
                <a:ea typeface="Arial" pitchFamily="34" charset="-122"/>
                <a:cs typeface="Arial" pitchFamily="34" charset="-120"/>
              </a:rPr>
              <a:t>Vous attestez</a:t>
            </a:r>
            <a:pPr indent="0" marL="0">
              <a:lnSpc>
                <a:spcPct val="105000"/>
              </a:lnSpc>
              <a:spcAft>
                <a:spcPts val="1000"/>
              </a:spcAft>
              <a:buNone/>
            </a:pPr>
            <a:r>
              <a:rPr lang="en-US" sz="1400" dirty="0">
                <a:solidFill>
                  <a:srgbClr val="4A4A4F"/>
                </a:solidFill>
                <a:latin typeface="Arial" pitchFamily="34" charset="0"/>
                <a:ea typeface="Arial" pitchFamily="34" charset="-122"/>
                <a:cs typeface="Arial" pitchFamily="34" charset="-120"/>
              </a:rPr>
              <a:t> en être l’auteur, l’avoir vérifiée, sans donnée personnelle.</a:t>
            </a:r>
            <a:endParaRPr lang="en-US" sz="1400" dirty="0"/>
          </a:p>
        </p:txBody>
      </p:sp>
      <p:sp>
        <p:nvSpPr>
          <p:cNvPr id="7" name="Shape 4"/>
          <p:cNvSpPr/>
          <p:nvPr/>
        </p:nvSpPr>
        <p:spPr>
          <a:xfrm>
            <a:off x="6635335" y="4983480"/>
            <a:ext cx="5007721" cy="777240"/>
          </a:xfrm>
          <a:prstGeom prst="roundRect">
            <a:avLst>
              <a:gd name="adj" fmla="val 18824"/>
            </a:avLst>
          </a:prstGeom>
          <a:solidFill>
            <a:srgbClr val="FFE8EE"/>
          </a:solidFill>
          <a:ln w="9525">
            <a:solidFill>
              <a:srgbClr val="EDDCE5"/>
            </a:solidFill>
            <a:prstDash val="solid"/>
          </a:ln>
        </p:spPr>
      </p:sp>
      <p:pic>
        <p:nvPicPr>
          <p:cNvPr id="8" name="Image 1" descr="/var/folders/b7/tkzbyvzx72qcg9wb0t1jybvm0000gn/T/kit-formation-xg52uF/icone-14.png">    </p:cNvPr>
          <p:cNvPicPr>
            <a:picLocks noChangeAspect="1"/>
          </p:cNvPicPr>
          <p:nvPr/>
        </p:nvPicPr>
        <p:blipFill>
          <a:blip r:embed="rId2"/>
          <a:stretch>
            <a:fillRect/>
          </a:stretch>
        </p:blipFill>
        <p:spPr>
          <a:xfrm>
            <a:off x="6863935" y="5234940"/>
            <a:ext cx="274320" cy="274320"/>
          </a:xfrm>
          <a:prstGeom prst="rect">
            <a:avLst/>
          </a:prstGeom>
        </p:spPr>
      </p:pic>
      <p:sp>
        <p:nvSpPr>
          <p:cNvPr id="9" name="Text 5"/>
          <p:cNvSpPr txBox="1"/>
          <p:nvPr/>
        </p:nvSpPr>
        <p:spPr>
          <a:xfrm>
            <a:off x="7293703" y="4983480"/>
            <a:ext cx="4139041" cy="77724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Facultatif : </a:t>
            </a:r>
            <a:pPr indent="0" marL="0">
              <a:buNone/>
            </a:pPr>
            <a:r>
              <a:rPr lang="en-US" sz="1400" dirty="0">
                <a:solidFill>
                  <a:srgbClr val="1D1D1F"/>
                </a:solidFill>
                <a:latin typeface="Arial" pitchFamily="34" charset="0"/>
                <a:ea typeface="Arial" pitchFamily="34" charset="-122"/>
                <a:cs typeface="Arial" pitchFamily="34" charset="-120"/>
              </a:rPr>
              <a:t>sans ce choix, rien n’est publié.</a:t>
            </a:r>
            <a:endParaRPr lang="en-US" sz="1400" dirty="0"/>
          </a:p>
        </p:txBody>
      </p:sp>
      <p:sp>
        <p:nvSpPr>
          <p:cNvPr id="10" name="Text 6"/>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1" name="Text 7"/>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13 / 27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Un parcours : un cours entier, en quatre temps</a:t>
            </a:r>
            <a:endParaRPr lang="en-US" sz="3000" dirty="0"/>
          </a:p>
        </p:txBody>
      </p:sp>
      <p:sp>
        <p:nvSpPr>
          <p:cNvPr id="4" name="Shape 2"/>
          <p:cNvSpPr/>
          <p:nvPr/>
        </p:nvSpPr>
        <p:spPr>
          <a:xfrm>
            <a:off x="932688" y="1527048"/>
            <a:ext cx="10326319" cy="1403536"/>
          </a:xfrm>
          <a:prstGeom prst="roundRect">
            <a:avLst>
              <a:gd name="adj" fmla="val 781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commutateur.jpg">    </p:cNvPr>
          <p:cNvPicPr>
            <a:picLocks noChangeAspect="1"/>
          </p:cNvPicPr>
          <p:nvPr/>
        </p:nvPicPr>
        <p:blipFill>
          <a:blip r:embed="rId1"/>
          <a:stretch>
            <a:fillRect/>
          </a:stretch>
        </p:blipFill>
        <p:spPr>
          <a:xfrm>
            <a:off x="1005840" y="1600200"/>
            <a:ext cx="10180015" cy="1257232"/>
          </a:xfrm>
          <a:prstGeom prst="rect">
            <a:avLst/>
          </a:prstGeom>
        </p:spPr>
      </p:pic>
      <p:sp>
        <p:nvSpPr>
          <p:cNvPr id="6" name="Shape 3"/>
          <p:cNvSpPr/>
          <p:nvPr/>
        </p:nvSpPr>
        <p:spPr>
          <a:xfrm>
            <a:off x="548640" y="3200400"/>
            <a:ext cx="2567864" cy="1874520"/>
          </a:xfrm>
          <a:prstGeom prst="roundRect">
            <a:avLst>
              <a:gd name="adj" fmla="val 780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7" name="Shape 4"/>
          <p:cNvSpPr/>
          <p:nvPr/>
        </p:nvSpPr>
        <p:spPr>
          <a:xfrm>
            <a:off x="822960" y="3474720"/>
            <a:ext cx="457200" cy="457200"/>
          </a:xfrm>
          <a:prstGeom prst="ellipse">
            <a:avLst/>
          </a:prstGeom>
          <a:solidFill>
            <a:srgbClr val="007AFF"/>
          </a:solidFill>
          <a:ln/>
        </p:spPr>
      </p:sp>
      <p:sp>
        <p:nvSpPr>
          <p:cNvPr id="8" name="Text 5"/>
          <p:cNvSpPr txBox="1"/>
          <p:nvPr/>
        </p:nvSpPr>
        <p:spPr>
          <a:xfrm>
            <a:off x="822960"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9" name="Text 6"/>
          <p:cNvSpPr txBox="1"/>
          <p:nvPr/>
        </p:nvSpPr>
        <p:spPr>
          <a:xfrm>
            <a:off x="1417320" y="3474720"/>
            <a:ext cx="1562024" cy="457200"/>
          </a:xfrm>
          <a:prstGeom prst="rect">
            <a:avLst/>
          </a:prstGeom>
          <a:noFill/>
          <a:ln/>
        </p:spPr>
        <p:txBody>
          <a:bodyPr wrap="square" lIns="0" tIns="0" rIns="0" bIns="0" rtlCol="0" anchor="ctr"/>
          <a:lstStyle/>
          <a:p>
            <a:pPr indent="0" marL="0">
              <a:buNone/>
            </a:pPr>
            <a:r>
              <a:rPr lang="en-US" sz="1800" b="1" dirty="0">
                <a:solidFill>
                  <a:srgbClr val="1D1D1F"/>
                </a:solidFill>
                <a:latin typeface="Arial" pitchFamily="34" charset="0"/>
                <a:ea typeface="Arial" pitchFamily="34" charset="-122"/>
                <a:cs typeface="Arial" pitchFamily="34" charset="-120"/>
              </a:rPr>
              <a:t>Cadrage</a:t>
            </a:r>
            <a:endParaRPr lang="en-US" sz="1800" dirty="0"/>
          </a:p>
        </p:txBody>
      </p:sp>
      <p:sp>
        <p:nvSpPr>
          <p:cNvPr id="10" name="Text 7"/>
          <p:cNvSpPr txBox="1"/>
          <p:nvPr/>
        </p:nvSpPr>
        <p:spPr>
          <a:xfrm>
            <a:off x="822960" y="4114800"/>
            <a:ext cx="2064944" cy="86868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Plateforme, déroulement, ampleur, chemin, trame.</a:t>
            </a:r>
            <a:endParaRPr lang="en-US" sz="1400" dirty="0"/>
          </a:p>
        </p:txBody>
      </p:sp>
      <p:sp>
        <p:nvSpPr>
          <p:cNvPr id="11" name="Shape 8"/>
          <p:cNvSpPr/>
          <p:nvPr/>
        </p:nvSpPr>
        <p:spPr>
          <a:xfrm>
            <a:off x="3390824" y="3200400"/>
            <a:ext cx="2567864" cy="1874520"/>
          </a:xfrm>
          <a:prstGeom prst="roundRect">
            <a:avLst>
              <a:gd name="adj" fmla="val 780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2" name="Shape 9"/>
          <p:cNvSpPr/>
          <p:nvPr/>
        </p:nvSpPr>
        <p:spPr>
          <a:xfrm>
            <a:off x="3665144" y="3474720"/>
            <a:ext cx="457200" cy="457200"/>
          </a:xfrm>
          <a:prstGeom prst="ellipse">
            <a:avLst/>
          </a:prstGeom>
          <a:solidFill>
            <a:srgbClr val="007AFF"/>
          </a:solidFill>
          <a:ln/>
        </p:spPr>
      </p:sp>
      <p:sp>
        <p:nvSpPr>
          <p:cNvPr id="13" name="Text 10"/>
          <p:cNvSpPr txBox="1"/>
          <p:nvPr/>
        </p:nvSpPr>
        <p:spPr>
          <a:xfrm>
            <a:off x="3665144"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4" name="Text 11"/>
          <p:cNvSpPr txBox="1"/>
          <p:nvPr/>
        </p:nvSpPr>
        <p:spPr>
          <a:xfrm>
            <a:off x="4259504" y="3474720"/>
            <a:ext cx="1562024" cy="457200"/>
          </a:xfrm>
          <a:prstGeom prst="rect">
            <a:avLst/>
          </a:prstGeom>
          <a:noFill/>
          <a:ln/>
        </p:spPr>
        <p:txBody>
          <a:bodyPr wrap="square" lIns="0" tIns="0" rIns="0" bIns="0" rtlCol="0" anchor="ctr"/>
          <a:lstStyle/>
          <a:p>
            <a:pPr indent="0" marL="0">
              <a:buNone/>
            </a:pPr>
            <a:r>
              <a:rPr lang="en-US" sz="1800" b="1" dirty="0">
                <a:solidFill>
                  <a:srgbClr val="1D1D1F"/>
                </a:solidFill>
                <a:latin typeface="Arial" pitchFamily="34" charset="0"/>
                <a:ea typeface="Arial" pitchFamily="34" charset="-122"/>
                <a:cs typeface="Arial" pitchFamily="34" charset="-120"/>
              </a:rPr>
              <a:t>Plan</a:t>
            </a:r>
            <a:endParaRPr lang="en-US" sz="1800" dirty="0"/>
          </a:p>
        </p:txBody>
      </p:sp>
      <p:sp>
        <p:nvSpPr>
          <p:cNvPr id="15" name="Text 12"/>
          <p:cNvSpPr txBox="1"/>
          <p:nvPr/>
        </p:nvSpPr>
        <p:spPr>
          <a:xfrm>
            <a:off x="3665144" y="4114800"/>
            <a:ext cx="2064944" cy="86868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L’IA propose ; vous relisez et modifiez tout.</a:t>
            </a:r>
            <a:endParaRPr lang="en-US" sz="1400" dirty="0"/>
          </a:p>
        </p:txBody>
      </p:sp>
      <p:sp>
        <p:nvSpPr>
          <p:cNvPr id="16" name="Shape 13"/>
          <p:cNvSpPr/>
          <p:nvPr/>
        </p:nvSpPr>
        <p:spPr>
          <a:xfrm>
            <a:off x="6233008" y="3200400"/>
            <a:ext cx="2567864" cy="1874520"/>
          </a:xfrm>
          <a:prstGeom prst="roundRect">
            <a:avLst>
              <a:gd name="adj" fmla="val 780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7" name="Shape 14"/>
          <p:cNvSpPr/>
          <p:nvPr/>
        </p:nvSpPr>
        <p:spPr>
          <a:xfrm>
            <a:off x="6507328" y="3474720"/>
            <a:ext cx="457200" cy="457200"/>
          </a:xfrm>
          <a:prstGeom prst="ellipse">
            <a:avLst/>
          </a:prstGeom>
          <a:solidFill>
            <a:srgbClr val="007AFF"/>
          </a:solidFill>
          <a:ln/>
        </p:spPr>
      </p:sp>
      <p:sp>
        <p:nvSpPr>
          <p:cNvPr id="18" name="Text 15"/>
          <p:cNvSpPr txBox="1"/>
          <p:nvPr/>
        </p:nvSpPr>
        <p:spPr>
          <a:xfrm>
            <a:off x="6507328"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9" name="Text 16"/>
          <p:cNvSpPr txBox="1"/>
          <p:nvPr/>
        </p:nvSpPr>
        <p:spPr>
          <a:xfrm>
            <a:off x="7101688" y="3474720"/>
            <a:ext cx="1562024" cy="457200"/>
          </a:xfrm>
          <a:prstGeom prst="rect">
            <a:avLst/>
          </a:prstGeom>
          <a:noFill/>
          <a:ln/>
        </p:spPr>
        <p:txBody>
          <a:bodyPr wrap="square" lIns="0" tIns="0" rIns="0" bIns="0" rtlCol="0" anchor="ctr"/>
          <a:lstStyle/>
          <a:p>
            <a:pPr indent="0" marL="0">
              <a:buNone/>
            </a:pPr>
            <a:r>
              <a:rPr lang="en-US" sz="1800" b="1" dirty="0">
                <a:solidFill>
                  <a:srgbClr val="1D1D1F"/>
                </a:solidFill>
                <a:latin typeface="Arial" pitchFamily="34" charset="0"/>
                <a:ea typeface="Arial" pitchFamily="34" charset="-122"/>
                <a:cs typeface="Arial" pitchFamily="34" charset="-120"/>
              </a:rPr>
              <a:t>Fabrication</a:t>
            </a:r>
            <a:endParaRPr lang="en-US" sz="1800" dirty="0"/>
          </a:p>
        </p:txBody>
      </p:sp>
      <p:sp>
        <p:nvSpPr>
          <p:cNvPr id="20" name="Text 17"/>
          <p:cNvSpPr txBox="1"/>
          <p:nvPr/>
        </p:nvSpPr>
        <p:spPr>
          <a:xfrm>
            <a:off x="6507328" y="4114800"/>
            <a:ext cx="2064944" cy="86868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Les activités sont générées une à une.</a:t>
            </a:r>
            <a:endParaRPr lang="en-US" sz="1400" dirty="0"/>
          </a:p>
        </p:txBody>
      </p:sp>
      <p:sp>
        <p:nvSpPr>
          <p:cNvPr id="21" name="Shape 18"/>
          <p:cNvSpPr/>
          <p:nvPr/>
        </p:nvSpPr>
        <p:spPr>
          <a:xfrm>
            <a:off x="9075191" y="3200400"/>
            <a:ext cx="2567864" cy="1874520"/>
          </a:xfrm>
          <a:prstGeom prst="roundRect">
            <a:avLst>
              <a:gd name="adj" fmla="val 7805"/>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22" name="Shape 19"/>
          <p:cNvSpPr/>
          <p:nvPr/>
        </p:nvSpPr>
        <p:spPr>
          <a:xfrm>
            <a:off x="9349511" y="3474720"/>
            <a:ext cx="457200" cy="457200"/>
          </a:xfrm>
          <a:prstGeom prst="ellipse">
            <a:avLst/>
          </a:prstGeom>
          <a:solidFill>
            <a:srgbClr val="007AFF"/>
          </a:solidFill>
          <a:ln/>
        </p:spPr>
      </p:sp>
      <p:sp>
        <p:nvSpPr>
          <p:cNvPr id="23" name="Text 20"/>
          <p:cNvSpPr txBox="1"/>
          <p:nvPr/>
        </p:nvSpPr>
        <p:spPr>
          <a:xfrm>
            <a:off x="9349511" y="34747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4" name="Text 21"/>
          <p:cNvSpPr txBox="1"/>
          <p:nvPr/>
        </p:nvSpPr>
        <p:spPr>
          <a:xfrm>
            <a:off x="9943871" y="3474720"/>
            <a:ext cx="1562024" cy="457200"/>
          </a:xfrm>
          <a:prstGeom prst="rect">
            <a:avLst/>
          </a:prstGeom>
          <a:noFill/>
          <a:ln/>
        </p:spPr>
        <p:txBody>
          <a:bodyPr wrap="square" lIns="0" tIns="0" rIns="0" bIns="0" rtlCol="0" anchor="ctr"/>
          <a:lstStyle/>
          <a:p>
            <a:pPr indent="0" marL="0">
              <a:buNone/>
            </a:pPr>
            <a:r>
              <a:rPr lang="en-US" sz="1800" b="1" dirty="0">
                <a:solidFill>
                  <a:srgbClr val="1D1D1F"/>
                </a:solidFill>
                <a:latin typeface="Arial" pitchFamily="34" charset="0"/>
                <a:ea typeface="Arial" pitchFamily="34" charset="-122"/>
                <a:cs typeface="Arial" pitchFamily="34" charset="-120"/>
              </a:rPr>
              <a:t>Livraison</a:t>
            </a:r>
            <a:endParaRPr lang="en-US" sz="1800" dirty="0"/>
          </a:p>
        </p:txBody>
      </p:sp>
      <p:sp>
        <p:nvSpPr>
          <p:cNvPr id="25" name="Text 22"/>
          <p:cNvSpPr txBox="1"/>
          <p:nvPr/>
        </p:nvSpPr>
        <p:spPr>
          <a:xfrm>
            <a:off x="9349511" y="4114800"/>
            <a:ext cx="2064944" cy="868680"/>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Un seul fichier .mbz, et des documents papier.</a:t>
            </a:r>
            <a:endParaRPr lang="en-US" sz="1400" dirty="0"/>
          </a:p>
        </p:txBody>
      </p:sp>
      <p:sp>
        <p:nvSpPr>
          <p:cNvPr id="26" name="Shape 23"/>
          <p:cNvSpPr/>
          <p:nvPr/>
        </p:nvSpPr>
        <p:spPr>
          <a:xfrm>
            <a:off x="548640" y="5394960"/>
            <a:ext cx="11094415" cy="640080"/>
          </a:xfrm>
          <a:prstGeom prst="roundRect">
            <a:avLst>
              <a:gd name="adj" fmla="val 22857"/>
            </a:avLst>
          </a:prstGeom>
          <a:solidFill>
            <a:srgbClr val="EAF3FF"/>
          </a:solidFill>
          <a:ln w="9525">
            <a:solidFill>
              <a:srgbClr val="C5DAF2"/>
            </a:solidFill>
            <a:prstDash val="solid"/>
          </a:ln>
        </p:spPr>
      </p:sp>
      <p:pic>
        <p:nvPicPr>
          <p:cNvPr id="27" name="Image 1" descr="/var/folders/b7/tkzbyvzx72qcg9wb0t1jybvm0000gn/T/kit-formation-xg52uF/icone-37.png">    </p:cNvPr>
          <p:cNvPicPr>
            <a:picLocks noChangeAspect="1"/>
          </p:cNvPicPr>
          <p:nvPr/>
        </p:nvPicPr>
        <p:blipFill>
          <a:blip r:embed="rId2"/>
          <a:stretch>
            <a:fillRect/>
          </a:stretch>
        </p:blipFill>
        <p:spPr>
          <a:xfrm>
            <a:off x="777240" y="5577840"/>
            <a:ext cx="274320" cy="274320"/>
          </a:xfrm>
          <a:prstGeom prst="rect">
            <a:avLst/>
          </a:prstGeom>
        </p:spPr>
      </p:pic>
      <p:sp>
        <p:nvSpPr>
          <p:cNvPr id="28" name="Text 24"/>
          <p:cNvSpPr txBox="1"/>
          <p:nvPr/>
        </p:nvSpPr>
        <p:spPr>
          <a:xfrm>
            <a:off x="1207008" y="5394960"/>
            <a:ext cx="10225735" cy="640080"/>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 Un parcours »</a:t>
            </a:r>
            <a:pPr indent="0" marL="0">
              <a:buNone/>
            </a:pPr>
            <a:r>
              <a:rPr lang="en-US" sz="1400" dirty="0">
                <a:solidFill>
                  <a:srgbClr val="1D1D1F"/>
                </a:solidFill>
                <a:latin typeface="Arial" pitchFamily="34" charset="0"/>
                <a:ea typeface="Arial" pitchFamily="34" charset="-122"/>
                <a:cs typeface="Arial" pitchFamily="34" charset="-120"/>
              </a:rPr>
              <a:t>, sous le formulaire, ouvre l’atelier. </a:t>
            </a:r>
            <a:pPr indent="0" marL="0">
              <a:buNone/>
            </a:pPr>
            <a:r>
              <a:rPr lang="en-US" sz="1400" b="1" dirty="0">
                <a:solidFill>
                  <a:srgbClr val="1D1D1F"/>
                </a:solidFill>
                <a:latin typeface="Arial" pitchFamily="34" charset="0"/>
                <a:ea typeface="Arial" pitchFamily="34" charset="-122"/>
                <a:cs typeface="Arial" pitchFamily="34" charset="-120"/>
              </a:rPr>
              <a:t>Rien ne sera généré avant que vous ayez relu le plan.</a:t>
            </a:r>
            <a:endParaRPr lang="en-US" sz="1400" dirty="0"/>
          </a:p>
        </p:txBody>
      </p:sp>
      <p:sp>
        <p:nvSpPr>
          <p:cNvPr id="29" name="Text 25"/>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30" name="Text 26"/>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14 / 27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Le cadrage : quatre questions</a:t>
            </a:r>
            <a:endParaRPr lang="en-US" sz="3000" dirty="0"/>
          </a:p>
        </p:txBody>
      </p:sp>
      <p:sp>
        <p:nvSpPr>
          <p:cNvPr id="4" name="Shape 2"/>
          <p:cNvSpPr/>
          <p:nvPr/>
        </p:nvSpPr>
        <p:spPr>
          <a:xfrm>
            <a:off x="548640" y="1481328"/>
            <a:ext cx="6882276" cy="4352544"/>
          </a:xfrm>
          <a:prstGeom prst="roundRect">
            <a:avLst>
              <a:gd name="adj" fmla="val 25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cadrage.jpg">    </p:cNvPr>
          <p:cNvPicPr>
            <a:picLocks noChangeAspect="1"/>
          </p:cNvPicPr>
          <p:nvPr/>
        </p:nvPicPr>
        <p:blipFill>
          <a:blip r:embed="rId1"/>
          <a:stretch>
            <a:fillRect/>
          </a:stretch>
        </p:blipFill>
        <p:spPr>
          <a:xfrm>
            <a:off x="621792" y="1554480"/>
            <a:ext cx="6735972" cy="4206240"/>
          </a:xfrm>
          <a:prstGeom prst="rect">
            <a:avLst/>
          </a:prstGeom>
        </p:spPr>
      </p:pic>
      <p:sp>
        <p:nvSpPr>
          <p:cNvPr id="6" name="Text 3"/>
          <p:cNvSpPr txBox="1"/>
          <p:nvPr/>
        </p:nvSpPr>
        <p:spPr>
          <a:xfrm>
            <a:off x="7860684" y="1600200"/>
            <a:ext cx="3782372" cy="4206240"/>
          </a:xfrm>
          <a:prstGeom prst="rect">
            <a:avLst/>
          </a:prstGeom>
          <a:noFill/>
          <a:ln/>
        </p:spPr>
        <p:txBody>
          <a:bodyPr wrap="square" lIns="0" tIns="0" rIns="0" bIns="0" rtlCol="0" anchor="t"/>
          <a:lstStyle/>
          <a:p>
            <a:pPr marL="186690" indent="-186690">
              <a:lnSpc>
                <a:spcPct val="105000"/>
              </a:lnSpc>
              <a:spcAft>
                <a:spcPts val="1100"/>
              </a:spcAft>
              <a:buSzPct val="100000"/>
              <a:buChar char="•"/>
            </a:pPr>
            <a:r>
              <a:rPr lang="en-US" sz="1400" b="1" dirty="0">
                <a:solidFill>
                  <a:srgbClr val="1D1D1F"/>
                </a:solidFill>
                <a:latin typeface="Arial" pitchFamily="34" charset="0"/>
                <a:ea typeface="Arial" pitchFamily="34" charset="-122"/>
                <a:cs typeface="Arial" pitchFamily="34" charset="-120"/>
              </a:rPr>
              <a:t>« Pour quelle plateforme ?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Éléa, Magistère ou Moodle : élèves, stagiaires ou étudiants.</a:t>
            </a:r>
            <a:endParaRPr lang="en-US" sz="1400" dirty="0"/>
          </a:p>
          <a:p>
            <a:pPr marL="186690" indent="-186690">
              <a:lnSpc>
                <a:spcPct val="105000"/>
              </a:lnSpc>
              <a:spcAft>
                <a:spcPts val="1100"/>
              </a:spcAft>
              <a:buSzPct val="100000"/>
              <a:buChar char="•"/>
            </a:pPr>
            <a:r>
              <a:rPr lang="en-US" sz="1400" b="1" dirty="0">
                <a:solidFill>
                  <a:srgbClr val="1D1D1F"/>
                </a:solidFill>
                <a:latin typeface="Arial" pitchFamily="34" charset="0"/>
                <a:ea typeface="Arial" pitchFamily="34" charset="-122"/>
                <a:cs typeface="Arial" pitchFamily="34" charset="-120"/>
              </a:rPr>
              <a:t>« Comment se déroule-t-il ?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En classe, à distance, ou les deux.</a:t>
            </a:r>
            <a:endParaRPr lang="en-US" sz="1400" dirty="0"/>
          </a:p>
          <a:p>
            <a:pPr marL="186690" indent="-186690">
              <a:lnSpc>
                <a:spcPct val="105000"/>
              </a:lnSpc>
              <a:spcAft>
                <a:spcPts val="1100"/>
              </a:spcAft>
              <a:buSzPct val="100000"/>
              <a:buChar char="•"/>
            </a:pPr>
            <a:r>
              <a:rPr lang="en-US" sz="1400" b="1" dirty="0">
                <a:solidFill>
                  <a:srgbClr val="1D1D1F"/>
                </a:solidFill>
                <a:latin typeface="Arial" pitchFamily="34" charset="0"/>
                <a:ea typeface="Arial" pitchFamily="34" charset="-122"/>
                <a:cs typeface="Arial" pitchFamily="34" charset="-120"/>
              </a:rPr>
              <a:t>« Quelle ampleur ?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D’une séance (3 à 4 activités) à une séquence entière (9 à 12).</a:t>
            </a:r>
            <a:endParaRPr lang="en-US" sz="1400" dirty="0"/>
          </a:p>
          <a:p>
            <a:pPr marL="186690" indent="-186690">
              <a:lnSpc>
                <a:spcPct val="105000"/>
              </a:lnSpc>
              <a:spcAft>
                <a:spcPts val="1100"/>
              </a:spcAft>
              <a:buSzPct val="100000"/>
              <a:buChar char="•"/>
            </a:pPr>
            <a:r>
              <a:rPr lang="en-US" sz="1400" b="1" dirty="0">
                <a:solidFill>
                  <a:srgbClr val="1D1D1F"/>
                </a:solidFill>
                <a:latin typeface="Arial" pitchFamily="34" charset="0"/>
                <a:ea typeface="Arial" pitchFamily="34" charset="-122"/>
                <a:cs typeface="Arial" pitchFamily="34" charset="-120"/>
              </a:rPr>
              <a:t>« Tous vos élèves suivent-ils le même chemin ?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 </a:t>
            </a:r>
            <a:pPr indent="0" marL="0">
              <a:lnSpc>
                <a:spcPct val="105000"/>
              </a:lnSpc>
              <a:spcAft>
                <a:spcPts val="1100"/>
              </a:spcAft>
              <a:buNone/>
            </a:pPr>
            <a:r>
              <a:rPr lang="en-US" sz="1400" b="1" dirty="0">
                <a:solidFill>
                  <a:srgbClr val="1D1D1F"/>
                </a:solidFill>
                <a:latin typeface="Arial" pitchFamily="34" charset="0"/>
                <a:ea typeface="Arial" pitchFamily="34" charset="-122"/>
                <a:cs typeface="Arial" pitchFamily="34" charset="-120"/>
              </a:rPr>
              <a:t>« Un même chemin pour tous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 ou </a:t>
            </a:r>
            <a:pPr indent="0" marL="0">
              <a:lnSpc>
                <a:spcPct val="105000"/>
              </a:lnSpc>
              <a:spcAft>
                <a:spcPts val="1100"/>
              </a:spcAft>
              <a:buNone/>
            </a:pPr>
            <a:r>
              <a:rPr lang="en-US" sz="1400" b="1" dirty="0">
                <a:solidFill>
                  <a:srgbClr val="1D1D1F"/>
                </a:solidFill>
                <a:latin typeface="Arial" pitchFamily="34" charset="0"/>
                <a:ea typeface="Arial" pitchFamily="34" charset="-122"/>
                <a:cs typeface="Arial" pitchFamily="34" charset="-120"/>
              </a:rPr>
              <a:t>« Des chemins selon les résultats »</a:t>
            </a:r>
            <a:pPr indent="0" marL="0">
              <a:lnSpc>
                <a:spcPct val="105000"/>
              </a:lnSpc>
              <a:spcAft>
                <a:spcPts val="1100"/>
              </a:spcAft>
              <a:buNone/>
            </a:pPr>
            <a:r>
              <a:rPr lang="en-US" sz="1400" dirty="0">
                <a:solidFill>
                  <a:srgbClr val="4A4A4F"/>
                </a:solidFill>
                <a:latin typeface="Arial" pitchFamily="34" charset="0"/>
                <a:ea typeface="Arial" pitchFamily="34" charset="-122"/>
                <a:cs typeface="Arial" pitchFamily="34" charset="-120"/>
              </a:rPr>
              <a:t>.</a:t>
            </a:r>
            <a:endParaRPr lang="en-US" sz="1400" dirty="0"/>
          </a:p>
        </p:txBody>
      </p:sp>
      <p:sp>
        <p:nvSpPr>
          <p:cNvPr id="7" name="Text 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8" name="Text 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15 / 27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Une trame, puis « Composer le plan »</a:t>
            </a:r>
            <a:endParaRPr lang="en-US" sz="3000" dirty="0"/>
          </a:p>
        </p:txBody>
      </p:sp>
      <p:sp>
        <p:nvSpPr>
          <p:cNvPr id="4" name="Shape 2"/>
          <p:cNvSpPr/>
          <p:nvPr/>
        </p:nvSpPr>
        <p:spPr>
          <a:xfrm>
            <a:off x="548640" y="1481328"/>
            <a:ext cx="4567651" cy="3575304"/>
          </a:xfrm>
          <a:prstGeom prst="roundRect">
            <a:avLst>
              <a:gd name="adj" fmla="val 3069"/>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trames.jpg">    </p:cNvPr>
          <p:cNvPicPr>
            <a:picLocks noChangeAspect="1"/>
          </p:cNvPicPr>
          <p:nvPr/>
        </p:nvPicPr>
        <p:blipFill>
          <a:blip r:embed="rId1"/>
          <a:stretch>
            <a:fillRect/>
          </a:stretch>
        </p:blipFill>
        <p:spPr>
          <a:xfrm>
            <a:off x="621792" y="1554480"/>
            <a:ext cx="4421347" cy="3429000"/>
          </a:xfrm>
          <a:prstGeom prst="rect">
            <a:avLst/>
          </a:prstGeom>
        </p:spPr>
      </p:pic>
      <p:sp>
        <p:nvSpPr>
          <p:cNvPr id="6" name="Shape 3"/>
          <p:cNvSpPr/>
          <p:nvPr/>
        </p:nvSpPr>
        <p:spPr>
          <a:xfrm>
            <a:off x="548640" y="5230368"/>
            <a:ext cx="11094415" cy="678504"/>
          </a:xfrm>
          <a:prstGeom prst="roundRect">
            <a:avLst>
              <a:gd name="adj" fmla="val 16172"/>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7" name="Image 1" descr="/var/folders/b7/tkzbyvzx72qcg9wb0t1jybvm0000gn/T/kit-formation-xg52uF/cadrageActions.jpg">    </p:cNvPr>
          <p:cNvPicPr>
            <a:picLocks noChangeAspect="1"/>
          </p:cNvPicPr>
          <p:nvPr/>
        </p:nvPicPr>
        <p:blipFill>
          <a:blip r:embed="rId2"/>
          <a:stretch>
            <a:fillRect/>
          </a:stretch>
        </p:blipFill>
        <p:spPr>
          <a:xfrm>
            <a:off x="621792" y="5303520"/>
            <a:ext cx="10948111" cy="532200"/>
          </a:xfrm>
          <a:prstGeom prst="rect">
            <a:avLst/>
          </a:prstGeom>
        </p:spPr>
      </p:pic>
      <p:sp>
        <p:nvSpPr>
          <p:cNvPr id="8" name="Text 4"/>
          <p:cNvSpPr txBox="1"/>
          <p:nvPr/>
        </p:nvSpPr>
        <p:spPr>
          <a:xfrm>
            <a:off x="5546059" y="1600200"/>
            <a:ext cx="6096996" cy="3474720"/>
          </a:xfrm>
          <a:prstGeom prst="rect">
            <a:avLst/>
          </a:prstGeom>
          <a:noFill/>
          <a:ln/>
        </p:spPr>
        <p:txBody>
          <a:bodyPr wrap="square" lIns="0" tIns="0" rIns="0" bIns="0" rtlCol="0" anchor="t"/>
          <a:lstStyle/>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 Quelle trame ?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Un modèle de déroulé, ou </a:t>
            </a:r>
            <a:pPr indent="0" marL="0">
              <a:lnSpc>
                <a:spcPct val="105000"/>
              </a:lnSpc>
              <a:spcAft>
                <a:spcPts val="1200"/>
              </a:spcAft>
              <a:buNone/>
            </a:pPr>
            <a:r>
              <a:rPr lang="en-US" sz="1450" b="1" dirty="0">
                <a:solidFill>
                  <a:srgbClr val="1D1D1F"/>
                </a:solidFill>
                <a:latin typeface="Arial" pitchFamily="34" charset="0"/>
                <a:ea typeface="Arial" pitchFamily="34" charset="-122"/>
                <a:cs typeface="Arial" pitchFamily="34" charset="-120"/>
              </a:rPr>
              <a:t>« Laissez Caramel proposer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 Composer le plan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l’IA propose le plan (la flèche choisit le modèle).</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 Partir du modèle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le plan de la trame, sans l’IA.</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 Personnaliser le plan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le prompt pour l’IA de votre choix, puis </a:t>
            </a:r>
            <a:pPr indent="0" marL="0">
              <a:lnSpc>
                <a:spcPct val="105000"/>
              </a:lnSpc>
              <a:spcAft>
                <a:spcPts val="1200"/>
              </a:spcAft>
              <a:buNone/>
            </a:pPr>
            <a:r>
              <a:rPr lang="en-US" sz="1450" b="1" dirty="0">
                <a:solidFill>
                  <a:srgbClr val="1D1D1F"/>
                </a:solidFill>
                <a:latin typeface="Arial" pitchFamily="34" charset="0"/>
                <a:ea typeface="Arial" pitchFamily="34" charset="-122"/>
                <a:cs typeface="Arial" pitchFamily="34" charset="-120"/>
              </a:rPr>
              <a:t>« 2/2 Coller la réponse de l’IA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a:t>
            </a:r>
            <a:endParaRPr lang="en-US" sz="1450" dirty="0"/>
          </a:p>
        </p:txBody>
      </p:sp>
      <p:sp>
        <p:nvSpPr>
          <p:cNvPr id="9" name="Text 5"/>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0" name="Text 6"/>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16 / 27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Relisez et modifiez le plan</a:t>
            </a:r>
            <a:endParaRPr lang="en-US" sz="3000" dirty="0"/>
          </a:p>
        </p:txBody>
      </p:sp>
      <p:sp>
        <p:nvSpPr>
          <p:cNvPr id="4" name="Shape 2"/>
          <p:cNvSpPr/>
          <p:nvPr/>
        </p:nvSpPr>
        <p:spPr>
          <a:xfrm>
            <a:off x="548640" y="1481328"/>
            <a:ext cx="6821424" cy="3757544"/>
          </a:xfrm>
          <a:prstGeom prst="roundRect">
            <a:avLst>
              <a:gd name="adj" fmla="val 2920"/>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plan.jpg">    </p:cNvPr>
          <p:cNvPicPr>
            <a:picLocks noChangeAspect="1"/>
          </p:cNvPicPr>
          <p:nvPr/>
        </p:nvPicPr>
        <p:blipFill>
          <a:blip r:embed="rId1"/>
          <a:stretch>
            <a:fillRect/>
          </a:stretch>
        </p:blipFill>
        <p:spPr>
          <a:xfrm>
            <a:off x="621792" y="1554480"/>
            <a:ext cx="6675120" cy="3611240"/>
          </a:xfrm>
          <a:prstGeom prst="rect">
            <a:avLst/>
          </a:prstGeom>
        </p:spPr>
      </p:pic>
      <p:sp>
        <p:nvSpPr>
          <p:cNvPr id="6" name="Text 3"/>
          <p:cNvSpPr txBox="1"/>
          <p:nvPr/>
        </p:nvSpPr>
        <p:spPr>
          <a:xfrm>
            <a:off x="7799832" y="1600200"/>
            <a:ext cx="3843223" cy="4206240"/>
          </a:xfrm>
          <a:prstGeom prst="rect">
            <a:avLst/>
          </a:prstGeom>
          <a:noFill/>
          <a:ln/>
        </p:spPr>
        <p:txBody>
          <a:bodyPr wrap="square" lIns="0" tIns="0" rIns="0" bIns="0" rtlCol="0" anchor="t"/>
          <a:lstStyle/>
          <a:p>
            <a:pPr marL="180023" indent="-180023">
              <a:lnSpc>
                <a:spcPct val="105000"/>
              </a:lnSpc>
              <a:spcAft>
                <a:spcPts val="800"/>
              </a:spcAft>
              <a:buSzPct val="100000"/>
              <a:buChar char="•"/>
            </a:pPr>
            <a:r>
              <a:rPr lang="en-US" sz="1350" b="1" dirty="0">
                <a:solidFill>
                  <a:srgbClr val="1D1D1F"/>
                </a:solidFill>
                <a:latin typeface="Arial" pitchFamily="34" charset="0"/>
                <a:ea typeface="Arial" pitchFamily="34" charset="-122"/>
                <a:cs typeface="Arial" pitchFamily="34" charset="-120"/>
              </a:rPr>
              <a:t>Titre, objectif, consignes</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 : tout se réécrit.</a:t>
            </a:r>
            <a:endParaRPr lang="en-US" sz="1350" dirty="0"/>
          </a:p>
          <a:p>
            <a:pPr marL="180023" indent="-180023">
              <a:lnSpc>
                <a:spcPct val="105000"/>
              </a:lnSpc>
              <a:spcAft>
                <a:spcPts val="800"/>
              </a:spcAft>
              <a:buSzPct val="100000"/>
              <a:buChar char="•"/>
            </a:pPr>
            <a:r>
              <a:rPr lang="en-US" sz="1350" b="1" dirty="0">
                <a:solidFill>
                  <a:srgbClr val="1D1D1F"/>
                </a:solidFill>
                <a:latin typeface="Arial" pitchFamily="34" charset="0"/>
                <a:ea typeface="Arial" pitchFamily="34" charset="-122"/>
                <a:cs typeface="Arial" pitchFamily="34" charset="-120"/>
              </a:rPr>
              <a:t>« Relecture du plan »</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 signale ce qui mérite attention.</a:t>
            </a:r>
            <a:endParaRPr lang="en-US" sz="1350" dirty="0"/>
          </a:p>
          <a:p>
            <a:pPr marL="180023" indent="-180023">
              <a:lnSpc>
                <a:spcPct val="105000"/>
              </a:lnSpc>
              <a:spcAft>
                <a:spcPts val="800"/>
              </a:spcAft>
              <a:buSzPct val="100000"/>
              <a:buChar char="•"/>
            </a:pPr>
            <a:r>
              <a:rPr lang="en-US" sz="1350" b="1" dirty="0">
                <a:solidFill>
                  <a:srgbClr val="1D1D1F"/>
                </a:solidFill>
                <a:latin typeface="Arial" pitchFamily="34" charset="0"/>
                <a:ea typeface="Arial" pitchFamily="34" charset="-122"/>
                <a:cs typeface="Arial" pitchFamily="34" charset="-120"/>
              </a:rPr>
              <a:t>Les étapes</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 : flèches pour réordonner, corbeille, </a:t>
            </a:r>
            <a:pPr indent="0" marL="0">
              <a:lnSpc>
                <a:spcPct val="105000"/>
              </a:lnSpc>
              <a:spcAft>
                <a:spcPts val="800"/>
              </a:spcAft>
              <a:buNone/>
            </a:pPr>
            <a:r>
              <a:rPr lang="en-US" sz="1350" b="1" dirty="0">
                <a:solidFill>
                  <a:srgbClr val="1D1D1F"/>
                </a:solidFill>
                <a:latin typeface="Arial" pitchFamily="34" charset="0"/>
                <a:ea typeface="Arial" pitchFamily="34" charset="-122"/>
                <a:cs typeface="Arial" pitchFamily="34" charset="-120"/>
              </a:rPr>
              <a:t>« Ajouter une étape »</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 </a:t>
            </a:r>
            <a:pPr indent="0" marL="0">
              <a:lnSpc>
                <a:spcPct val="105000"/>
              </a:lnSpc>
              <a:spcAft>
                <a:spcPts val="800"/>
              </a:spcAft>
              <a:buNone/>
            </a:pPr>
            <a:r>
              <a:rPr lang="en-US" sz="1350" b="1" dirty="0">
                <a:solidFill>
                  <a:srgbClr val="1D1D1F"/>
                </a:solidFill>
                <a:latin typeface="Arial" pitchFamily="34" charset="0"/>
                <a:ea typeface="Arial" pitchFamily="34" charset="-122"/>
                <a:cs typeface="Arial" pitchFamily="34" charset="-120"/>
              </a:rPr>
              <a:t>« Ajouter une activité »</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a:t>
            </a:r>
            <a:endParaRPr lang="en-US" sz="1350" dirty="0"/>
          </a:p>
          <a:p>
            <a:pPr marL="180023" indent="-180023">
              <a:lnSpc>
                <a:spcPct val="105000"/>
              </a:lnSpc>
              <a:spcAft>
                <a:spcPts val="800"/>
              </a:spcAft>
              <a:buSzPct val="100000"/>
              <a:buChar char="•"/>
            </a:pPr>
            <a:r>
              <a:rPr lang="en-US" sz="1350" b="1" dirty="0">
                <a:solidFill>
                  <a:srgbClr val="1D1D1F"/>
                </a:solidFill>
                <a:latin typeface="Arial" pitchFamily="34" charset="0"/>
                <a:ea typeface="Arial" pitchFamily="34" charset="-122"/>
                <a:cs typeface="Arial" pitchFamily="34" charset="-120"/>
              </a:rPr>
              <a:t>« Consigne et palier »</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 : ce que l’IA doit produire.</a:t>
            </a:r>
            <a:endParaRPr lang="en-US" sz="1350" dirty="0"/>
          </a:p>
          <a:p>
            <a:pPr marL="180023" indent="-180023">
              <a:lnSpc>
                <a:spcPct val="105000"/>
              </a:lnSpc>
              <a:spcAft>
                <a:spcPts val="800"/>
              </a:spcAft>
              <a:buSzPct val="100000"/>
              <a:buChar char="•"/>
            </a:pPr>
            <a:r>
              <a:rPr lang="en-US" sz="1350" b="1" dirty="0">
                <a:solidFill>
                  <a:srgbClr val="1D1D1F"/>
                </a:solidFill>
                <a:latin typeface="Arial" pitchFamily="34" charset="0"/>
                <a:ea typeface="Arial" pitchFamily="34" charset="-122"/>
                <a:cs typeface="Arial" pitchFamily="34" charset="-120"/>
              </a:rPr>
              <a:t>Le cadenas</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 : une activité que vous fournirez vous-même, non générée.</a:t>
            </a:r>
            <a:endParaRPr lang="en-US" sz="1350" dirty="0"/>
          </a:p>
          <a:p>
            <a:pPr marL="180023" indent="-180023">
              <a:lnSpc>
                <a:spcPct val="105000"/>
              </a:lnSpc>
              <a:spcAft>
                <a:spcPts val="800"/>
              </a:spcAft>
              <a:buSzPct val="100000"/>
              <a:buChar char="•"/>
            </a:pPr>
            <a:r>
              <a:rPr lang="en-US" sz="1350" b="1" dirty="0">
                <a:solidFill>
                  <a:srgbClr val="1D1D1F"/>
                </a:solidFill>
                <a:latin typeface="Arial" pitchFamily="34" charset="0"/>
                <a:ea typeface="Arial" pitchFamily="34" charset="-122"/>
                <a:cs typeface="Arial" pitchFamily="34" charset="-120"/>
              </a:rPr>
              <a:t>La durée</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 de chaque activité, en minutes ; la durée totale suit.</a:t>
            </a:r>
            <a:endParaRPr lang="en-US" sz="1350" dirty="0"/>
          </a:p>
        </p:txBody>
      </p:sp>
      <p:sp>
        <p:nvSpPr>
          <p:cNvPr id="7" name="Text 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8" name="Text 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17 / 27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Changez le type d’une activité : la mosaïque</a:t>
            </a:r>
            <a:endParaRPr lang="en-US" sz="3000" dirty="0"/>
          </a:p>
        </p:txBody>
      </p:sp>
      <p:sp>
        <p:nvSpPr>
          <p:cNvPr id="4" name="Shape 2"/>
          <p:cNvSpPr/>
          <p:nvPr/>
        </p:nvSpPr>
        <p:spPr>
          <a:xfrm>
            <a:off x="548640" y="1481328"/>
            <a:ext cx="4201959" cy="3849624"/>
          </a:xfrm>
          <a:prstGeom prst="roundRect">
            <a:avLst>
              <a:gd name="adj" fmla="val 2850"/>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mosaique.jpg">    </p:cNvPr>
          <p:cNvPicPr>
            <a:picLocks noChangeAspect="1"/>
          </p:cNvPicPr>
          <p:nvPr/>
        </p:nvPicPr>
        <p:blipFill>
          <a:blip r:embed="rId1"/>
          <a:stretch>
            <a:fillRect/>
          </a:stretch>
        </p:blipFill>
        <p:spPr>
          <a:xfrm>
            <a:off x="621792" y="1554480"/>
            <a:ext cx="4055655" cy="3703320"/>
          </a:xfrm>
          <a:prstGeom prst="rect">
            <a:avLst/>
          </a:prstGeom>
        </p:spPr>
      </p:pic>
      <p:sp>
        <p:nvSpPr>
          <p:cNvPr id="6" name="Text 3"/>
          <p:cNvSpPr txBox="1"/>
          <p:nvPr/>
        </p:nvSpPr>
        <p:spPr>
          <a:xfrm>
            <a:off x="5180367" y="1600200"/>
            <a:ext cx="6462688" cy="2834640"/>
          </a:xfrm>
          <a:prstGeom prst="rect">
            <a:avLst/>
          </a:prstGeom>
          <a:noFill/>
          <a:ln/>
        </p:spPr>
        <p:txBody>
          <a:bodyPr wrap="square" lIns="0" tIns="0" rIns="0" bIns="0" rtlCol="0" anchor="t"/>
          <a:lstStyle/>
          <a:p>
            <a:pPr marL="193358" indent="-193358">
              <a:lnSpc>
                <a:spcPct val="105000"/>
              </a:lnSpc>
              <a:spcAft>
                <a:spcPts val="1100"/>
              </a:spcAft>
              <a:buSzPct val="100000"/>
              <a:buChar char="•"/>
            </a:pPr>
            <a:r>
              <a:rPr lang="en-US" sz="1450" b="1" dirty="0">
                <a:solidFill>
                  <a:srgbClr val="1D1D1F"/>
                </a:solidFill>
                <a:latin typeface="Arial" pitchFamily="34" charset="0"/>
                <a:ea typeface="Arial" pitchFamily="34" charset="-122"/>
                <a:cs typeface="Arial" pitchFamily="34" charset="-120"/>
              </a:rPr>
              <a:t>Un clic sur le type</a:t>
            </a:r>
            <a:pPr indent="0" marL="0">
              <a:lnSpc>
                <a:spcPct val="105000"/>
              </a:lnSpc>
              <a:spcAft>
                <a:spcPts val="1100"/>
              </a:spcAft>
              <a:buNone/>
            </a:pPr>
            <a:r>
              <a:rPr lang="en-US" sz="1450" dirty="0">
                <a:solidFill>
                  <a:srgbClr val="4A4A4F"/>
                </a:solidFill>
                <a:latin typeface="Arial" pitchFamily="34" charset="0"/>
                <a:ea typeface="Arial" pitchFamily="34" charset="-122"/>
                <a:cs typeface="Arial" pitchFamily="34" charset="-120"/>
              </a:rPr>
              <a:t> ouvre </a:t>
            </a:r>
            <a:pPr indent="0" marL="0">
              <a:lnSpc>
                <a:spcPct val="105000"/>
              </a:lnSpc>
              <a:spcAft>
                <a:spcPts val="1100"/>
              </a:spcAft>
              <a:buNone/>
            </a:pPr>
            <a:r>
              <a:rPr lang="en-US" sz="1450" b="1" dirty="0">
                <a:solidFill>
                  <a:srgbClr val="1D1D1F"/>
                </a:solidFill>
                <a:latin typeface="Arial" pitchFamily="34" charset="0"/>
                <a:ea typeface="Arial" pitchFamily="34" charset="-122"/>
                <a:cs typeface="Arial" pitchFamily="34" charset="-120"/>
              </a:rPr>
              <a:t>« Choisir le type d’activité »</a:t>
            </a:r>
            <a:pPr indent="0" marL="0">
              <a:lnSpc>
                <a:spcPct val="105000"/>
              </a:lnSpc>
              <a:spcAft>
                <a:spcPts val="1100"/>
              </a:spcAft>
              <a:buNone/>
            </a:pPr>
            <a:r>
              <a:rPr lang="en-US" sz="1450" dirty="0">
                <a:solidFill>
                  <a:srgbClr val="4A4A4F"/>
                </a:solidFill>
                <a:latin typeface="Arial" pitchFamily="34" charset="0"/>
                <a:ea typeface="Arial" pitchFamily="34" charset="-122"/>
                <a:cs typeface="Arial" pitchFamily="34" charset="-120"/>
              </a:rPr>
              <a:t>.</a:t>
            </a:r>
            <a:endParaRPr lang="en-US" sz="1450" dirty="0"/>
          </a:p>
          <a:p>
            <a:pPr marL="193358" indent="-193358">
              <a:lnSpc>
                <a:spcPct val="105000"/>
              </a:lnSpc>
              <a:spcAft>
                <a:spcPts val="1100"/>
              </a:spcAft>
              <a:buSzPct val="100000"/>
              <a:buChar char="•"/>
            </a:pPr>
            <a:r>
              <a:rPr lang="en-US" sz="1450" b="1" dirty="0">
                <a:solidFill>
                  <a:srgbClr val="1D1D1F"/>
                </a:solidFill>
                <a:latin typeface="Arial" pitchFamily="34" charset="0"/>
                <a:ea typeface="Arial" pitchFamily="34" charset="-122"/>
                <a:cs typeface="Arial" pitchFamily="34" charset="-120"/>
              </a:rPr>
              <a:t>Activités générées par Caramel</a:t>
            </a:r>
            <a:pPr indent="0" marL="0">
              <a:lnSpc>
                <a:spcPct val="105000"/>
              </a:lnSpc>
              <a:spcAft>
                <a:spcPts val="1100"/>
              </a:spcAft>
              <a:buNone/>
            </a:pPr>
            <a:r>
              <a:rPr lang="en-US" sz="1450" dirty="0">
                <a:solidFill>
                  <a:srgbClr val="4A4A4F"/>
                </a:solidFill>
                <a:latin typeface="Arial" pitchFamily="34" charset="0"/>
                <a:ea typeface="Arial" pitchFamily="34" charset="-122"/>
                <a:cs typeface="Arial" pitchFamily="34" charset="-120"/>
              </a:rPr>
              <a:t> : toutes celles de l’accueil.</a:t>
            </a:r>
            <a:endParaRPr lang="en-US" sz="1450" dirty="0"/>
          </a:p>
          <a:p>
            <a:pPr marL="193358" indent="-193358">
              <a:lnSpc>
                <a:spcPct val="105000"/>
              </a:lnSpc>
              <a:spcAft>
                <a:spcPts val="1100"/>
              </a:spcAft>
              <a:buSzPct val="100000"/>
              <a:buChar char="•"/>
            </a:pPr>
            <a:r>
              <a:rPr lang="en-US" sz="1450" b="1" dirty="0">
                <a:solidFill>
                  <a:srgbClr val="1D1D1F"/>
                </a:solidFill>
                <a:latin typeface="Arial" pitchFamily="34" charset="0"/>
                <a:ea typeface="Arial" pitchFamily="34" charset="-122"/>
                <a:cs typeface="Arial" pitchFamily="34" charset="-120"/>
              </a:rPr>
              <a:t>Modules de la plateforme</a:t>
            </a:r>
            <a:pPr indent="0" marL="0">
              <a:lnSpc>
                <a:spcPct val="105000"/>
              </a:lnSpc>
              <a:spcAft>
                <a:spcPts val="1100"/>
              </a:spcAft>
              <a:buNone/>
            </a:pPr>
            <a:r>
              <a:rPr lang="en-US" sz="1450" dirty="0">
                <a:solidFill>
                  <a:srgbClr val="4A4A4F"/>
                </a:solidFill>
                <a:latin typeface="Arial" pitchFamily="34" charset="0"/>
                <a:ea typeface="Arial" pitchFamily="34" charset="-122"/>
                <a:cs typeface="Arial" pitchFamily="34" charset="-120"/>
              </a:rPr>
              <a:t> : forum, atelier, wiki… L’IA rédige la consigne, le contenu viendra de la classe.</a:t>
            </a:r>
            <a:endParaRPr lang="en-US" sz="1450" dirty="0"/>
          </a:p>
        </p:txBody>
      </p:sp>
      <p:sp>
        <p:nvSpPr>
          <p:cNvPr id="7" name="Text 4"/>
          <p:cNvSpPr txBox="1"/>
          <p:nvPr/>
        </p:nvSpPr>
        <p:spPr>
          <a:xfrm>
            <a:off x="5180367" y="4160520"/>
            <a:ext cx="6462688" cy="320040"/>
          </a:xfrm>
          <a:prstGeom prst="rect">
            <a:avLst/>
          </a:prstGeom>
          <a:noFill/>
          <a:ln/>
        </p:spPr>
        <p:txBody>
          <a:bodyPr wrap="square" lIns="0" tIns="0" rIns="0" bIns="0" rtlCol="0" anchor="t"/>
          <a:lstStyle/>
          <a:p>
            <a:pPr indent="0" marL="0">
              <a:buNone/>
            </a:pPr>
            <a:r>
              <a:rPr lang="en-US" sz="1500" b="1" dirty="0">
                <a:solidFill>
                  <a:srgbClr val="1D1D1F"/>
                </a:solidFill>
                <a:latin typeface="Arial" pitchFamily="34" charset="0"/>
                <a:ea typeface="Arial" pitchFamily="34" charset="-122"/>
                <a:cs typeface="Arial" pitchFamily="34" charset="-120"/>
              </a:rPr>
              <a:t>Un changement regretté ?</a:t>
            </a:r>
            <a:endParaRPr lang="en-US" sz="1500" dirty="0"/>
          </a:p>
        </p:txBody>
      </p:sp>
      <p:sp>
        <p:nvSpPr>
          <p:cNvPr id="8" name="Shape 5"/>
          <p:cNvSpPr/>
          <p:nvPr/>
        </p:nvSpPr>
        <p:spPr>
          <a:xfrm>
            <a:off x="5180367" y="4544568"/>
            <a:ext cx="6462688" cy="689513"/>
          </a:xfrm>
          <a:prstGeom prst="roundRect">
            <a:avLst>
              <a:gd name="adj" fmla="val 15914"/>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9" name="Image 1" descr="/var/folders/b7/tkzbyvzx72qcg9wb0t1jybvm0000gn/T/kit-formation-xg52uF/annulation.jpg">    </p:cNvPr>
          <p:cNvPicPr>
            <a:picLocks noChangeAspect="1"/>
          </p:cNvPicPr>
          <p:nvPr/>
        </p:nvPicPr>
        <p:blipFill>
          <a:blip r:embed="rId2"/>
          <a:stretch>
            <a:fillRect/>
          </a:stretch>
        </p:blipFill>
        <p:spPr>
          <a:xfrm>
            <a:off x="5253519" y="4617720"/>
            <a:ext cx="6316384" cy="543209"/>
          </a:xfrm>
          <a:prstGeom prst="rect">
            <a:avLst/>
          </a:prstGeom>
        </p:spPr>
      </p:pic>
      <p:sp>
        <p:nvSpPr>
          <p:cNvPr id="10" name="Text 6"/>
          <p:cNvSpPr txBox="1"/>
          <p:nvPr/>
        </p:nvSpPr>
        <p:spPr>
          <a:xfrm>
            <a:off x="5180367" y="5303520"/>
            <a:ext cx="6462688" cy="457200"/>
          </a:xfrm>
          <a:prstGeom prst="rect">
            <a:avLst/>
          </a:prstGeom>
          <a:noFill/>
          <a:ln/>
        </p:spPr>
        <p:txBody>
          <a:bodyPr wrap="square" lIns="0" tIns="0" rIns="0" bIns="0" rtlCol="0" anchor="t"/>
          <a:lstStyle/>
          <a:p>
            <a:pPr indent="0" marL="0">
              <a:buNone/>
            </a:pPr>
            <a:r>
              <a:rPr lang="en-US" sz="1250" dirty="0">
                <a:solidFill>
                  <a:srgbClr val="6E6E73"/>
                </a:solidFill>
                <a:latin typeface="Arial" pitchFamily="34" charset="0"/>
                <a:ea typeface="Arial" pitchFamily="34" charset="-122"/>
                <a:cs typeface="Arial" pitchFamily="34" charset="-120"/>
              </a:rPr>
              <a:t>Le bandeau apparaît après un changement de type ou une suppression.</a:t>
            </a:r>
            <a:endParaRPr lang="en-US" sz="1250" dirty="0"/>
          </a:p>
        </p:txBody>
      </p:sp>
      <p:sp>
        <p:nvSpPr>
          <p:cNvPr id="11" name="Text 7"/>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dirty="0">
                <a:solidFill>
                  <a:srgbClr val="6E6E73"/>
                </a:solidFill>
                <a:latin typeface="Arial" pitchFamily="34" charset="0"/>
                <a:ea typeface="Arial" pitchFamily="34" charset="-122"/>
                <a:cs typeface="Arial" pitchFamily="34" charset="-120"/>
              </a:rPr>
              <a:t>Ici sur Éléa : la liste des modules de la plateforme suit la plateforme choisie au cadrage.</a:t>
            </a:r>
            <a:endParaRPr lang="en-US" sz="950" dirty="0"/>
          </a:p>
        </p:txBody>
      </p:sp>
      <p:sp>
        <p:nvSpPr>
          <p:cNvPr id="12" name="Text 8"/>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3" name="Text 9"/>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18 / 27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La fabrication : les activités, une à une</a:t>
            </a:r>
            <a:endParaRPr lang="en-US" sz="3000" dirty="0"/>
          </a:p>
        </p:txBody>
      </p:sp>
      <p:sp>
        <p:nvSpPr>
          <p:cNvPr id="4" name="Shape 2"/>
          <p:cNvSpPr/>
          <p:nvPr/>
        </p:nvSpPr>
        <p:spPr>
          <a:xfrm>
            <a:off x="548640" y="1481328"/>
            <a:ext cx="6188788" cy="4352544"/>
          </a:xfrm>
          <a:prstGeom prst="roundRect">
            <a:avLst>
              <a:gd name="adj" fmla="val 25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fabrication.jpg">    </p:cNvPr>
          <p:cNvPicPr>
            <a:picLocks noChangeAspect="1"/>
          </p:cNvPicPr>
          <p:nvPr/>
        </p:nvPicPr>
        <p:blipFill>
          <a:blip r:embed="rId1"/>
          <a:stretch>
            <a:fillRect/>
          </a:stretch>
        </p:blipFill>
        <p:spPr>
          <a:xfrm>
            <a:off x="621792" y="1554480"/>
            <a:ext cx="6042484" cy="4206240"/>
          </a:xfrm>
          <a:prstGeom prst="rect">
            <a:avLst/>
          </a:prstGeom>
        </p:spPr>
      </p:pic>
      <p:sp>
        <p:nvSpPr>
          <p:cNvPr id="6" name="Shape 3"/>
          <p:cNvSpPr/>
          <p:nvPr/>
        </p:nvSpPr>
        <p:spPr>
          <a:xfrm>
            <a:off x="7167196" y="1645920"/>
            <a:ext cx="329184" cy="329184"/>
          </a:xfrm>
          <a:prstGeom prst="ellipse">
            <a:avLst/>
          </a:prstGeom>
          <a:solidFill>
            <a:srgbClr val="007AFF"/>
          </a:solidFill>
          <a:ln/>
        </p:spPr>
      </p:sp>
      <p:sp>
        <p:nvSpPr>
          <p:cNvPr id="7" name="Text 4"/>
          <p:cNvSpPr txBox="1"/>
          <p:nvPr/>
        </p:nvSpPr>
        <p:spPr>
          <a:xfrm>
            <a:off x="7167196" y="1645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txBox="1"/>
          <p:nvPr/>
        </p:nvSpPr>
        <p:spPr>
          <a:xfrm>
            <a:off x="7679260" y="1618488"/>
            <a:ext cx="3963796" cy="832104"/>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 Fabriquer le parcours »</a:t>
            </a:r>
            <a:pPr indent="0" marL="0">
              <a:buNone/>
            </a:pPr>
            <a:r>
              <a:rPr lang="en-US" sz="1400" dirty="0">
                <a:solidFill>
                  <a:srgbClr val="4A4A4F"/>
                </a:solidFill>
                <a:latin typeface="Arial" pitchFamily="34" charset="0"/>
                <a:ea typeface="Arial" pitchFamily="34" charset="-122"/>
                <a:cs typeface="Arial" pitchFamily="34" charset="-120"/>
              </a:rPr>
              <a:t> lance les générations.</a:t>
            </a:r>
            <a:endParaRPr lang="en-US" sz="1400" dirty="0"/>
          </a:p>
        </p:txBody>
      </p:sp>
      <p:sp>
        <p:nvSpPr>
          <p:cNvPr id="9" name="Shape 6"/>
          <p:cNvSpPr/>
          <p:nvPr/>
        </p:nvSpPr>
        <p:spPr>
          <a:xfrm>
            <a:off x="7167196" y="2514600"/>
            <a:ext cx="329184" cy="329184"/>
          </a:xfrm>
          <a:prstGeom prst="ellipse">
            <a:avLst/>
          </a:prstGeom>
          <a:solidFill>
            <a:srgbClr val="007AFF"/>
          </a:solidFill>
          <a:ln/>
        </p:spPr>
      </p:sp>
      <p:sp>
        <p:nvSpPr>
          <p:cNvPr id="10" name="Text 7"/>
          <p:cNvSpPr txBox="1"/>
          <p:nvPr/>
        </p:nvSpPr>
        <p:spPr>
          <a:xfrm>
            <a:off x="7167196" y="2514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8"/>
          <p:cNvSpPr txBox="1"/>
          <p:nvPr/>
        </p:nvSpPr>
        <p:spPr>
          <a:xfrm>
            <a:off x="7679260" y="2487168"/>
            <a:ext cx="3963796" cy="832104"/>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Chaque activité passe d’« En attente » à « En cours… », puis « Prête ».</a:t>
            </a:r>
            <a:endParaRPr lang="en-US" sz="1400" dirty="0"/>
          </a:p>
        </p:txBody>
      </p:sp>
      <p:sp>
        <p:nvSpPr>
          <p:cNvPr id="12" name="Shape 9"/>
          <p:cNvSpPr/>
          <p:nvPr/>
        </p:nvSpPr>
        <p:spPr>
          <a:xfrm>
            <a:off x="7167196" y="3383280"/>
            <a:ext cx="329184" cy="329184"/>
          </a:xfrm>
          <a:prstGeom prst="ellipse">
            <a:avLst/>
          </a:prstGeom>
          <a:solidFill>
            <a:srgbClr val="007AFF"/>
          </a:solidFill>
          <a:ln/>
        </p:spPr>
      </p:sp>
      <p:sp>
        <p:nvSpPr>
          <p:cNvPr id="13" name="Text 10"/>
          <p:cNvSpPr txBox="1"/>
          <p:nvPr/>
        </p:nvSpPr>
        <p:spPr>
          <a:xfrm>
            <a:off x="7167196" y="338328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1"/>
          <p:cNvSpPr txBox="1"/>
          <p:nvPr/>
        </p:nvSpPr>
        <p:spPr>
          <a:xfrm>
            <a:off x="7679260" y="3355848"/>
            <a:ext cx="3963796" cy="832104"/>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 Aperçu »</a:t>
            </a:r>
            <a:pPr indent="0" marL="0">
              <a:buNone/>
            </a:pPr>
            <a:r>
              <a:rPr lang="en-US" sz="1400" dirty="0">
                <a:solidFill>
                  <a:srgbClr val="4A4A4F"/>
                </a:solidFill>
                <a:latin typeface="Arial" pitchFamily="34" charset="0"/>
                <a:ea typeface="Arial" pitchFamily="34" charset="-122"/>
                <a:cs typeface="Arial" pitchFamily="34" charset="-120"/>
              </a:rPr>
              <a:t>, </a:t>
            </a:r>
            <a:pPr indent="0" marL="0">
              <a:buNone/>
            </a:pPr>
            <a:r>
              <a:rPr lang="en-US" sz="1400" b="1" dirty="0">
                <a:solidFill>
                  <a:srgbClr val="1D1D1F"/>
                </a:solidFill>
                <a:latin typeface="Arial" pitchFamily="34" charset="0"/>
                <a:ea typeface="Arial" pitchFamily="34" charset="-122"/>
                <a:cs typeface="Arial" pitchFamily="34" charset="-120"/>
              </a:rPr>
              <a:t>« Modifier le contenu »</a:t>
            </a:r>
            <a:pPr indent="0" marL="0">
              <a:buNone/>
            </a:pPr>
            <a:r>
              <a:rPr lang="en-US" sz="1400" dirty="0">
                <a:solidFill>
                  <a:srgbClr val="4A4A4F"/>
                </a:solidFill>
                <a:latin typeface="Arial" pitchFamily="34" charset="0"/>
                <a:ea typeface="Arial" pitchFamily="34" charset="-122"/>
                <a:cs typeface="Arial" pitchFamily="34" charset="-120"/>
              </a:rPr>
              <a:t> ou </a:t>
            </a:r>
            <a:pPr indent="0" marL="0">
              <a:buNone/>
            </a:pPr>
            <a:r>
              <a:rPr lang="en-US" sz="1400" b="1" dirty="0">
                <a:solidFill>
                  <a:srgbClr val="1D1D1F"/>
                </a:solidFill>
                <a:latin typeface="Arial" pitchFamily="34" charset="0"/>
                <a:ea typeface="Arial" pitchFamily="34" charset="-122"/>
                <a:cs typeface="Arial" pitchFamily="34" charset="-120"/>
              </a:rPr>
              <a:t>« Générer à nouveau »</a:t>
            </a:r>
            <a:pPr indent="0" marL="0">
              <a:buNone/>
            </a:pPr>
            <a:r>
              <a:rPr lang="en-US" sz="1400" dirty="0">
                <a:solidFill>
                  <a:srgbClr val="4A4A4F"/>
                </a:solidFill>
                <a:latin typeface="Arial" pitchFamily="34" charset="0"/>
                <a:ea typeface="Arial" pitchFamily="34" charset="-122"/>
                <a:cs typeface="Arial" pitchFamily="34" charset="-120"/>
              </a:rPr>
              <a:t>.</a:t>
            </a:r>
            <a:endParaRPr lang="en-US" sz="1400" dirty="0"/>
          </a:p>
        </p:txBody>
      </p:sp>
      <p:sp>
        <p:nvSpPr>
          <p:cNvPr id="15" name="Shape 12"/>
          <p:cNvSpPr/>
          <p:nvPr/>
        </p:nvSpPr>
        <p:spPr>
          <a:xfrm>
            <a:off x="7167196" y="4251960"/>
            <a:ext cx="329184" cy="329184"/>
          </a:xfrm>
          <a:prstGeom prst="ellipse">
            <a:avLst/>
          </a:prstGeom>
          <a:solidFill>
            <a:srgbClr val="007AFF"/>
          </a:solidFill>
          <a:ln/>
        </p:spPr>
      </p:sp>
      <p:sp>
        <p:nvSpPr>
          <p:cNvPr id="16" name="Text 13"/>
          <p:cNvSpPr txBox="1"/>
          <p:nvPr/>
        </p:nvSpPr>
        <p:spPr>
          <a:xfrm>
            <a:off x="7167196" y="42519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7" name="Text 14"/>
          <p:cNvSpPr txBox="1"/>
          <p:nvPr/>
        </p:nvSpPr>
        <p:spPr>
          <a:xfrm>
            <a:off x="7679260" y="4224528"/>
            <a:ext cx="3963796" cy="832104"/>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 Assembler le parcours »</a:t>
            </a:r>
            <a:pPr indent="0" marL="0">
              <a:buNone/>
            </a:pPr>
            <a:r>
              <a:rPr lang="en-US" sz="1400" dirty="0">
                <a:solidFill>
                  <a:srgbClr val="4A4A4F"/>
                </a:solidFill>
                <a:latin typeface="Arial" pitchFamily="34" charset="0"/>
                <a:ea typeface="Arial" pitchFamily="34" charset="-122"/>
                <a:cs typeface="Arial" pitchFamily="34" charset="-120"/>
              </a:rPr>
              <a:t> mène à la livraison.</a:t>
            </a:r>
            <a:endParaRPr lang="en-US" sz="1400" dirty="0"/>
          </a:p>
        </p:txBody>
      </p:sp>
      <p:sp>
        <p:nvSpPr>
          <p:cNvPr id="18" name="Shape 15"/>
          <p:cNvSpPr/>
          <p:nvPr/>
        </p:nvSpPr>
        <p:spPr>
          <a:xfrm>
            <a:off x="7167196" y="5074920"/>
            <a:ext cx="4475860" cy="685800"/>
          </a:xfrm>
          <a:prstGeom prst="roundRect">
            <a:avLst>
              <a:gd name="adj" fmla="val 21333"/>
            </a:avLst>
          </a:prstGeom>
          <a:solidFill>
            <a:srgbClr val="FFF7EC"/>
          </a:solidFill>
          <a:ln w="9525">
            <a:solidFill>
              <a:srgbClr val="EEE0CF"/>
            </a:solidFill>
            <a:prstDash val="solid"/>
          </a:ln>
        </p:spPr>
      </p:sp>
      <p:pic>
        <p:nvPicPr>
          <p:cNvPr id="19" name="Image 1" descr="/var/folders/b7/tkzbyvzx72qcg9wb0t1jybvm0000gn/T/kit-formation-xg52uF/icone-29.png">    </p:cNvPr>
          <p:cNvPicPr>
            <a:picLocks noChangeAspect="1"/>
          </p:cNvPicPr>
          <p:nvPr/>
        </p:nvPicPr>
        <p:blipFill>
          <a:blip r:embed="rId2"/>
          <a:stretch>
            <a:fillRect/>
          </a:stretch>
        </p:blipFill>
        <p:spPr>
          <a:xfrm>
            <a:off x="7395796" y="5280660"/>
            <a:ext cx="274320" cy="274320"/>
          </a:xfrm>
          <a:prstGeom prst="rect">
            <a:avLst/>
          </a:prstGeom>
        </p:spPr>
      </p:pic>
      <p:sp>
        <p:nvSpPr>
          <p:cNvPr id="20" name="Text 16"/>
          <p:cNvSpPr txBox="1"/>
          <p:nvPr/>
        </p:nvSpPr>
        <p:spPr>
          <a:xfrm>
            <a:off x="7825564" y="5074920"/>
            <a:ext cx="3607180" cy="685800"/>
          </a:xfrm>
          <a:prstGeom prst="rect">
            <a:avLst/>
          </a:prstGeom>
          <a:noFill/>
          <a:ln/>
        </p:spPr>
        <p:txBody>
          <a:bodyPr wrap="square" lIns="0" tIns="0" rIns="0" bIns="0" rtlCol="0" anchor="ctr"/>
          <a:lstStyle/>
          <a:p>
            <a:pPr indent="0" marL="0">
              <a:buNone/>
            </a:pPr>
            <a:r>
              <a:rPr lang="en-US" sz="1300" dirty="0">
                <a:solidFill>
                  <a:srgbClr val="1D1D1F"/>
                </a:solidFill>
                <a:latin typeface="Arial" pitchFamily="34" charset="0"/>
                <a:ea typeface="Arial" pitchFamily="34" charset="-122"/>
                <a:cs typeface="Arial" pitchFamily="34" charset="-120"/>
              </a:rPr>
              <a:t>Quelques minutes. Une activité en échec ? </a:t>
            </a:r>
            <a:pPr indent="0" marL="0">
              <a:buNone/>
            </a:pPr>
            <a:r>
              <a:rPr lang="en-US" sz="1300" b="1" dirty="0">
                <a:solidFill>
                  <a:srgbClr val="1D1D1F"/>
                </a:solidFill>
                <a:latin typeface="Arial" pitchFamily="34" charset="0"/>
                <a:ea typeface="Arial" pitchFamily="34" charset="-122"/>
                <a:cs typeface="Arial" pitchFamily="34" charset="-120"/>
              </a:rPr>
              <a:t>Relancez-la.</a:t>
            </a:r>
            <a:endParaRPr lang="en-US" sz="1300" dirty="0"/>
          </a:p>
        </p:txBody>
      </p:sp>
      <p:sp>
        <p:nvSpPr>
          <p:cNvPr id="21" name="Text 17"/>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22" name="Text 18"/>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19 / 27</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La livraison : un seul fichier de cours</a:t>
            </a:r>
            <a:endParaRPr lang="en-US" sz="3000" dirty="0"/>
          </a:p>
        </p:txBody>
      </p:sp>
      <p:sp>
        <p:nvSpPr>
          <p:cNvPr id="4" name="Shape 2"/>
          <p:cNvSpPr/>
          <p:nvPr/>
        </p:nvSpPr>
        <p:spPr>
          <a:xfrm>
            <a:off x="548640" y="1481328"/>
            <a:ext cx="4774904" cy="4352544"/>
          </a:xfrm>
          <a:prstGeom prst="roundRect">
            <a:avLst>
              <a:gd name="adj" fmla="val 25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livraison.jpg">    </p:cNvPr>
          <p:cNvPicPr>
            <a:picLocks noChangeAspect="1"/>
          </p:cNvPicPr>
          <p:nvPr/>
        </p:nvPicPr>
        <p:blipFill>
          <a:blip r:embed="rId1"/>
          <a:stretch>
            <a:fillRect/>
          </a:stretch>
        </p:blipFill>
        <p:spPr>
          <a:xfrm>
            <a:off x="621792" y="1554480"/>
            <a:ext cx="4628600" cy="4206240"/>
          </a:xfrm>
          <a:prstGeom prst="rect">
            <a:avLst/>
          </a:prstGeom>
        </p:spPr>
      </p:pic>
      <p:sp>
        <p:nvSpPr>
          <p:cNvPr id="6" name="Text 3"/>
          <p:cNvSpPr txBox="1"/>
          <p:nvPr/>
        </p:nvSpPr>
        <p:spPr>
          <a:xfrm>
            <a:off x="5753312" y="1554480"/>
            <a:ext cx="5889743" cy="329184"/>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Importer par restauration</a:t>
            </a:r>
            <a:endParaRPr lang="en-US" sz="1700" dirty="0"/>
          </a:p>
        </p:txBody>
      </p:sp>
      <p:sp>
        <p:nvSpPr>
          <p:cNvPr id="7" name="Shape 4"/>
          <p:cNvSpPr/>
          <p:nvPr/>
        </p:nvSpPr>
        <p:spPr>
          <a:xfrm>
            <a:off x="5753312" y="2011680"/>
            <a:ext cx="292608" cy="292608"/>
          </a:xfrm>
          <a:prstGeom prst="ellipse">
            <a:avLst/>
          </a:prstGeom>
          <a:solidFill>
            <a:srgbClr val="007AFF"/>
          </a:solidFill>
          <a:ln/>
        </p:spPr>
      </p:sp>
      <p:sp>
        <p:nvSpPr>
          <p:cNvPr id="8" name="Text 5"/>
          <p:cNvSpPr txBox="1"/>
          <p:nvPr/>
        </p:nvSpPr>
        <p:spPr>
          <a:xfrm>
            <a:off x="5753312" y="201168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1</a:t>
            </a:r>
            <a:endParaRPr lang="en-US" sz="1150" dirty="0"/>
          </a:p>
        </p:txBody>
      </p:sp>
      <p:sp>
        <p:nvSpPr>
          <p:cNvPr id="9" name="Text 6"/>
          <p:cNvSpPr txBox="1"/>
          <p:nvPr/>
        </p:nvSpPr>
        <p:spPr>
          <a:xfrm>
            <a:off x="6228800" y="1984248"/>
            <a:ext cx="5414255" cy="585216"/>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Créez un cours vide, ou ouvrez celui à compléter.</a:t>
            </a:r>
            <a:endParaRPr lang="en-US" sz="1350" dirty="0"/>
          </a:p>
        </p:txBody>
      </p:sp>
      <p:sp>
        <p:nvSpPr>
          <p:cNvPr id="10" name="Shape 7"/>
          <p:cNvSpPr/>
          <p:nvPr/>
        </p:nvSpPr>
        <p:spPr>
          <a:xfrm>
            <a:off x="5753312" y="2633472"/>
            <a:ext cx="292608" cy="292608"/>
          </a:xfrm>
          <a:prstGeom prst="ellipse">
            <a:avLst/>
          </a:prstGeom>
          <a:solidFill>
            <a:srgbClr val="007AFF"/>
          </a:solidFill>
          <a:ln/>
        </p:spPr>
      </p:sp>
      <p:sp>
        <p:nvSpPr>
          <p:cNvPr id="11" name="Text 8"/>
          <p:cNvSpPr txBox="1"/>
          <p:nvPr/>
        </p:nvSpPr>
        <p:spPr>
          <a:xfrm>
            <a:off x="5753312" y="263347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2</a:t>
            </a:r>
            <a:endParaRPr lang="en-US" sz="1150" dirty="0"/>
          </a:p>
        </p:txBody>
      </p:sp>
      <p:sp>
        <p:nvSpPr>
          <p:cNvPr id="12" name="Text 9"/>
          <p:cNvSpPr txBox="1"/>
          <p:nvPr/>
        </p:nvSpPr>
        <p:spPr>
          <a:xfrm>
            <a:off x="6228800" y="2606040"/>
            <a:ext cx="5414255" cy="585216"/>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Ouvrez </a:t>
            </a:r>
            <a:pPr indent="0" marL="0">
              <a:buNone/>
            </a:pPr>
            <a:r>
              <a:rPr lang="en-US" sz="1350" b="1" dirty="0">
                <a:solidFill>
                  <a:srgbClr val="1D1D1F"/>
                </a:solidFill>
                <a:latin typeface="Arial" pitchFamily="34" charset="0"/>
                <a:ea typeface="Arial" pitchFamily="34" charset="-122"/>
                <a:cs typeface="Arial" pitchFamily="34" charset="-120"/>
              </a:rPr>
              <a:t>« Restauration »</a:t>
            </a:r>
            <a:pPr indent="0" marL="0">
              <a:buNone/>
            </a:pPr>
            <a:r>
              <a:rPr lang="en-US" sz="1350" dirty="0">
                <a:solidFill>
                  <a:srgbClr val="4A4A4F"/>
                </a:solidFill>
                <a:latin typeface="Arial" pitchFamily="34" charset="0"/>
                <a:ea typeface="Arial" pitchFamily="34" charset="-122"/>
                <a:cs typeface="Arial" pitchFamily="34" charset="-120"/>
              </a:rPr>
              <a:t> et déposez le fichier .mbz.</a:t>
            </a:r>
            <a:endParaRPr lang="en-US" sz="1350" dirty="0"/>
          </a:p>
        </p:txBody>
      </p:sp>
      <p:sp>
        <p:nvSpPr>
          <p:cNvPr id="13" name="Shape 10"/>
          <p:cNvSpPr/>
          <p:nvPr/>
        </p:nvSpPr>
        <p:spPr>
          <a:xfrm>
            <a:off x="5753312" y="3255264"/>
            <a:ext cx="292608" cy="292608"/>
          </a:xfrm>
          <a:prstGeom prst="ellipse">
            <a:avLst/>
          </a:prstGeom>
          <a:solidFill>
            <a:srgbClr val="007AFF"/>
          </a:solidFill>
          <a:ln/>
        </p:spPr>
      </p:sp>
      <p:sp>
        <p:nvSpPr>
          <p:cNvPr id="14" name="Text 11"/>
          <p:cNvSpPr txBox="1"/>
          <p:nvPr/>
        </p:nvSpPr>
        <p:spPr>
          <a:xfrm>
            <a:off x="5753312" y="32552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Arial" pitchFamily="34" charset="0"/>
                <a:ea typeface="Arial" pitchFamily="34" charset="-122"/>
                <a:cs typeface="Arial" pitchFamily="34" charset="-120"/>
              </a:rPr>
              <a:t>3</a:t>
            </a:r>
            <a:endParaRPr lang="en-US" sz="1150" dirty="0"/>
          </a:p>
        </p:txBody>
      </p:sp>
      <p:sp>
        <p:nvSpPr>
          <p:cNvPr id="15" name="Text 12"/>
          <p:cNvSpPr txBox="1"/>
          <p:nvPr/>
        </p:nvSpPr>
        <p:spPr>
          <a:xfrm>
            <a:off x="6228800" y="3227832"/>
            <a:ext cx="5414255" cy="585216"/>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Choisissez </a:t>
            </a:r>
            <a:pPr indent="0" marL="0">
              <a:buNone/>
            </a:pPr>
            <a:r>
              <a:rPr lang="en-US" sz="1350" b="1" dirty="0">
                <a:solidFill>
                  <a:srgbClr val="1D1D1F"/>
                </a:solidFill>
                <a:latin typeface="Arial" pitchFamily="34" charset="0"/>
                <a:ea typeface="Arial" pitchFamily="34" charset="-122"/>
                <a:cs typeface="Arial" pitchFamily="34" charset="-120"/>
              </a:rPr>
              <a:t>« Fusionner avec ce cours »</a:t>
            </a:r>
            <a:pPr indent="0" marL="0">
              <a:buNone/>
            </a:pPr>
            <a:r>
              <a:rPr lang="en-US" sz="1350" dirty="0">
                <a:solidFill>
                  <a:srgbClr val="4A4A4F"/>
                </a:solidFill>
                <a:latin typeface="Arial" pitchFamily="34" charset="0"/>
                <a:ea typeface="Arial" pitchFamily="34" charset="-122"/>
                <a:cs typeface="Arial" pitchFamily="34" charset="-120"/>
              </a:rPr>
              <a:t>, puis validez.</a:t>
            </a:r>
            <a:endParaRPr lang="en-US" sz="1350" dirty="0"/>
          </a:p>
        </p:txBody>
      </p:sp>
      <p:sp>
        <p:nvSpPr>
          <p:cNvPr id="16" name="Text 13"/>
          <p:cNvSpPr txBox="1"/>
          <p:nvPr/>
        </p:nvSpPr>
        <p:spPr>
          <a:xfrm>
            <a:off x="5753312" y="4069080"/>
            <a:ext cx="5889743" cy="1737360"/>
          </a:xfrm>
          <a:prstGeom prst="rect">
            <a:avLst/>
          </a:prstGeom>
          <a:noFill/>
          <a:ln/>
        </p:spPr>
        <p:txBody>
          <a:bodyPr wrap="square" lIns="0" tIns="0" rIns="0" bIns="0" rtlCol="0" anchor="t"/>
          <a:lstStyle/>
          <a:p>
            <a:pPr marL="180023" indent="-180023">
              <a:lnSpc>
                <a:spcPct val="105000"/>
              </a:lnSpc>
              <a:spcAft>
                <a:spcPts val="900"/>
              </a:spcAft>
              <a:buSzPct val="100000"/>
              <a:buChar char="•"/>
            </a:pPr>
            <a:r>
              <a:rPr lang="en-US" sz="1350" b="1" dirty="0">
                <a:solidFill>
                  <a:srgbClr val="1D1D1F"/>
                </a:solidFill>
                <a:latin typeface="Arial" pitchFamily="34" charset="0"/>
                <a:ea typeface="Arial" pitchFamily="34" charset="-122"/>
                <a:cs typeface="Arial" pitchFamily="34" charset="-120"/>
              </a:rPr>
              <a:t>« Fiche de séquence »</a:t>
            </a:r>
            <a:pPr indent="0" marL="0">
              <a:lnSpc>
                <a:spcPct val="105000"/>
              </a:lnSpc>
              <a:spcAft>
                <a:spcPts val="900"/>
              </a:spcAft>
              <a:buNone/>
            </a:pPr>
            <a:r>
              <a:rPr lang="en-US" sz="1350" dirty="0">
                <a:solidFill>
                  <a:srgbClr val="4A4A4F"/>
                </a:solidFill>
                <a:latin typeface="Arial" pitchFamily="34" charset="0"/>
                <a:ea typeface="Arial" pitchFamily="34" charset="-122"/>
                <a:cs typeface="Arial" pitchFamily="34" charset="-120"/>
              </a:rPr>
              <a:t> et </a:t>
            </a:r>
            <a:pPr indent="0" marL="0">
              <a:lnSpc>
                <a:spcPct val="105000"/>
              </a:lnSpc>
              <a:spcAft>
                <a:spcPts val="900"/>
              </a:spcAft>
              <a:buNone/>
            </a:pPr>
            <a:r>
              <a:rPr lang="en-US" sz="1350" b="1" dirty="0">
                <a:solidFill>
                  <a:srgbClr val="1D1D1F"/>
                </a:solidFill>
                <a:latin typeface="Arial" pitchFamily="34" charset="0"/>
                <a:ea typeface="Arial" pitchFamily="34" charset="-122"/>
                <a:cs typeface="Arial" pitchFamily="34" charset="-120"/>
              </a:rPr>
              <a:t>« Détail des activités »</a:t>
            </a:r>
            <a:pPr indent="0" marL="0">
              <a:lnSpc>
                <a:spcPct val="105000"/>
              </a:lnSpc>
              <a:spcAft>
                <a:spcPts val="900"/>
              </a:spcAft>
              <a:buNone/>
            </a:pPr>
            <a:r>
              <a:rPr lang="en-US" sz="1350" dirty="0">
                <a:solidFill>
                  <a:srgbClr val="4A4A4F"/>
                </a:solidFill>
                <a:latin typeface="Arial" pitchFamily="34" charset="0"/>
                <a:ea typeface="Arial" pitchFamily="34" charset="-122"/>
                <a:cs typeface="Arial" pitchFamily="34" charset="-120"/>
              </a:rPr>
              <a:t> : DOCX, ODT, PDF.</a:t>
            </a:r>
            <a:endParaRPr lang="en-US" sz="1350" dirty="0"/>
          </a:p>
          <a:p>
            <a:pPr marL="180023" indent="-180023">
              <a:lnSpc>
                <a:spcPct val="105000"/>
              </a:lnSpc>
              <a:spcAft>
                <a:spcPts val="900"/>
              </a:spcAft>
              <a:buSzPct val="100000"/>
              <a:buChar char="•"/>
            </a:pPr>
            <a:r>
              <a:rPr lang="en-US" sz="1350" b="1" dirty="0">
                <a:solidFill>
                  <a:srgbClr val="1D1D1F"/>
                </a:solidFill>
                <a:latin typeface="Arial" pitchFamily="34" charset="0"/>
                <a:ea typeface="Arial" pitchFamily="34" charset="-122"/>
                <a:cs typeface="Arial" pitchFamily="34" charset="-120"/>
              </a:rPr>
              <a:t>« Exporter le scénario (.json) »</a:t>
            </a:r>
            <a:pPr indent="0" marL="0">
              <a:lnSpc>
                <a:spcPct val="105000"/>
              </a:lnSpc>
              <a:spcAft>
                <a:spcPts val="900"/>
              </a:spcAft>
              <a:buNone/>
            </a:pPr>
            <a:r>
              <a:rPr lang="en-US" sz="1350" dirty="0">
                <a:solidFill>
                  <a:srgbClr val="4A4A4F"/>
                </a:solidFill>
                <a:latin typeface="Arial" pitchFamily="34" charset="0"/>
                <a:ea typeface="Arial" pitchFamily="34" charset="-122"/>
                <a:cs typeface="Arial" pitchFamily="34" charset="-120"/>
              </a:rPr>
              <a:t> : pour rouvrir le parcours dans Caramel, par </a:t>
            </a:r>
            <a:pPr indent="0" marL="0">
              <a:lnSpc>
                <a:spcPct val="105000"/>
              </a:lnSpc>
              <a:spcAft>
                <a:spcPts val="900"/>
              </a:spcAft>
              <a:buNone/>
            </a:pPr>
            <a:r>
              <a:rPr lang="en-US" sz="1350" b="1" dirty="0">
                <a:solidFill>
                  <a:srgbClr val="1D1D1F"/>
                </a:solidFill>
                <a:latin typeface="Arial" pitchFamily="34" charset="0"/>
                <a:ea typeface="Arial" pitchFamily="34" charset="-122"/>
                <a:cs typeface="Arial" pitchFamily="34" charset="-120"/>
              </a:rPr>
              <a:t>« Importer un modèle »</a:t>
            </a:r>
            <a:pPr indent="0" marL="0">
              <a:lnSpc>
                <a:spcPct val="105000"/>
              </a:lnSpc>
              <a:spcAft>
                <a:spcPts val="900"/>
              </a:spcAft>
              <a:buNone/>
            </a:pPr>
            <a:r>
              <a:rPr lang="en-US" sz="1350" dirty="0">
                <a:solidFill>
                  <a:srgbClr val="4A4A4F"/>
                </a:solidFill>
                <a:latin typeface="Arial" pitchFamily="34" charset="0"/>
                <a:ea typeface="Arial" pitchFamily="34" charset="-122"/>
                <a:cs typeface="Arial" pitchFamily="34" charset="-120"/>
              </a:rPr>
              <a:t>.</a:t>
            </a:r>
            <a:endParaRPr lang="en-US" sz="1350" dirty="0"/>
          </a:p>
        </p:txBody>
      </p:sp>
      <p:sp>
        <p:nvSpPr>
          <p:cNvPr id="17" name="Text 1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8" name="Text 1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20 / 27</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Un parcours différencié : des chemins selon les résultats</a:t>
            </a:r>
            <a:endParaRPr lang="en-US" sz="3000" dirty="0"/>
          </a:p>
        </p:txBody>
      </p:sp>
      <p:sp>
        <p:nvSpPr>
          <p:cNvPr id="4" name="Shape 2"/>
          <p:cNvSpPr/>
          <p:nvPr/>
        </p:nvSpPr>
        <p:spPr>
          <a:xfrm>
            <a:off x="548640" y="2505456"/>
            <a:ext cx="2148840" cy="1097280"/>
          </a:xfrm>
          <a:prstGeom prst="roundRect">
            <a:avLst>
              <a:gd name="adj" fmla="val 10000"/>
            </a:avLst>
          </a:prstGeom>
          <a:solidFill>
            <a:srgbClr val="FFFFFF"/>
          </a:solidFill>
          <a:ln w="15875">
            <a:solidFill>
              <a:srgbClr val="E5E5EA"/>
            </a:solidFill>
            <a:prstDash val="solid"/>
          </a:ln>
        </p:spPr>
      </p:sp>
      <p:sp>
        <p:nvSpPr>
          <p:cNvPr id="5" name="Text 3"/>
          <p:cNvSpPr txBox="1"/>
          <p:nvPr/>
        </p:nvSpPr>
        <p:spPr>
          <a:xfrm>
            <a:off x="713232" y="2505456"/>
            <a:ext cx="1874520" cy="1097280"/>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Le test</a:t>
            </a:r>
            <a:endParaRPr lang="en-US" sz="1500" dirty="0"/>
          </a:p>
          <a:p>
            <a:pPr indent="0" marL="0">
              <a:buNone/>
            </a:pPr>
            <a:r>
              <a:rPr lang="en-US" sz="1150" dirty="0">
                <a:solidFill>
                  <a:srgbClr val="4A4A4F"/>
                </a:solidFill>
                <a:latin typeface="Arial" pitchFamily="34" charset="0"/>
                <a:ea typeface="Arial" pitchFamily="34" charset="-122"/>
                <a:cs typeface="Arial" pitchFamily="34" charset="-120"/>
              </a:rPr>
              <a:t>sa note, à la 1re tentative, décide</a:t>
            </a:r>
            <a:endParaRPr lang="en-US" sz="1500" dirty="0"/>
          </a:p>
        </p:txBody>
      </p:sp>
      <p:sp>
        <p:nvSpPr>
          <p:cNvPr id="6" name="Shape 4"/>
          <p:cNvSpPr/>
          <p:nvPr/>
        </p:nvSpPr>
        <p:spPr>
          <a:xfrm>
            <a:off x="3520440" y="1783080"/>
            <a:ext cx="2743200" cy="713232"/>
          </a:xfrm>
          <a:prstGeom prst="roundRect">
            <a:avLst>
              <a:gd name="adj" fmla="val 15385"/>
            </a:avLst>
          </a:prstGeom>
          <a:solidFill>
            <a:srgbClr val="E3F4F1"/>
          </a:solidFill>
          <a:ln w="15875">
            <a:solidFill>
              <a:srgbClr val="0E7468"/>
            </a:solidFill>
            <a:prstDash val="solid"/>
          </a:ln>
        </p:spPr>
      </p:sp>
      <p:sp>
        <p:nvSpPr>
          <p:cNvPr id="7" name="Text 5"/>
          <p:cNvSpPr txBox="1"/>
          <p:nvPr/>
        </p:nvSpPr>
        <p:spPr>
          <a:xfrm>
            <a:off x="3685032" y="1783080"/>
            <a:ext cx="2468880" cy="713232"/>
          </a:xfrm>
          <a:prstGeom prst="rect">
            <a:avLst/>
          </a:prstGeom>
          <a:noFill/>
          <a:ln/>
        </p:spPr>
        <p:txBody>
          <a:bodyPr wrap="square" lIns="0" tIns="0" rIns="0" bIns="0" rtlCol="0" anchor="ctr"/>
          <a:lstStyle/>
          <a:p>
            <a:pPr indent="0" marL="0">
              <a:buNone/>
            </a:pPr>
            <a:r>
              <a:rPr lang="en-US" sz="1500" b="1" dirty="0">
                <a:solidFill>
                  <a:srgbClr val="0E7468"/>
                </a:solidFill>
                <a:latin typeface="Arial" pitchFamily="34" charset="0"/>
                <a:ea typeface="Arial" pitchFamily="34" charset="-122"/>
                <a:cs typeface="Arial" pitchFamily="34" charset="-120"/>
              </a:rPr>
              <a:t>Renforcer</a:t>
            </a:r>
            <a:endParaRPr lang="en-US" sz="1500" dirty="0"/>
          </a:p>
          <a:p>
            <a:pPr indent="0" marL="0">
              <a:buNone/>
            </a:pPr>
            <a:r>
              <a:rPr lang="en-US" sz="1150" dirty="0">
                <a:solidFill>
                  <a:srgbClr val="4A4A4F"/>
                </a:solidFill>
                <a:latin typeface="Arial" pitchFamily="34" charset="0"/>
                <a:ea typeface="Arial" pitchFamily="34" charset="-122"/>
                <a:cs typeface="Arial" pitchFamily="34" charset="-120"/>
              </a:rPr>
              <a:t>de 0 à 3 bonnes réponses sur 8</a:t>
            </a:r>
            <a:endParaRPr lang="en-US" sz="1500" dirty="0"/>
          </a:p>
        </p:txBody>
      </p:sp>
      <p:sp>
        <p:nvSpPr>
          <p:cNvPr id="8" name="Shape 6"/>
          <p:cNvSpPr/>
          <p:nvPr/>
        </p:nvSpPr>
        <p:spPr>
          <a:xfrm flipV="1">
            <a:off x="2697480" y="2139696"/>
            <a:ext cx="822960" cy="914400"/>
          </a:xfrm>
          <a:prstGeom prst="line">
            <a:avLst/>
          </a:prstGeom>
          <a:noFill/>
          <a:ln w="15875">
            <a:solidFill>
              <a:srgbClr val="B8B8BE"/>
            </a:solidFill>
            <a:prstDash val="solid"/>
            <a:tailEnd type="triangle"/>
          </a:ln>
        </p:spPr>
      </p:sp>
      <p:sp>
        <p:nvSpPr>
          <p:cNvPr id="9" name="Shape 7"/>
          <p:cNvSpPr/>
          <p:nvPr/>
        </p:nvSpPr>
        <p:spPr>
          <a:xfrm>
            <a:off x="6263640" y="2139696"/>
            <a:ext cx="822960" cy="914400"/>
          </a:xfrm>
          <a:prstGeom prst="line">
            <a:avLst/>
          </a:prstGeom>
          <a:noFill/>
          <a:ln w="15875">
            <a:solidFill>
              <a:srgbClr val="B8B8BE"/>
            </a:solidFill>
            <a:prstDash val="solid"/>
            <a:tailEnd type="triangle"/>
          </a:ln>
        </p:spPr>
      </p:sp>
      <p:sp>
        <p:nvSpPr>
          <p:cNvPr id="10" name="Shape 8"/>
          <p:cNvSpPr/>
          <p:nvPr/>
        </p:nvSpPr>
        <p:spPr>
          <a:xfrm>
            <a:off x="3520440" y="2697480"/>
            <a:ext cx="2743200" cy="713232"/>
          </a:xfrm>
          <a:prstGeom prst="roundRect">
            <a:avLst>
              <a:gd name="adj" fmla="val 15385"/>
            </a:avLst>
          </a:prstGeom>
          <a:solidFill>
            <a:srgbClr val="E6EFFA"/>
          </a:solidFill>
          <a:ln w="15875">
            <a:solidFill>
              <a:srgbClr val="1A5FB4"/>
            </a:solidFill>
            <a:prstDash val="solid"/>
          </a:ln>
        </p:spPr>
      </p:sp>
      <p:sp>
        <p:nvSpPr>
          <p:cNvPr id="11" name="Text 9"/>
          <p:cNvSpPr txBox="1"/>
          <p:nvPr/>
        </p:nvSpPr>
        <p:spPr>
          <a:xfrm>
            <a:off x="3685032" y="2697480"/>
            <a:ext cx="2468880" cy="713232"/>
          </a:xfrm>
          <a:prstGeom prst="rect">
            <a:avLst/>
          </a:prstGeom>
          <a:noFill/>
          <a:ln/>
        </p:spPr>
        <p:txBody>
          <a:bodyPr wrap="square" lIns="0" tIns="0" rIns="0" bIns="0" rtlCol="0" anchor="ctr"/>
          <a:lstStyle/>
          <a:p>
            <a:pPr indent="0" marL="0">
              <a:buNone/>
            </a:pPr>
            <a:r>
              <a:rPr lang="en-US" sz="1500" b="1" dirty="0">
                <a:solidFill>
                  <a:srgbClr val="1A5FB4"/>
                </a:solidFill>
                <a:latin typeface="Arial" pitchFamily="34" charset="0"/>
                <a:ea typeface="Arial" pitchFamily="34" charset="-122"/>
                <a:cs typeface="Arial" pitchFamily="34" charset="-120"/>
              </a:rPr>
              <a:t>Consolider</a:t>
            </a:r>
            <a:endParaRPr lang="en-US" sz="1500" dirty="0"/>
          </a:p>
          <a:p>
            <a:pPr indent="0" marL="0">
              <a:buNone/>
            </a:pPr>
            <a:r>
              <a:rPr lang="en-US" sz="1150" dirty="0">
                <a:solidFill>
                  <a:srgbClr val="4A4A4F"/>
                </a:solidFill>
                <a:latin typeface="Arial" pitchFamily="34" charset="0"/>
                <a:ea typeface="Arial" pitchFamily="34" charset="-122"/>
                <a:cs typeface="Arial" pitchFamily="34" charset="-120"/>
              </a:rPr>
              <a:t>de 4 à 5 sur 8</a:t>
            </a:r>
            <a:endParaRPr lang="en-US" sz="1500" dirty="0"/>
          </a:p>
        </p:txBody>
      </p:sp>
      <p:sp>
        <p:nvSpPr>
          <p:cNvPr id="12" name="Shape 10"/>
          <p:cNvSpPr/>
          <p:nvPr/>
        </p:nvSpPr>
        <p:spPr>
          <a:xfrm>
            <a:off x="2697480" y="3054096"/>
            <a:ext cx="822960" cy="914"/>
          </a:xfrm>
          <a:prstGeom prst="line">
            <a:avLst/>
          </a:prstGeom>
          <a:noFill/>
          <a:ln w="15875">
            <a:solidFill>
              <a:srgbClr val="B8B8BE"/>
            </a:solidFill>
            <a:prstDash val="solid"/>
            <a:tailEnd type="triangle"/>
          </a:ln>
        </p:spPr>
      </p:sp>
      <p:sp>
        <p:nvSpPr>
          <p:cNvPr id="13" name="Shape 11"/>
          <p:cNvSpPr/>
          <p:nvPr/>
        </p:nvSpPr>
        <p:spPr>
          <a:xfrm flipV="1">
            <a:off x="6263640" y="3054096"/>
            <a:ext cx="822960" cy="914"/>
          </a:xfrm>
          <a:prstGeom prst="line">
            <a:avLst/>
          </a:prstGeom>
          <a:noFill/>
          <a:ln w="15875">
            <a:solidFill>
              <a:srgbClr val="B8B8BE"/>
            </a:solidFill>
            <a:prstDash val="solid"/>
            <a:tailEnd type="triangle"/>
          </a:ln>
        </p:spPr>
      </p:sp>
      <p:sp>
        <p:nvSpPr>
          <p:cNvPr id="14" name="Shape 12"/>
          <p:cNvSpPr/>
          <p:nvPr/>
        </p:nvSpPr>
        <p:spPr>
          <a:xfrm>
            <a:off x="3520440" y="3611880"/>
            <a:ext cx="2743200" cy="713232"/>
          </a:xfrm>
          <a:prstGeom prst="roundRect">
            <a:avLst>
              <a:gd name="adj" fmla="val 15385"/>
            </a:avLst>
          </a:prstGeom>
          <a:solidFill>
            <a:srgbClr val="EFE8F8"/>
          </a:solidFill>
          <a:ln w="15875">
            <a:solidFill>
              <a:srgbClr val="6A3FA3"/>
            </a:solidFill>
            <a:prstDash val="solid"/>
          </a:ln>
        </p:spPr>
      </p:sp>
      <p:sp>
        <p:nvSpPr>
          <p:cNvPr id="15" name="Text 13"/>
          <p:cNvSpPr txBox="1"/>
          <p:nvPr/>
        </p:nvSpPr>
        <p:spPr>
          <a:xfrm>
            <a:off x="3685032" y="3611880"/>
            <a:ext cx="2468880" cy="713232"/>
          </a:xfrm>
          <a:prstGeom prst="rect">
            <a:avLst/>
          </a:prstGeom>
          <a:noFill/>
          <a:ln/>
        </p:spPr>
        <p:txBody>
          <a:bodyPr wrap="square" lIns="0" tIns="0" rIns="0" bIns="0" rtlCol="0" anchor="ctr"/>
          <a:lstStyle/>
          <a:p>
            <a:pPr indent="0" marL="0">
              <a:buNone/>
            </a:pPr>
            <a:r>
              <a:rPr lang="en-US" sz="1500" b="1" dirty="0">
                <a:solidFill>
                  <a:srgbClr val="6A3FA3"/>
                </a:solidFill>
                <a:latin typeface="Arial" pitchFamily="34" charset="0"/>
                <a:ea typeface="Arial" pitchFamily="34" charset="-122"/>
                <a:cs typeface="Arial" pitchFamily="34" charset="-120"/>
              </a:rPr>
              <a:t>Approfondir</a:t>
            </a:r>
            <a:endParaRPr lang="en-US" sz="1500" dirty="0"/>
          </a:p>
          <a:p>
            <a:pPr indent="0" marL="0">
              <a:buNone/>
            </a:pPr>
            <a:r>
              <a:rPr lang="en-US" sz="1150" dirty="0">
                <a:solidFill>
                  <a:srgbClr val="4A4A4F"/>
                </a:solidFill>
                <a:latin typeface="Arial" pitchFamily="34" charset="0"/>
                <a:ea typeface="Arial" pitchFamily="34" charset="-122"/>
                <a:cs typeface="Arial" pitchFamily="34" charset="-120"/>
              </a:rPr>
              <a:t>de 6 à 8 sur 8</a:t>
            </a:r>
            <a:endParaRPr lang="en-US" sz="1500" dirty="0"/>
          </a:p>
        </p:txBody>
      </p:sp>
      <p:sp>
        <p:nvSpPr>
          <p:cNvPr id="16" name="Shape 14"/>
          <p:cNvSpPr/>
          <p:nvPr/>
        </p:nvSpPr>
        <p:spPr>
          <a:xfrm>
            <a:off x="2697480" y="3054096"/>
            <a:ext cx="822960" cy="914400"/>
          </a:xfrm>
          <a:prstGeom prst="line">
            <a:avLst/>
          </a:prstGeom>
          <a:noFill/>
          <a:ln w="15875">
            <a:solidFill>
              <a:srgbClr val="B8B8BE"/>
            </a:solidFill>
            <a:prstDash val="solid"/>
            <a:tailEnd type="triangle"/>
          </a:ln>
        </p:spPr>
      </p:sp>
      <p:sp>
        <p:nvSpPr>
          <p:cNvPr id="17" name="Shape 15"/>
          <p:cNvSpPr/>
          <p:nvPr/>
        </p:nvSpPr>
        <p:spPr>
          <a:xfrm flipV="1">
            <a:off x="6263640" y="3054096"/>
            <a:ext cx="822960" cy="914400"/>
          </a:xfrm>
          <a:prstGeom prst="line">
            <a:avLst/>
          </a:prstGeom>
          <a:noFill/>
          <a:ln w="15875">
            <a:solidFill>
              <a:srgbClr val="B8B8BE"/>
            </a:solidFill>
            <a:prstDash val="solid"/>
            <a:tailEnd type="triangle"/>
          </a:ln>
        </p:spPr>
      </p:sp>
      <p:sp>
        <p:nvSpPr>
          <p:cNvPr id="18" name="Shape 16"/>
          <p:cNvSpPr/>
          <p:nvPr/>
        </p:nvSpPr>
        <p:spPr>
          <a:xfrm>
            <a:off x="7086600" y="2505456"/>
            <a:ext cx="2148840" cy="1097280"/>
          </a:xfrm>
          <a:prstGeom prst="roundRect">
            <a:avLst>
              <a:gd name="adj" fmla="val 10000"/>
            </a:avLst>
          </a:prstGeom>
          <a:solidFill>
            <a:srgbClr val="FFFFFF"/>
          </a:solidFill>
          <a:ln w="15875">
            <a:solidFill>
              <a:srgbClr val="E5E5EA"/>
            </a:solidFill>
            <a:prstDash val="solid"/>
          </a:ln>
        </p:spPr>
      </p:sp>
      <p:sp>
        <p:nvSpPr>
          <p:cNvPr id="19" name="Text 17"/>
          <p:cNvSpPr txBox="1"/>
          <p:nvPr/>
        </p:nvSpPr>
        <p:spPr>
          <a:xfrm>
            <a:off x="7251192" y="2505456"/>
            <a:ext cx="1874520" cy="1097280"/>
          </a:xfrm>
          <a:prstGeom prst="rect">
            <a:avLst/>
          </a:prstGeom>
          <a:noFill/>
          <a:ln/>
        </p:spPr>
        <p:txBody>
          <a:bodyPr wrap="square" lIns="0" tIns="0" rIns="0" bIns="0" rtlCol="0" anchor="ctr"/>
          <a:lstStyle/>
          <a:p>
            <a:pPr indent="0" marL="0">
              <a:buNone/>
            </a:pPr>
            <a:r>
              <a:rPr lang="en-US" sz="1500" b="1" dirty="0">
                <a:solidFill>
                  <a:srgbClr val="1D1D1F"/>
                </a:solidFill>
                <a:latin typeface="Arial" pitchFamily="34" charset="0"/>
                <a:ea typeface="Arial" pitchFamily="34" charset="-122"/>
                <a:cs typeface="Arial" pitchFamily="34" charset="-120"/>
              </a:rPr>
              <a:t>Étape commune</a:t>
            </a:r>
            <a:endParaRPr lang="en-US" sz="1500" dirty="0"/>
          </a:p>
          <a:p>
            <a:pPr indent="0" marL="0">
              <a:buNone/>
            </a:pPr>
            <a:r>
              <a:rPr lang="en-US" sz="1150" dirty="0">
                <a:solidFill>
                  <a:srgbClr val="4A4A4F"/>
                </a:solidFill>
                <a:latin typeface="Arial" pitchFamily="34" charset="0"/>
                <a:ea typeface="Arial" pitchFamily="34" charset="-122"/>
                <a:cs typeface="Arial" pitchFamily="34" charset="-120"/>
              </a:rPr>
              <a:t>tous se retrouvent</a:t>
            </a:r>
            <a:endParaRPr lang="en-US" sz="1500" dirty="0"/>
          </a:p>
        </p:txBody>
      </p:sp>
      <p:sp>
        <p:nvSpPr>
          <p:cNvPr id="20" name="Shape 18"/>
          <p:cNvSpPr/>
          <p:nvPr/>
        </p:nvSpPr>
        <p:spPr>
          <a:xfrm>
            <a:off x="9235440" y="3054096"/>
            <a:ext cx="411480" cy="914"/>
          </a:xfrm>
          <a:prstGeom prst="line">
            <a:avLst/>
          </a:prstGeom>
          <a:noFill/>
          <a:ln w="15875">
            <a:solidFill>
              <a:srgbClr val="B8B8BE"/>
            </a:solidFill>
            <a:prstDash val="solid"/>
            <a:tailEnd type="triangle"/>
          </a:ln>
        </p:spPr>
      </p:sp>
      <p:sp>
        <p:nvSpPr>
          <p:cNvPr id="21" name="Shape 19"/>
          <p:cNvSpPr/>
          <p:nvPr/>
        </p:nvSpPr>
        <p:spPr>
          <a:xfrm>
            <a:off x="9646920" y="2505456"/>
            <a:ext cx="1996135" cy="1097280"/>
          </a:xfrm>
          <a:prstGeom prst="roundRect">
            <a:avLst>
              <a:gd name="adj" fmla="val 10000"/>
            </a:avLst>
          </a:prstGeom>
          <a:solidFill>
            <a:srgbClr val="E8F5EC"/>
          </a:solidFill>
          <a:ln w="15875">
            <a:solidFill>
              <a:srgbClr val="B9DDC4"/>
            </a:solidFill>
            <a:prstDash val="solid"/>
          </a:ln>
        </p:spPr>
      </p:sp>
      <p:sp>
        <p:nvSpPr>
          <p:cNvPr id="22" name="Text 20"/>
          <p:cNvSpPr txBox="1"/>
          <p:nvPr/>
        </p:nvSpPr>
        <p:spPr>
          <a:xfrm>
            <a:off x="9811512" y="2505456"/>
            <a:ext cx="1721815" cy="1097280"/>
          </a:xfrm>
          <a:prstGeom prst="rect">
            <a:avLst/>
          </a:prstGeom>
          <a:noFill/>
          <a:ln/>
        </p:spPr>
        <p:txBody>
          <a:bodyPr wrap="square" lIns="0" tIns="0" rIns="0" bIns="0" rtlCol="0" anchor="ctr"/>
          <a:lstStyle/>
          <a:p>
            <a:pPr indent="0" marL="0">
              <a:buNone/>
            </a:pPr>
            <a:r>
              <a:rPr lang="en-US" sz="1500" b="1" dirty="0">
                <a:solidFill>
                  <a:srgbClr val="1F7A3F"/>
                </a:solidFill>
                <a:latin typeface="Arial" pitchFamily="34" charset="0"/>
                <a:ea typeface="Arial" pitchFamily="34" charset="-122"/>
                <a:cs typeface="Arial" pitchFamily="34" charset="-120"/>
              </a:rPr>
              <a:t>Fin du parcours</a:t>
            </a:r>
            <a:endParaRPr lang="en-US" sz="1500" dirty="0"/>
          </a:p>
          <a:p>
            <a:pPr indent="0" marL="0">
              <a:buNone/>
            </a:pPr>
            <a:r>
              <a:rPr lang="en-US" sz="1150" dirty="0">
                <a:solidFill>
                  <a:srgbClr val="4A4A4F"/>
                </a:solidFill>
                <a:latin typeface="Arial" pitchFamily="34" charset="0"/>
                <a:ea typeface="Arial" pitchFamily="34" charset="-122"/>
                <a:cs typeface="Arial" pitchFamily="34" charset="-120"/>
              </a:rPr>
              <a:t>et page de bilan</a:t>
            </a:r>
            <a:endParaRPr lang="en-US" sz="1500" dirty="0"/>
          </a:p>
        </p:txBody>
      </p:sp>
      <p:sp>
        <p:nvSpPr>
          <p:cNvPr id="23" name="Text 21"/>
          <p:cNvSpPr txBox="1"/>
          <p:nvPr/>
        </p:nvSpPr>
        <p:spPr>
          <a:xfrm>
            <a:off x="548640" y="4572000"/>
            <a:ext cx="11094415" cy="1188720"/>
          </a:xfrm>
          <a:prstGeom prst="rect">
            <a:avLst/>
          </a:prstGeom>
          <a:noFill/>
          <a:ln/>
        </p:spPr>
        <p:txBody>
          <a:bodyPr wrap="square" lIns="0" tIns="0" rIns="0" bIns="0" rtlCol="0" anchor="t"/>
          <a:lstStyle/>
          <a:p>
            <a:pPr marL="193358" indent="-193358">
              <a:lnSpc>
                <a:spcPct val="105000"/>
              </a:lnSpc>
              <a:spcAft>
                <a:spcPts val="800"/>
              </a:spcAft>
              <a:buSzPct val="100000"/>
              <a:buChar char="•"/>
            </a:pPr>
            <a:r>
              <a:rPr lang="en-US" sz="1450" dirty="0">
                <a:solidFill>
                  <a:srgbClr val="4A4A4F"/>
                </a:solidFill>
                <a:latin typeface="Arial" pitchFamily="34" charset="0"/>
                <a:ea typeface="Arial" pitchFamily="34" charset="-122"/>
                <a:cs typeface="Arial" pitchFamily="34" charset="-120"/>
              </a:rPr>
              <a:t>Au cadrage : </a:t>
            </a:r>
            <a:pPr indent="0" marL="0">
              <a:lnSpc>
                <a:spcPct val="105000"/>
              </a:lnSpc>
              <a:spcAft>
                <a:spcPts val="800"/>
              </a:spcAft>
              <a:buNone/>
            </a:pPr>
            <a:r>
              <a:rPr lang="en-US" sz="1450" b="1" dirty="0">
                <a:solidFill>
                  <a:srgbClr val="1D1D1F"/>
                </a:solidFill>
                <a:latin typeface="Arial" pitchFamily="34" charset="0"/>
                <a:ea typeface="Arial" pitchFamily="34" charset="-122"/>
                <a:cs typeface="Arial" pitchFamily="34" charset="-120"/>
              </a:rPr>
              <a:t>« Des chemins selon les résultats »</a:t>
            </a:r>
            <a:pPr indent="0" marL="0">
              <a:lnSpc>
                <a:spcPct val="105000"/>
              </a:lnSpc>
              <a:spcAft>
                <a:spcPts val="800"/>
              </a:spcAft>
              <a:buNone/>
            </a:pPr>
            <a:r>
              <a:rPr lang="en-US" sz="1450" dirty="0">
                <a:solidFill>
                  <a:srgbClr val="4A4A4F"/>
                </a:solidFill>
                <a:latin typeface="Arial" pitchFamily="34" charset="0"/>
                <a:ea typeface="Arial" pitchFamily="34" charset="-122"/>
                <a:cs typeface="Arial" pitchFamily="34" charset="-120"/>
              </a:rPr>
              <a:t>, puis </a:t>
            </a:r>
            <a:pPr indent="0" marL="0">
              <a:lnSpc>
                <a:spcPct val="105000"/>
              </a:lnSpc>
              <a:spcAft>
                <a:spcPts val="800"/>
              </a:spcAft>
              <a:buNone/>
            </a:pPr>
            <a:r>
              <a:rPr lang="en-US" sz="1450" b="1" dirty="0">
                <a:solidFill>
                  <a:srgbClr val="1D1D1F"/>
                </a:solidFill>
                <a:latin typeface="Arial" pitchFamily="34" charset="0"/>
                <a:ea typeface="Arial" pitchFamily="34" charset="-122"/>
                <a:cs typeface="Arial" pitchFamily="34" charset="-120"/>
              </a:rPr>
              <a:t>« Combien de chemins ? »</a:t>
            </a:r>
            <a:pPr indent="0" marL="0">
              <a:lnSpc>
                <a:spcPct val="105000"/>
              </a:lnSpc>
              <a:spcAft>
                <a:spcPts val="800"/>
              </a:spcAft>
              <a:buNone/>
            </a:pPr>
            <a:r>
              <a:rPr lang="en-US" sz="1450" dirty="0">
                <a:solidFill>
                  <a:srgbClr val="4A4A4F"/>
                </a:solidFill>
                <a:latin typeface="Arial" pitchFamily="34" charset="0"/>
                <a:ea typeface="Arial" pitchFamily="34" charset="-122"/>
                <a:cs typeface="Arial" pitchFamily="34" charset="-120"/>
              </a:rPr>
              <a:t> (2, 3 ou 4).</a:t>
            </a:r>
            <a:endParaRPr lang="en-US" sz="1450" dirty="0"/>
          </a:p>
          <a:p>
            <a:pPr marL="193358" indent="-193358">
              <a:lnSpc>
                <a:spcPct val="105000"/>
              </a:lnSpc>
              <a:spcAft>
                <a:spcPts val="800"/>
              </a:spcAft>
              <a:buSzPct val="100000"/>
              <a:buChar char="•"/>
            </a:pPr>
            <a:r>
              <a:rPr lang="en-US" sz="1450" b="1" dirty="0">
                <a:solidFill>
                  <a:srgbClr val="1D1D1F"/>
                </a:solidFill>
                <a:latin typeface="Arial" pitchFamily="34" charset="0"/>
                <a:ea typeface="Arial" pitchFamily="34" charset="-122"/>
                <a:cs typeface="Arial" pitchFamily="34" charset="-120"/>
              </a:rPr>
              <a:t>Chaque élève ne voit que son chemin</a:t>
            </a:r>
            <a:pPr indent="0" marL="0">
              <a:lnSpc>
                <a:spcPct val="105000"/>
              </a:lnSpc>
              <a:spcAft>
                <a:spcPts val="800"/>
              </a:spcAft>
              <a:buNone/>
            </a:pPr>
            <a:r>
              <a:rPr lang="en-US" sz="1450" dirty="0">
                <a:solidFill>
                  <a:srgbClr val="4A4A4F"/>
                </a:solidFill>
                <a:latin typeface="Arial" pitchFamily="34" charset="0"/>
                <a:ea typeface="Arial" pitchFamily="34" charset="-122"/>
                <a:cs typeface="Arial" pitchFamily="34" charset="-120"/>
              </a:rPr>
              <a:t>, puis tous se retrouvent pour une étape commune.</a:t>
            </a:r>
            <a:endParaRPr lang="en-US" sz="1450" dirty="0"/>
          </a:p>
          <a:p>
            <a:pPr marL="193358" indent="-193358">
              <a:lnSpc>
                <a:spcPct val="105000"/>
              </a:lnSpc>
              <a:spcAft>
                <a:spcPts val="800"/>
              </a:spcAft>
              <a:buSzPct val="100000"/>
              <a:buChar char="•"/>
            </a:pPr>
            <a:r>
              <a:rPr lang="en-US" sz="1450" b="1" dirty="0">
                <a:solidFill>
                  <a:srgbClr val="1D1D1F"/>
                </a:solidFill>
                <a:latin typeface="Arial" pitchFamily="34" charset="0"/>
                <a:ea typeface="Arial" pitchFamily="34" charset="-122"/>
                <a:cs typeface="Arial" pitchFamily="34" charset="-120"/>
              </a:rPr>
              <a:t>Le fichier pose lui-même les restrictions d’accès</a:t>
            </a:r>
            <a:pPr indent="0" marL="0">
              <a:lnSpc>
                <a:spcPct val="105000"/>
              </a:lnSpc>
              <a:spcAft>
                <a:spcPts val="800"/>
              </a:spcAft>
              <a:buNone/>
            </a:pPr>
            <a:r>
              <a:rPr lang="en-US" sz="1450" dirty="0">
                <a:solidFill>
                  <a:srgbClr val="4A4A4F"/>
                </a:solidFill>
                <a:latin typeface="Arial" pitchFamily="34" charset="0"/>
                <a:ea typeface="Arial" pitchFamily="34" charset="-122"/>
                <a:cs typeface="Arial" pitchFamily="34" charset="-120"/>
              </a:rPr>
              <a:t> : rien à régler à la main dans la plateforme.</a:t>
            </a:r>
            <a:endParaRPr lang="en-US" sz="1450" dirty="0"/>
          </a:p>
        </p:txBody>
      </p:sp>
      <p:sp>
        <p:nvSpPr>
          <p:cNvPr id="24" name="Text 22"/>
          <p:cNvSpPr txBox="1"/>
          <p:nvPr/>
        </p:nvSpPr>
        <p:spPr>
          <a:xfrm>
            <a:off x="548640" y="5742432"/>
            <a:ext cx="11094415" cy="603504"/>
          </a:xfrm>
          <a:prstGeom prst="rect">
            <a:avLst/>
          </a:prstGeom>
          <a:noFill/>
          <a:ln/>
        </p:spPr>
        <p:txBody>
          <a:bodyPr wrap="square" lIns="0" tIns="0" rIns="0" bIns="0" rtlCol="0" anchor="b"/>
          <a:lstStyle/>
          <a:p>
            <a:pPr indent="0" marL="0">
              <a:lnSpc>
                <a:spcPct val="105000"/>
              </a:lnSpc>
              <a:buNone/>
            </a:pPr>
            <a:r>
              <a:rPr lang="en-US" sz="950" dirty="0">
                <a:solidFill>
                  <a:srgbClr val="6E6E73"/>
                </a:solidFill>
                <a:latin typeface="Arial" pitchFamily="34" charset="0"/>
                <a:ea typeface="Arial" pitchFamily="34" charset="-122"/>
                <a:cs typeface="Arial" pitchFamily="34" charset="-120"/>
              </a:rPr>
              <a:t>Quatre chemins possibles : reprendre les bases, renforcer, consolider, approfondir. Exemple ci-dessus : un test sur 8, trois chemins.</a:t>
            </a:r>
            <a:endParaRPr lang="en-US" sz="950" dirty="0"/>
          </a:p>
        </p:txBody>
      </p:sp>
      <p:sp>
        <p:nvSpPr>
          <p:cNvPr id="25" name="Text 23"/>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26" name="Text 24"/>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21 / 27</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L’aiguillage : une couleur par chemin</a:t>
            </a:r>
            <a:endParaRPr lang="en-US" sz="3000" dirty="0"/>
          </a:p>
        </p:txBody>
      </p:sp>
      <p:sp>
        <p:nvSpPr>
          <p:cNvPr id="4" name="Shape 2"/>
          <p:cNvSpPr/>
          <p:nvPr/>
        </p:nvSpPr>
        <p:spPr>
          <a:xfrm>
            <a:off x="548640" y="1481328"/>
            <a:ext cx="7095744" cy="3200583"/>
          </a:xfrm>
          <a:prstGeom prst="roundRect">
            <a:avLst>
              <a:gd name="adj" fmla="val 342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chemins.jpg">    </p:cNvPr>
          <p:cNvPicPr>
            <a:picLocks noChangeAspect="1"/>
          </p:cNvPicPr>
          <p:nvPr/>
        </p:nvPicPr>
        <p:blipFill>
          <a:blip r:embed="rId1"/>
          <a:stretch>
            <a:fillRect/>
          </a:stretch>
        </p:blipFill>
        <p:spPr>
          <a:xfrm>
            <a:off x="621792" y="1554480"/>
            <a:ext cx="6949440" cy="3054279"/>
          </a:xfrm>
          <a:prstGeom prst="rect">
            <a:avLst/>
          </a:prstGeom>
        </p:spPr>
      </p:pic>
      <p:sp>
        <p:nvSpPr>
          <p:cNvPr id="6" name="Text 3"/>
          <p:cNvSpPr txBox="1"/>
          <p:nvPr/>
        </p:nvSpPr>
        <p:spPr>
          <a:xfrm>
            <a:off x="8074152" y="1600200"/>
            <a:ext cx="3568903" cy="2011680"/>
          </a:xfrm>
          <a:prstGeom prst="rect">
            <a:avLst/>
          </a:prstGeom>
          <a:noFill/>
          <a:ln/>
        </p:spPr>
        <p:txBody>
          <a:bodyPr wrap="square" lIns="0" tIns="0" rIns="0" bIns="0" rtlCol="0" anchor="t"/>
          <a:lstStyle/>
          <a:p>
            <a:pPr marL="180023" indent="-180023">
              <a:lnSpc>
                <a:spcPct val="105000"/>
              </a:lnSpc>
              <a:spcAft>
                <a:spcPts val="900"/>
              </a:spcAft>
              <a:buSzPct val="100000"/>
              <a:buChar char="•"/>
            </a:pPr>
            <a:r>
              <a:rPr lang="en-US" sz="1350" b="1" dirty="0">
                <a:solidFill>
                  <a:srgbClr val="1D1D1F"/>
                </a:solidFill>
                <a:latin typeface="Arial" pitchFamily="34" charset="0"/>
                <a:ea typeface="Arial" pitchFamily="34" charset="-122"/>
                <a:cs typeface="Arial" pitchFamily="34" charset="-120"/>
              </a:rPr>
              <a:t>La barre</a:t>
            </a:r>
            <a:pPr indent="0" marL="0">
              <a:lnSpc>
                <a:spcPct val="105000"/>
              </a:lnSpc>
              <a:spcAft>
                <a:spcPts val="900"/>
              </a:spcAft>
              <a:buNone/>
            </a:pPr>
            <a:r>
              <a:rPr lang="en-US" sz="1350" dirty="0">
                <a:solidFill>
                  <a:srgbClr val="4A4A4F"/>
                </a:solidFill>
                <a:latin typeface="Arial" pitchFamily="34" charset="0"/>
                <a:ea typeface="Arial" pitchFamily="34" charset="-122"/>
                <a:cs typeface="Arial" pitchFamily="34" charset="-120"/>
              </a:rPr>
              <a:t> : de 0 bonne réponse au maximum du test ; chaque case a la couleur de son chemin.</a:t>
            </a:r>
            <a:endParaRPr lang="en-US" sz="1350" dirty="0"/>
          </a:p>
          <a:p>
            <a:pPr marL="180023" indent="-180023">
              <a:lnSpc>
                <a:spcPct val="105000"/>
              </a:lnSpc>
              <a:spcAft>
                <a:spcPts val="900"/>
              </a:spcAft>
              <a:buSzPct val="100000"/>
              <a:buChar char="•"/>
            </a:pPr>
            <a:r>
              <a:rPr lang="en-US" sz="1350" b="1" dirty="0">
                <a:solidFill>
                  <a:srgbClr val="1D1D1F"/>
                </a:solidFill>
                <a:latin typeface="Arial" pitchFamily="34" charset="0"/>
                <a:ea typeface="Arial" pitchFamily="34" charset="-122"/>
                <a:cs typeface="Arial" pitchFamily="34" charset="-120"/>
              </a:rPr>
              <a:t>Les boutons moins et plus</a:t>
            </a:r>
            <a:pPr indent="0" marL="0">
              <a:lnSpc>
                <a:spcPct val="105000"/>
              </a:lnSpc>
              <a:spcAft>
                <a:spcPts val="900"/>
              </a:spcAft>
              <a:buNone/>
            </a:pPr>
            <a:r>
              <a:rPr lang="en-US" sz="1350" dirty="0">
                <a:solidFill>
                  <a:srgbClr val="4A4A4F"/>
                </a:solidFill>
                <a:latin typeface="Arial" pitchFamily="34" charset="0"/>
                <a:ea typeface="Arial" pitchFamily="34" charset="-122"/>
                <a:cs typeface="Arial" pitchFamily="34" charset="-120"/>
              </a:rPr>
              <a:t> déplacent les seuils, une bonne réponse à la fois.</a:t>
            </a:r>
            <a:endParaRPr lang="en-US" sz="1350" dirty="0"/>
          </a:p>
          <a:p>
            <a:pPr marL="180023" indent="-180023">
              <a:lnSpc>
                <a:spcPct val="105000"/>
              </a:lnSpc>
              <a:spcAft>
                <a:spcPts val="900"/>
              </a:spcAft>
              <a:buSzPct val="100000"/>
              <a:buChar char="•"/>
            </a:pPr>
            <a:r>
              <a:rPr lang="en-US" sz="1350" b="1" dirty="0">
                <a:solidFill>
                  <a:srgbClr val="1D1D1F"/>
                </a:solidFill>
                <a:latin typeface="Arial" pitchFamily="34" charset="0"/>
                <a:ea typeface="Arial" pitchFamily="34" charset="-122"/>
                <a:cs typeface="Arial" pitchFamily="34" charset="-120"/>
              </a:rPr>
              <a:t>« Ajouter un chemin »</a:t>
            </a:r>
            <a:pPr indent="0" marL="0">
              <a:lnSpc>
                <a:spcPct val="105000"/>
              </a:lnSpc>
              <a:spcAft>
                <a:spcPts val="900"/>
              </a:spcAft>
              <a:buNone/>
            </a:pPr>
            <a:r>
              <a:rPr lang="en-US" sz="1350" dirty="0">
                <a:solidFill>
                  <a:srgbClr val="4A4A4F"/>
                </a:solidFill>
                <a:latin typeface="Arial" pitchFamily="34" charset="0"/>
                <a:ea typeface="Arial" pitchFamily="34" charset="-122"/>
                <a:cs typeface="Arial" pitchFamily="34" charset="-120"/>
              </a:rPr>
              <a:t>, </a:t>
            </a:r>
            <a:pPr indent="0" marL="0">
              <a:lnSpc>
                <a:spcPct val="105000"/>
              </a:lnSpc>
              <a:spcAft>
                <a:spcPts val="900"/>
              </a:spcAft>
              <a:buNone/>
            </a:pPr>
            <a:r>
              <a:rPr lang="en-US" sz="1350" b="1" dirty="0">
                <a:solidFill>
                  <a:srgbClr val="1D1D1F"/>
                </a:solidFill>
                <a:latin typeface="Arial" pitchFamily="34" charset="0"/>
                <a:ea typeface="Arial" pitchFamily="34" charset="-122"/>
                <a:cs typeface="Arial" pitchFamily="34" charset="-120"/>
              </a:rPr>
              <a:t>« Retirer un chemin »</a:t>
            </a:r>
            <a:pPr indent="0" marL="0">
              <a:lnSpc>
                <a:spcPct val="105000"/>
              </a:lnSpc>
              <a:spcAft>
                <a:spcPts val="900"/>
              </a:spcAft>
              <a:buNone/>
            </a:pPr>
            <a:r>
              <a:rPr lang="en-US" sz="1350" dirty="0">
                <a:solidFill>
                  <a:srgbClr val="4A4A4F"/>
                </a:solidFill>
                <a:latin typeface="Arial" pitchFamily="34" charset="0"/>
                <a:ea typeface="Arial" pitchFamily="34" charset="-122"/>
                <a:cs typeface="Arial" pitchFamily="34" charset="-120"/>
              </a:rPr>
              <a:t>, </a:t>
            </a:r>
            <a:pPr indent="0" marL="0">
              <a:lnSpc>
                <a:spcPct val="105000"/>
              </a:lnSpc>
              <a:spcAft>
                <a:spcPts val="900"/>
              </a:spcAft>
              <a:buNone/>
            </a:pPr>
            <a:r>
              <a:rPr lang="en-US" sz="1350" b="1" dirty="0">
                <a:solidFill>
                  <a:srgbClr val="1D1D1F"/>
                </a:solidFill>
                <a:latin typeface="Arial" pitchFamily="34" charset="0"/>
                <a:ea typeface="Arial" pitchFamily="34" charset="-122"/>
                <a:cs typeface="Arial" pitchFamily="34" charset="-120"/>
              </a:rPr>
              <a:t>« Un seul chemin pour tous »</a:t>
            </a:r>
            <a:pPr indent="0" marL="0">
              <a:lnSpc>
                <a:spcPct val="105000"/>
              </a:lnSpc>
              <a:spcAft>
                <a:spcPts val="900"/>
              </a:spcAft>
              <a:buNone/>
            </a:pPr>
            <a:r>
              <a:rPr lang="en-US" sz="1350" dirty="0">
                <a:solidFill>
                  <a:srgbClr val="4A4A4F"/>
                </a:solidFill>
                <a:latin typeface="Arial" pitchFamily="34" charset="0"/>
                <a:ea typeface="Arial" pitchFamily="34" charset="-122"/>
                <a:cs typeface="Arial" pitchFamily="34" charset="-120"/>
              </a:rPr>
              <a:t>.</a:t>
            </a:r>
            <a:endParaRPr lang="en-US" sz="1350" dirty="0"/>
          </a:p>
        </p:txBody>
      </p:sp>
      <p:sp>
        <p:nvSpPr>
          <p:cNvPr id="7" name="Text 4"/>
          <p:cNvSpPr txBox="1"/>
          <p:nvPr/>
        </p:nvSpPr>
        <p:spPr>
          <a:xfrm>
            <a:off x="8074152" y="3611880"/>
            <a:ext cx="3568903" cy="274320"/>
          </a:xfrm>
          <a:prstGeom prst="rect">
            <a:avLst/>
          </a:prstGeom>
          <a:noFill/>
          <a:ln/>
        </p:spPr>
        <p:txBody>
          <a:bodyPr wrap="square" lIns="0" tIns="0" rIns="0" bIns="0" rtlCol="0" anchor="t"/>
          <a:lstStyle/>
          <a:p>
            <a:pPr indent="0" marL="0">
              <a:buNone/>
            </a:pPr>
            <a:r>
              <a:rPr lang="en-US" sz="1250" b="1" dirty="0">
                <a:solidFill>
                  <a:srgbClr val="6E6E73"/>
                </a:solidFill>
                <a:latin typeface="Arial" pitchFamily="34" charset="0"/>
                <a:ea typeface="Arial" pitchFamily="34" charset="-122"/>
                <a:cs typeface="Arial" pitchFamily="34" charset="-120"/>
              </a:rPr>
              <a:t>Les quatre chemins possibles</a:t>
            </a:r>
            <a:endParaRPr lang="en-US" sz="1250" dirty="0"/>
          </a:p>
        </p:txBody>
      </p:sp>
      <p:sp>
        <p:nvSpPr>
          <p:cNvPr id="8" name="Shape 5"/>
          <p:cNvSpPr/>
          <p:nvPr/>
        </p:nvSpPr>
        <p:spPr>
          <a:xfrm>
            <a:off x="8074152" y="3977640"/>
            <a:ext cx="1715872" cy="365760"/>
          </a:xfrm>
          <a:prstGeom prst="roundRect">
            <a:avLst>
              <a:gd name="adj" fmla="val 50000"/>
            </a:avLst>
          </a:prstGeom>
          <a:solidFill>
            <a:srgbClr val="FBF1E0"/>
          </a:solidFill>
          <a:ln w="12700">
            <a:solidFill>
              <a:srgbClr val="8F5A00"/>
            </a:solidFill>
            <a:prstDash val="solid"/>
          </a:ln>
        </p:spPr>
      </p:sp>
      <p:sp>
        <p:nvSpPr>
          <p:cNvPr id="9" name="Text 6"/>
          <p:cNvSpPr txBox="1"/>
          <p:nvPr/>
        </p:nvSpPr>
        <p:spPr>
          <a:xfrm>
            <a:off x="8074152" y="3977640"/>
            <a:ext cx="1715872" cy="365760"/>
          </a:xfrm>
          <a:prstGeom prst="rect">
            <a:avLst/>
          </a:prstGeom>
          <a:noFill/>
          <a:ln/>
        </p:spPr>
        <p:txBody>
          <a:bodyPr wrap="square" lIns="0" tIns="0" rIns="0" bIns="0" rtlCol="0" anchor="ctr"/>
          <a:lstStyle/>
          <a:p>
            <a:pPr algn="ctr" indent="0" marL="0">
              <a:buNone/>
            </a:pPr>
            <a:r>
              <a:rPr lang="en-US" sz="1200" b="1" dirty="0">
                <a:solidFill>
                  <a:srgbClr val="8F5A00"/>
                </a:solidFill>
                <a:latin typeface="Arial" pitchFamily="34" charset="0"/>
                <a:ea typeface="Arial" pitchFamily="34" charset="-122"/>
                <a:cs typeface="Arial" pitchFamily="34" charset="-120"/>
              </a:rPr>
              <a:t>Reprendre les bases</a:t>
            </a:r>
            <a:endParaRPr lang="en-US" sz="1200" dirty="0"/>
          </a:p>
        </p:txBody>
      </p:sp>
      <p:sp>
        <p:nvSpPr>
          <p:cNvPr id="10" name="Shape 7"/>
          <p:cNvSpPr/>
          <p:nvPr/>
        </p:nvSpPr>
        <p:spPr>
          <a:xfrm>
            <a:off x="9927184" y="3977640"/>
            <a:ext cx="1715872" cy="365760"/>
          </a:xfrm>
          <a:prstGeom prst="roundRect">
            <a:avLst>
              <a:gd name="adj" fmla="val 50000"/>
            </a:avLst>
          </a:prstGeom>
          <a:solidFill>
            <a:srgbClr val="E3F4F1"/>
          </a:solidFill>
          <a:ln w="12700">
            <a:solidFill>
              <a:srgbClr val="0E7468"/>
            </a:solidFill>
            <a:prstDash val="solid"/>
          </a:ln>
        </p:spPr>
      </p:sp>
      <p:sp>
        <p:nvSpPr>
          <p:cNvPr id="11" name="Text 8"/>
          <p:cNvSpPr txBox="1"/>
          <p:nvPr/>
        </p:nvSpPr>
        <p:spPr>
          <a:xfrm>
            <a:off x="9927184" y="3977640"/>
            <a:ext cx="1715872" cy="365760"/>
          </a:xfrm>
          <a:prstGeom prst="rect">
            <a:avLst/>
          </a:prstGeom>
          <a:noFill/>
          <a:ln/>
        </p:spPr>
        <p:txBody>
          <a:bodyPr wrap="square" lIns="0" tIns="0" rIns="0" bIns="0" rtlCol="0" anchor="ctr"/>
          <a:lstStyle/>
          <a:p>
            <a:pPr algn="ctr" indent="0" marL="0">
              <a:buNone/>
            </a:pPr>
            <a:r>
              <a:rPr lang="en-US" sz="1200" b="1" dirty="0">
                <a:solidFill>
                  <a:srgbClr val="0E7468"/>
                </a:solidFill>
                <a:latin typeface="Arial" pitchFamily="34" charset="0"/>
                <a:ea typeface="Arial" pitchFamily="34" charset="-122"/>
                <a:cs typeface="Arial" pitchFamily="34" charset="-120"/>
              </a:rPr>
              <a:t>Renforcer</a:t>
            </a:r>
            <a:endParaRPr lang="en-US" sz="1200" dirty="0"/>
          </a:p>
        </p:txBody>
      </p:sp>
      <p:sp>
        <p:nvSpPr>
          <p:cNvPr id="12" name="Shape 9"/>
          <p:cNvSpPr/>
          <p:nvPr/>
        </p:nvSpPr>
        <p:spPr>
          <a:xfrm>
            <a:off x="8074152" y="4453128"/>
            <a:ext cx="1715872" cy="365760"/>
          </a:xfrm>
          <a:prstGeom prst="roundRect">
            <a:avLst>
              <a:gd name="adj" fmla="val 50000"/>
            </a:avLst>
          </a:prstGeom>
          <a:solidFill>
            <a:srgbClr val="E6EFFA"/>
          </a:solidFill>
          <a:ln w="12700">
            <a:solidFill>
              <a:srgbClr val="1A5FB4"/>
            </a:solidFill>
            <a:prstDash val="solid"/>
          </a:ln>
        </p:spPr>
      </p:sp>
      <p:sp>
        <p:nvSpPr>
          <p:cNvPr id="13" name="Text 10"/>
          <p:cNvSpPr txBox="1"/>
          <p:nvPr/>
        </p:nvSpPr>
        <p:spPr>
          <a:xfrm>
            <a:off x="8074152" y="4453128"/>
            <a:ext cx="1715872" cy="365760"/>
          </a:xfrm>
          <a:prstGeom prst="rect">
            <a:avLst/>
          </a:prstGeom>
          <a:noFill/>
          <a:ln/>
        </p:spPr>
        <p:txBody>
          <a:bodyPr wrap="square" lIns="0" tIns="0" rIns="0" bIns="0" rtlCol="0" anchor="ctr"/>
          <a:lstStyle/>
          <a:p>
            <a:pPr algn="ctr" indent="0" marL="0">
              <a:buNone/>
            </a:pPr>
            <a:r>
              <a:rPr lang="en-US" sz="1200" b="1" dirty="0">
                <a:solidFill>
                  <a:srgbClr val="1A5FB4"/>
                </a:solidFill>
                <a:latin typeface="Arial" pitchFamily="34" charset="0"/>
                <a:ea typeface="Arial" pitchFamily="34" charset="-122"/>
                <a:cs typeface="Arial" pitchFamily="34" charset="-120"/>
              </a:rPr>
              <a:t>Consolider</a:t>
            </a:r>
            <a:endParaRPr lang="en-US" sz="1200" dirty="0"/>
          </a:p>
        </p:txBody>
      </p:sp>
      <p:sp>
        <p:nvSpPr>
          <p:cNvPr id="14" name="Shape 11"/>
          <p:cNvSpPr/>
          <p:nvPr/>
        </p:nvSpPr>
        <p:spPr>
          <a:xfrm>
            <a:off x="9927184" y="4453128"/>
            <a:ext cx="1715872" cy="365760"/>
          </a:xfrm>
          <a:prstGeom prst="roundRect">
            <a:avLst>
              <a:gd name="adj" fmla="val 50000"/>
            </a:avLst>
          </a:prstGeom>
          <a:solidFill>
            <a:srgbClr val="EFE8F8"/>
          </a:solidFill>
          <a:ln w="12700">
            <a:solidFill>
              <a:srgbClr val="6A3FA3"/>
            </a:solidFill>
            <a:prstDash val="solid"/>
          </a:ln>
        </p:spPr>
      </p:sp>
      <p:sp>
        <p:nvSpPr>
          <p:cNvPr id="15" name="Text 12"/>
          <p:cNvSpPr txBox="1"/>
          <p:nvPr/>
        </p:nvSpPr>
        <p:spPr>
          <a:xfrm>
            <a:off x="9927184" y="4453128"/>
            <a:ext cx="1715872" cy="365760"/>
          </a:xfrm>
          <a:prstGeom prst="rect">
            <a:avLst/>
          </a:prstGeom>
          <a:noFill/>
          <a:ln/>
        </p:spPr>
        <p:txBody>
          <a:bodyPr wrap="square" lIns="0" tIns="0" rIns="0" bIns="0" rtlCol="0" anchor="ctr"/>
          <a:lstStyle/>
          <a:p>
            <a:pPr algn="ctr" indent="0" marL="0">
              <a:buNone/>
            </a:pPr>
            <a:r>
              <a:rPr lang="en-US" sz="1200" b="1" dirty="0">
                <a:solidFill>
                  <a:srgbClr val="6A3FA3"/>
                </a:solidFill>
                <a:latin typeface="Arial" pitchFamily="34" charset="0"/>
                <a:ea typeface="Arial" pitchFamily="34" charset="-122"/>
                <a:cs typeface="Arial" pitchFamily="34" charset="-120"/>
              </a:rPr>
              <a:t>Approfondir</a:t>
            </a:r>
            <a:endParaRPr lang="en-US" sz="1200" dirty="0"/>
          </a:p>
        </p:txBody>
      </p:sp>
      <p:sp>
        <p:nvSpPr>
          <p:cNvPr id="16" name="Shape 13"/>
          <p:cNvSpPr/>
          <p:nvPr/>
        </p:nvSpPr>
        <p:spPr>
          <a:xfrm>
            <a:off x="548640" y="5074920"/>
            <a:ext cx="11094415" cy="658368"/>
          </a:xfrm>
          <a:prstGeom prst="roundRect">
            <a:avLst>
              <a:gd name="adj" fmla="val 22222"/>
            </a:avLst>
          </a:prstGeom>
          <a:solidFill>
            <a:srgbClr val="EAF3FF"/>
          </a:solidFill>
          <a:ln w="9525">
            <a:solidFill>
              <a:srgbClr val="C5DAF2"/>
            </a:solidFill>
            <a:prstDash val="solid"/>
          </a:ln>
        </p:spPr>
      </p:sp>
      <p:pic>
        <p:nvPicPr>
          <p:cNvPr id="17" name="Image 1" descr="/var/folders/b7/tkzbyvzx72qcg9wb0t1jybvm0000gn/T/kit-formation-xg52uF/icone-37.png">    </p:cNvPr>
          <p:cNvPicPr>
            <a:picLocks noChangeAspect="1"/>
          </p:cNvPicPr>
          <p:nvPr/>
        </p:nvPicPr>
        <p:blipFill>
          <a:blip r:embed="rId2"/>
          <a:stretch>
            <a:fillRect/>
          </a:stretch>
        </p:blipFill>
        <p:spPr>
          <a:xfrm>
            <a:off x="777240" y="5266944"/>
            <a:ext cx="274320" cy="274320"/>
          </a:xfrm>
          <a:prstGeom prst="rect">
            <a:avLst/>
          </a:prstGeom>
        </p:spPr>
      </p:pic>
      <p:sp>
        <p:nvSpPr>
          <p:cNvPr id="18" name="Text 14"/>
          <p:cNvSpPr txBox="1"/>
          <p:nvPr/>
        </p:nvSpPr>
        <p:spPr>
          <a:xfrm>
            <a:off x="1207008" y="5074920"/>
            <a:ext cx="10225735" cy="658368"/>
          </a:xfrm>
          <a:prstGeom prst="rect">
            <a:avLst/>
          </a:prstGeom>
          <a:noFill/>
          <a:ln/>
        </p:spPr>
        <p:txBody>
          <a:bodyPr wrap="square" lIns="0" tIns="0" rIns="0" bIns="0" rtlCol="0" anchor="ctr"/>
          <a:lstStyle/>
          <a:p>
            <a:pPr indent="0" marL="0">
              <a:buNone/>
            </a:pPr>
            <a:r>
              <a:rPr lang="en-US" sz="1400" b="1" dirty="0">
                <a:solidFill>
                  <a:srgbClr val="1D1D1F"/>
                </a:solidFill>
                <a:latin typeface="Arial" pitchFamily="34" charset="0"/>
                <a:ea typeface="Arial" pitchFamily="34" charset="-122"/>
                <a:cs typeface="Arial" pitchFamily="34" charset="-120"/>
              </a:rPr>
              <a:t>Réorienter un élève : </a:t>
            </a:r>
            <a:pPr indent="0" marL="0">
              <a:buNone/>
            </a:pPr>
            <a:r>
              <a:rPr lang="en-US" sz="1400" dirty="0">
                <a:solidFill>
                  <a:srgbClr val="1D1D1F"/>
                </a:solidFill>
                <a:latin typeface="Arial" pitchFamily="34" charset="0"/>
                <a:ea typeface="Arial" pitchFamily="34" charset="-122"/>
                <a:cs typeface="Arial" pitchFamily="34" charset="-120"/>
              </a:rPr>
              <a:t>modifiez sa note au test dans le carnet de notes de la plateforme.</a:t>
            </a:r>
            <a:endParaRPr lang="en-US" sz="1400" dirty="0"/>
          </a:p>
        </p:txBody>
      </p:sp>
      <p:sp>
        <p:nvSpPr>
          <p:cNvPr id="19" name="Text 15"/>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20" name="Text 16"/>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22 / 27</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Différencier un parcours déjà composé</a:t>
            </a:r>
            <a:endParaRPr lang="en-US" sz="3000" dirty="0"/>
          </a:p>
        </p:txBody>
      </p:sp>
      <p:sp>
        <p:nvSpPr>
          <p:cNvPr id="4" name="Shape 2"/>
          <p:cNvSpPr/>
          <p:nvPr/>
        </p:nvSpPr>
        <p:spPr>
          <a:xfrm>
            <a:off x="548640" y="1527048"/>
            <a:ext cx="7528255" cy="2622949"/>
          </a:xfrm>
          <a:prstGeom prst="roundRect">
            <a:avLst>
              <a:gd name="adj" fmla="val 4183"/>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ouvrirChemins.jpg">    </p:cNvPr>
          <p:cNvPicPr>
            <a:picLocks noChangeAspect="1"/>
          </p:cNvPicPr>
          <p:nvPr/>
        </p:nvPicPr>
        <p:blipFill>
          <a:blip r:embed="rId1"/>
          <a:stretch>
            <a:fillRect/>
          </a:stretch>
        </p:blipFill>
        <p:spPr>
          <a:xfrm>
            <a:off x="621792" y="1600200"/>
            <a:ext cx="7381951" cy="2476645"/>
          </a:xfrm>
          <a:prstGeom prst="rect">
            <a:avLst/>
          </a:prstGeom>
        </p:spPr>
      </p:pic>
      <p:sp>
        <p:nvSpPr>
          <p:cNvPr id="6" name="Shape 3"/>
          <p:cNvSpPr/>
          <p:nvPr/>
        </p:nvSpPr>
        <p:spPr>
          <a:xfrm>
            <a:off x="8442655" y="1645920"/>
            <a:ext cx="329184" cy="329184"/>
          </a:xfrm>
          <a:prstGeom prst="ellipse">
            <a:avLst/>
          </a:prstGeom>
          <a:solidFill>
            <a:srgbClr val="007AFF"/>
          </a:solidFill>
          <a:ln/>
        </p:spPr>
      </p:sp>
      <p:sp>
        <p:nvSpPr>
          <p:cNvPr id="7" name="Text 4"/>
          <p:cNvSpPr txBox="1"/>
          <p:nvPr/>
        </p:nvSpPr>
        <p:spPr>
          <a:xfrm>
            <a:off x="8442655" y="16459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5"/>
          <p:cNvSpPr txBox="1"/>
          <p:nvPr/>
        </p:nvSpPr>
        <p:spPr>
          <a:xfrm>
            <a:off x="8954719" y="1618488"/>
            <a:ext cx="2688336" cy="969264"/>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Sous un test du plan : </a:t>
            </a:r>
            <a:pPr indent="0" marL="0">
              <a:buNone/>
            </a:pPr>
            <a:r>
              <a:rPr lang="en-US" sz="1400" b="1" dirty="0">
                <a:solidFill>
                  <a:srgbClr val="1D1D1F"/>
                </a:solidFill>
                <a:latin typeface="Arial" pitchFamily="34" charset="0"/>
                <a:ea typeface="Arial" pitchFamily="34" charset="-122"/>
                <a:cs typeface="Arial" pitchFamily="34" charset="-120"/>
              </a:rPr>
              <a:t>« Ouvrir des chemins selon ce test »</a:t>
            </a:r>
            <a:pPr indent="0" marL="0">
              <a:buNone/>
            </a:pPr>
            <a:r>
              <a:rPr lang="en-US" sz="1400" dirty="0">
                <a:solidFill>
                  <a:srgbClr val="4A4A4F"/>
                </a:solidFill>
                <a:latin typeface="Arial" pitchFamily="34" charset="0"/>
                <a:ea typeface="Arial" pitchFamily="34" charset="-122"/>
                <a:cs typeface="Arial" pitchFamily="34" charset="-120"/>
              </a:rPr>
              <a:t>.</a:t>
            </a:r>
            <a:endParaRPr lang="en-US" sz="1400" dirty="0"/>
          </a:p>
        </p:txBody>
      </p:sp>
      <p:sp>
        <p:nvSpPr>
          <p:cNvPr id="9" name="Shape 6"/>
          <p:cNvSpPr/>
          <p:nvPr/>
        </p:nvSpPr>
        <p:spPr>
          <a:xfrm>
            <a:off x="8442655" y="2651760"/>
            <a:ext cx="329184" cy="329184"/>
          </a:xfrm>
          <a:prstGeom prst="ellipse">
            <a:avLst/>
          </a:prstGeom>
          <a:solidFill>
            <a:srgbClr val="007AFF"/>
          </a:solidFill>
          <a:ln/>
        </p:spPr>
      </p:sp>
      <p:sp>
        <p:nvSpPr>
          <p:cNvPr id="10" name="Text 7"/>
          <p:cNvSpPr txBox="1"/>
          <p:nvPr/>
        </p:nvSpPr>
        <p:spPr>
          <a:xfrm>
            <a:off x="8442655" y="26517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1" name="Text 8"/>
          <p:cNvSpPr txBox="1"/>
          <p:nvPr/>
        </p:nvSpPr>
        <p:spPr>
          <a:xfrm>
            <a:off x="8954719" y="2624328"/>
            <a:ext cx="2688336" cy="969264"/>
          </a:xfrm>
          <a:prstGeom prst="rect">
            <a:avLst/>
          </a:prstGeom>
          <a:noFill/>
          <a:ln/>
        </p:spPr>
        <p:txBody>
          <a:bodyPr wrap="square" lIns="0" tIns="0" rIns="0" bIns="0" rtlCol="0" anchor="t"/>
          <a:lstStyle/>
          <a:p>
            <a:pPr indent="0" marL="0">
              <a:buNone/>
            </a:pPr>
            <a:r>
              <a:rPr lang="en-US" sz="1400" dirty="0">
                <a:solidFill>
                  <a:srgbClr val="4A4A4F"/>
                </a:solidFill>
                <a:latin typeface="Arial" pitchFamily="34" charset="0"/>
                <a:ea typeface="Arial" pitchFamily="34" charset="-122"/>
                <a:cs typeface="Arial" pitchFamily="34" charset="-120"/>
              </a:rPr>
              <a:t>Trois chemins s’ouvrent, avec leur aiguillage : écrivez les titres des nouveaux.</a:t>
            </a:r>
            <a:endParaRPr lang="en-US" sz="1400" dirty="0"/>
          </a:p>
        </p:txBody>
      </p:sp>
      <p:sp>
        <p:nvSpPr>
          <p:cNvPr id="12" name="Shape 9"/>
          <p:cNvSpPr/>
          <p:nvPr/>
        </p:nvSpPr>
        <p:spPr>
          <a:xfrm>
            <a:off x="8442655" y="3657600"/>
            <a:ext cx="329184" cy="329184"/>
          </a:xfrm>
          <a:prstGeom prst="ellipse">
            <a:avLst/>
          </a:prstGeom>
          <a:solidFill>
            <a:srgbClr val="007AFF"/>
          </a:solidFill>
          <a:ln/>
        </p:spPr>
      </p:sp>
      <p:sp>
        <p:nvSpPr>
          <p:cNvPr id="13" name="Text 10"/>
          <p:cNvSpPr txBox="1"/>
          <p:nvPr/>
        </p:nvSpPr>
        <p:spPr>
          <a:xfrm>
            <a:off x="8442655" y="3657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4" name="Text 11"/>
          <p:cNvSpPr txBox="1"/>
          <p:nvPr/>
        </p:nvSpPr>
        <p:spPr>
          <a:xfrm>
            <a:off x="8954719" y="3630168"/>
            <a:ext cx="2688336" cy="969264"/>
          </a:xfrm>
          <a:prstGeom prst="rect">
            <a:avLst/>
          </a:prstGeom>
          <a:noFill/>
          <a:ln/>
        </p:spPr>
        <p:txBody>
          <a:bodyPr wrap="square" lIns="0" tIns="0" rIns="0" bIns="0" rtlCol="0" anchor="t"/>
          <a:lstStyle/>
          <a:p>
            <a:pPr indent="0" marL="0">
              <a:buNone/>
            </a:pPr>
            <a:r>
              <a:rPr lang="en-US" sz="1400" b="1" dirty="0">
                <a:solidFill>
                  <a:srgbClr val="1D1D1F"/>
                </a:solidFill>
                <a:latin typeface="Arial" pitchFamily="34" charset="0"/>
                <a:ea typeface="Arial" pitchFamily="34" charset="-122"/>
                <a:cs typeface="Arial" pitchFamily="34" charset="-120"/>
              </a:rPr>
              <a:t>« Générer les activités manquantes »</a:t>
            </a:r>
            <a:pPr indent="0" marL="0">
              <a:buNone/>
            </a:pPr>
            <a:r>
              <a:rPr lang="en-US" sz="1400" dirty="0">
                <a:solidFill>
                  <a:srgbClr val="4A4A4F"/>
                </a:solidFill>
                <a:latin typeface="Arial" pitchFamily="34" charset="0"/>
                <a:ea typeface="Arial" pitchFamily="34" charset="-122"/>
                <a:cs typeface="Arial" pitchFamily="34" charset="-120"/>
              </a:rPr>
              <a:t> complète le plan.</a:t>
            </a:r>
            <a:endParaRPr lang="en-US" sz="1400" dirty="0"/>
          </a:p>
        </p:txBody>
      </p:sp>
      <p:sp>
        <p:nvSpPr>
          <p:cNvPr id="15" name="Shape 12"/>
          <p:cNvSpPr/>
          <p:nvPr/>
        </p:nvSpPr>
        <p:spPr>
          <a:xfrm>
            <a:off x="548640" y="4892040"/>
            <a:ext cx="11094415" cy="685800"/>
          </a:xfrm>
          <a:prstGeom prst="roundRect">
            <a:avLst>
              <a:gd name="adj" fmla="val 21333"/>
            </a:avLst>
          </a:prstGeom>
          <a:solidFill>
            <a:srgbClr val="FFF7EC"/>
          </a:solidFill>
          <a:ln w="9525">
            <a:solidFill>
              <a:srgbClr val="EEE0CF"/>
            </a:solidFill>
            <a:prstDash val="solid"/>
          </a:ln>
        </p:spPr>
      </p:sp>
      <p:pic>
        <p:nvPicPr>
          <p:cNvPr id="16" name="Image 1" descr="/var/folders/b7/tkzbyvzx72qcg9wb0t1jybvm0000gn/T/kit-formation-xg52uF/icone-20.png">    </p:cNvPr>
          <p:cNvPicPr>
            <a:picLocks noChangeAspect="1"/>
          </p:cNvPicPr>
          <p:nvPr/>
        </p:nvPicPr>
        <p:blipFill>
          <a:blip r:embed="rId2"/>
          <a:stretch>
            <a:fillRect/>
          </a:stretch>
        </p:blipFill>
        <p:spPr>
          <a:xfrm>
            <a:off x="777240" y="5097780"/>
            <a:ext cx="274320" cy="274320"/>
          </a:xfrm>
          <a:prstGeom prst="rect">
            <a:avLst/>
          </a:prstGeom>
        </p:spPr>
      </p:pic>
      <p:sp>
        <p:nvSpPr>
          <p:cNvPr id="17" name="Text 13"/>
          <p:cNvSpPr txBox="1"/>
          <p:nvPr/>
        </p:nvSpPr>
        <p:spPr>
          <a:xfrm>
            <a:off x="1207008" y="4892040"/>
            <a:ext cx="10225735" cy="685800"/>
          </a:xfrm>
          <a:prstGeom prst="rect">
            <a:avLst/>
          </a:prstGeom>
          <a:noFill/>
          <a:ln/>
        </p:spPr>
        <p:txBody>
          <a:bodyPr wrap="square" lIns="0" tIns="0" rIns="0" bIns="0" rtlCol="0" anchor="ctr"/>
          <a:lstStyle/>
          <a:p>
            <a:pPr indent="0" marL="0">
              <a:buNone/>
            </a:pPr>
            <a:r>
              <a:rPr lang="en-US" sz="1400" dirty="0">
                <a:solidFill>
                  <a:srgbClr val="1D1D1F"/>
                </a:solidFill>
                <a:latin typeface="Arial" pitchFamily="34" charset="0"/>
                <a:ea typeface="Arial" pitchFamily="34" charset="-122"/>
                <a:cs typeface="Arial" pitchFamily="34" charset="-120"/>
              </a:rPr>
              <a:t>Revenir en arrière : </a:t>
            </a:r>
            <a:pPr indent="0" marL="0">
              <a:buNone/>
            </a:pPr>
            <a:r>
              <a:rPr lang="en-US" sz="1400" b="1" dirty="0">
                <a:solidFill>
                  <a:srgbClr val="1D1D1F"/>
                </a:solidFill>
                <a:latin typeface="Arial" pitchFamily="34" charset="0"/>
                <a:ea typeface="Arial" pitchFamily="34" charset="-122"/>
                <a:cs typeface="Arial" pitchFamily="34" charset="-120"/>
              </a:rPr>
              <a:t>« Un seul chemin pour tous »</a:t>
            </a:r>
            <a:pPr indent="0" marL="0">
              <a:buNone/>
            </a:pPr>
            <a:r>
              <a:rPr lang="en-US" sz="1400" dirty="0">
                <a:solidFill>
                  <a:srgbClr val="1D1D1F"/>
                </a:solidFill>
                <a:latin typeface="Arial" pitchFamily="34" charset="0"/>
                <a:ea typeface="Arial" pitchFamily="34" charset="-122"/>
                <a:cs typeface="Arial" pitchFamily="34" charset="-120"/>
              </a:rPr>
              <a:t> garde le chemin déjà écrit.</a:t>
            </a:r>
            <a:endParaRPr lang="en-US" sz="1400" dirty="0"/>
          </a:p>
        </p:txBody>
      </p:sp>
      <p:sp>
        <p:nvSpPr>
          <p:cNvPr id="18" name="Text 1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9" name="Text 1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23 / 27</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 Voir comme un élève »</a:t>
            </a:r>
            <a:endParaRPr lang="en-US" sz="3000" dirty="0"/>
          </a:p>
        </p:txBody>
      </p:sp>
      <p:sp>
        <p:nvSpPr>
          <p:cNvPr id="4" name="Shape 2"/>
          <p:cNvSpPr/>
          <p:nvPr/>
        </p:nvSpPr>
        <p:spPr>
          <a:xfrm>
            <a:off x="548640" y="1481328"/>
            <a:ext cx="4563960" cy="4352544"/>
          </a:xfrm>
          <a:prstGeom prst="roundRect">
            <a:avLst>
              <a:gd name="adj" fmla="val 2521"/>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0" descr="/var/folders/b7/tkzbyvzx72qcg9wb0t1jybvm0000gn/T/kit-formation-xg52uF/eleve.jpg">    </p:cNvPr>
          <p:cNvPicPr>
            <a:picLocks noChangeAspect="1"/>
          </p:cNvPicPr>
          <p:nvPr/>
        </p:nvPicPr>
        <p:blipFill>
          <a:blip r:embed="rId1"/>
          <a:stretch>
            <a:fillRect/>
          </a:stretch>
        </p:blipFill>
        <p:spPr>
          <a:xfrm>
            <a:off x="621792" y="1554480"/>
            <a:ext cx="4417656" cy="4206240"/>
          </a:xfrm>
          <a:prstGeom prst="rect">
            <a:avLst/>
          </a:prstGeom>
        </p:spPr>
      </p:pic>
      <p:sp>
        <p:nvSpPr>
          <p:cNvPr id="6" name="Text 3"/>
          <p:cNvSpPr txBox="1"/>
          <p:nvPr/>
        </p:nvSpPr>
        <p:spPr>
          <a:xfrm>
            <a:off x="5542368" y="1600200"/>
            <a:ext cx="6100687" cy="4206240"/>
          </a:xfrm>
          <a:prstGeom prst="rect">
            <a:avLst/>
          </a:prstGeom>
          <a:noFill/>
          <a:ln/>
        </p:spPr>
        <p:txBody>
          <a:bodyPr wrap="square" lIns="0" tIns="0" rIns="0" bIns="0" rtlCol="0" anchor="t"/>
          <a:lstStyle/>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 Qui regarde ?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a:t>
            </a:r>
            <a:pPr indent="0" marL="0">
              <a:lnSpc>
                <a:spcPct val="105000"/>
              </a:lnSpc>
              <a:spcAft>
                <a:spcPts val="1200"/>
              </a:spcAft>
              <a:buNone/>
            </a:pPr>
            <a:r>
              <a:rPr lang="en-US" sz="1450" b="1" dirty="0">
                <a:solidFill>
                  <a:srgbClr val="1D1D1F"/>
                </a:solidFill>
                <a:latin typeface="Arial" pitchFamily="34" charset="0"/>
                <a:ea typeface="Arial" pitchFamily="34" charset="-122"/>
                <a:cs typeface="Arial" pitchFamily="34" charset="-120"/>
              </a:rPr>
              <a:t>« Un élève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ou </a:t>
            </a:r>
            <a:pPr indent="0" marL="0">
              <a:lnSpc>
                <a:spcPct val="105000"/>
              </a:lnSpc>
              <a:spcAft>
                <a:spcPts val="1200"/>
              </a:spcAft>
              <a:buNone/>
            </a:pPr>
            <a:r>
              <a:rPr lang="en-US" sz="1450" b="1" dirty="0">
                <a:solidFill>
                  <a:srgbClr val="1D1D1F"/>
                </a:solidFill>
                <a:latin typeface="Arial" pitchFamily="34" charset="0"/>
                <a:ea typeface="Arial" pitchFamily="34" charset="-122"/>
                <a:cs typeface="Arial" pitchFamily="34" charset="-120"/>
              </a:rPr>
              <a:t>« L’enseignant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 Moment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a:t>
            </a:r>
            <a:pPr indent="0" marL="0">
              <a:lnSpc>
                <a:spcPct val="105000"/>
              </a:lnSpc>
              <a:spcAft>
                <a:spcPts val="1200"/>
              </a:spcAft>
              <a:buNone/>
            </a:pPr>
            <a:r>
              <a:rPr lang="en-US" sz="1450" b="1" dirty="0">
                <a:solidFill>
                  <a:srgbClr val="1D1D1F"/>
                </a:solidFill>
                <a:latin typeface="Arial" pitchFamily="34" charset="0"/>
                <a:ea typeface="Arial" pitchFamily="34" charset="-122"/>
                <a:cs typeface="Arial" pitchFamily="34" charset="-120"/>
              </a:rPr>
              <a:t>« Avant le test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a:t>
            </a:r>
            <a:pPr indent="0" marL="0">
              <a:lnSpc>
                <a:spcPct val="105000"/>
              </a:lnSpc>
              <a:spcAft>
                <a:spcPts val="1200"/>
              </a:spcAft>
              <a:buNone/>
            </a:pPr>
            <a:r>
              <a:rPr lang="en-US" sz="1450" b="1" dirty="0">
                <a:solidFill>
                  <a:srgbClr val="1D1D1F"/>
                </a:solidFill>
                <a:latin typeface="Arial" pitchFamily="34" charset="0"/>
                <a:ea typeface="Arial" pitchFamily="34" charset="-122"/>
                <a:cs typeface="Arial" pitchFamily="34" charset="-120"/>
              </a:rPr>
              <a:t>« Pendant son chemin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a:t>
            </a:r>
            <a:pPr indent="0" marL="0">
              <a:lnSpc>
                <a:spcPct val="105000"/>
              </a:lnSpc>
              <a:spcAft>
                <a:spcPts val="1200"/>
              </a:spcAft>
              <a:buNone/>
            </a:pPr>
            <a:r>
              <a:rPr lang="en-US" sz="1450" b="1" dirty="0">
                <a:solidFill>
                  <a:srgbClr val="1D1D1F"/>
                </a:solidFill>
                <a:latin typeface="Arial" pitchFamily="34" charset="0"/>
                <a:ea typeface="Arial" pitchFamily="34" charset="-122"/>
                <a:cs typeface="Arial" pitchFamily="34" charset="-120"/>
              </a:rPr>
              <a:t>« Chemin terminé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a:t>
            </a:r>
            <a:pPr indent="0" marL="0">
              <a:lnSpc>
                <a:spcPct val="105000"/>
              </a:lnSpc>
              <a:spcAft>
                <a:spcPts val="1200"/>
              </a:spcAft>
              <a:buNone/>
            </a:pPr>
            <a:r>
              <a:rPr lang="en-US" sz="1450" b="1" dirty="0">
                <a:solidFill>
                  <a:srgbClr val="1D1D1F"/>
                </a:solidFill>
                <a:latin typeface="Arial" pitchFamily="34" charset="0"/>
                <a:ea typeface="Arial" pitchFamily="34" charset="-122"/>
                <a:cs typeface="Arial" pitchFamily="34" charset="-120"/>
              </a:rPr>
              <a:t>« Parcours terminé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 Bonnes réponses au test »</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 le curseur choisit le score.</a:t>
            </a:r>
            <a:endParaRPr lang="en-US" sz="1450" dirty="0"/>
          </a:p>
          <a:p>
            <a:pPr marL="193358" indent="-193358">
              <a:lnSpc>
                <a:spcPct val="105000"/>
              </a:lnSpc>
              <a:spcAft>
                <a:spcPts val="1200"/>
              </a:spcAft>
              <a:buSzPct val="100000"/>
              <a:buChar char="•"/>
            </a:pPr>
            <a:r>
              <a:rPr lang="en-US" sz="1450" b="1" dirty="0">
                <a:solidFill>
                  <a:srgbClr val="1D1D1F"/>
                </a:solidFill>
                <a:latin typeface="Arial" pitchFamily="34" charset="0"/>
                <a:ea typeface="Arial" pitchFamily="34" charset="-122"/>
                <a:cs typeface="Arial" pitchFamily="34" charset="-120"/>
              </a:rPr>
              <a:t>Avant tout import</a:t>
            </a:r>
            <a:pPr indent="0" marL="0">
              <a:lnSpc>
                <a:spcPct val="105000"/>
              </a:lnSpc>
              <a:spcAft>
                <a:spcPts val="1200"/>
              </a:spcAft>
              <a:buNone/>
            </a:pPr>
            <a:r>
              <a:rPr lang="en-US" sz="1450" dirty="0">
                <a:solidFill>
                  <a:srgbClr val="4A4A4F"/>
                </a:solidFill>
                <a:latin typeface="Arial" pitchFamily="34" charset="0"/>
                <a:ea typeface="Arial" pitchFamily="34" charset="-122"/>
                <a:cs typeface="Arial" pitchFamily="34" charset="-120"/>
              </a:rPr>
              <a:t>, on vérifie que chacun ne voit que son chemin.</a:t>
            </a:r>
            <a:endParaRPr lang="en-US" sz="1450" dirty="0"/>
          </a:p>
        </p:txBody>
      </p:sp>
      <p:sp>
        <p:nvSpPr>
          <p:cNvPr id="7" name="Text 4"/>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8" name="Text 5"/>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24 / 27</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274320"/>
          </a:xfrm>
          <a:prstGeom prst="rect">
            <a:avLst/>
          </a:prstGeom>
          <a:noFill/>
          <a:ln/>
        </p:spPr>
        <p:txBody>
          <a:bodyPr wrap="square" lIns="0" tIns="0" rIns="0" bIns="0" rtlCol="0" anchor="t"/>
          <a:lstStyle/>
          <a:p>
            <a:pPr indent="0" marL="0">
              <a:buNone/>
            </a:pPr>
            <a:r>
              <a:rPr lang="en-US" sz="1200" b="1" dirty="0">
                <a:solidFill>
                  <a:srgbClr val="8F4014"/>
                </a:solidFill>
                <a:latin typeface="Arial" pitchFamily="34" charset="0"/>
                <a:ea typeface="Arial" pitchFamily="34" charset="-122"/>
                <a:cs typeface="Arial" pitchFamily="34" charset="-120"/>
              </a:rPr>
              <a:t>Partie 2 · Concevoir un parcours</a:t>
            </a:r>
            <a:endParaRPr lang="en-US" sz="1200" dirty="0"/>
          </a:p>
        </p:txBody>
      </p:sp>
      <p:sp>
        <p:nvSpPr>
          <p:cNvPr id="3" name="Text 1"/>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Un cours vide, et une page « Bilan du parcours »</a:t>
            </a:r>
            <a:endParaRPr lang="en-US" sz="3000" dirty="0"/>
          </a:p>
        </p:txBody>
      </p:sp>
      <p:sp>
        <p:nvSpPr>
          <p:cNvPr id="4" name="Text 2"/>
          <p:cNvSpPr txBox="1"/>
          <p:nvPr/>
        </p:nvSpPr>
        <p:spPr>
          <a:xfrm>
            <a:off x="548640" y="1508760"/>
            <a:ext cx="5318608" cy="329184"/>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Un parcours à chemins : un cours VIDE</a:t>
            </a:r>
            <a:endParaRPr lang="en-US" sz="1700" dirty="0"/>
          </a:p>
        </p:txBody>
      </p:sp>
      <p:sp>
        <p:nvSpPr>
          <p:cNvPr id="5" name="Shape 3"/>
          <p:cNvSpPr/>
          <p:nvPr/>
        </p:nvSpPr>
        <p:spPr>
          <a:xfrm>
            <a:off x="548640" y="1892808"/>
            <a:ext cx="5318608" cy="1643686"/>
          </a:xfrm>
          <a:prstGeom prst="roundRect">
            <a:avLst>
              <a:gd name="adj" fmla="val 6676"/>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6" name="Image 0" descr="/var/folders/b7/tkzbyvzx72qcg9wb0t1jybvm0000gn/T/kit-formation-xg52uF/livraisonChemins.jpg">    </p:cNvPr>
          <p:cNvPicPr>
            <a:picLocks noChangeAspect="1"/>
          </p:cNvPicPr>
          <p:nvPr/>
        </p:nvPicPr>
        <p:blipFill>
          <a:blip r:embed="rId1"/>
          <a:stretch>
            <a:fillRect/>
          </a:stretch>
        </p:blipFill>
        <p:spPr>
          <a:xfrm>
            <a:off x="621792" y="1965960"/>
            <a:ext cx="5172304" cy="1497382"/>
          </a:xfrm>
          <a:prstGeom prst="rect">
            <a:avLst/>
          </a:prstGeom>
        </p:spPr>
      </p:pic>
      <p:sp>
        <p:nvSpPr>
          <p:cNvPr id="7" name="Text 4"/>
          <p:cNvSpPr txBox="1"/>
          <p:nvPr/>
        </p:nvSpPr>
        <p:spPr>
          <a:xfrm>
            <a:off x="548640" y="3691942"/>
            <a:ext cx="5318608" cy="548640"/>
          </a:xfrm>
          <a:prstGeom prst="rect">
            <a:avLst/>
          </a:prstGeom>
          <a:noFill/>
          <a:ln/>
        </p:spPr>
        <p:txBody>
          <a:bodyPr wrap="square" lIns="0" tIns="0" rIns="0" bIns="0" rtlCol="0" anchor="t"/>
          <a:lstStyle/>
          <a:p>
            <a:pPr indent="0" marL="0">
              <a:buNone/>
            </a:pPr>
            <a:r>
              <a:rPr lang="en-US" sz="1350" dirty="0">
                <a:solidFill>
                  <a:srgbClr val="4A4A4F"/>
                </a:solidFill>
                <a:latin typeface="Arial" pitchFamily="34" charset="0"/>
                <a:ea typeface="Arial" pitchFamily="34" charset="-122"/>
                <a:cs typeface="Arial" pitchFamily="34" charset="-120"/>
              </a:rPr>
              <a:t>Des sections existantes recevraient les restrictions des chemins.</a:t>
            </a:r>
            <a:endParaRPr lang="en-US" sz="1350" dirty="0"/>
          </a:p>
        </p:txBody>
      </p:sp>
      <p:sp>
        <p:nvSpPr>
          <p:cNvPr id="8" name="Text 5"/>
          <p:cNvSpPr txBox="1"/>
          <p:nvPr/>
        </p:nvSpPr>
        <p:spPr>
          <a:xfrm>
            <a:off x="6324448" y="1508760"/>
            <a:ext cx="5318608" cy="329184"/>
          </a:xfrm>
          <a:prstGeom prst="rect">
            <a:avLst/>
          </a:prstGeom>
          <a:noFill/>
          <a:ln/>
        </p:spPr>
        <p:txBody>
          <a:bodyPr wrap="square" lIns="0" tIns="0" rIns="0" bIns="0" rtlCol="0" anchor="t"/>
          <a:lstStyle/>
          <a:p>
            <a:pPr indent="0" marL="0">
              <a:buNone/>
            </a:pPr>
            <a:r>
              <a:rPr lang="en-US" sz="1700" b="1" dirty="0">
                <a:solidFill>
                  <a:srgbClr val="1D1D1F"/>
                </a:solidFill>
                <a:latin typeface="Arial" pitchFamily="34" charset="0"/>
                <a:ea typeface="Arial" pitchFamily="34" charset="-122"/>
                <a:cs typeface="Arial" pitchFamily="34" charset="-120"/>
              </a:rPr>
              <a:t>À la fin de tout parcours</a:t>
            </a:r>
            <a:endParaRPr lang="en-US" sz="1700" dirty="0"/>
          </a:p>
        </p:txBody>
      </p:sp>
      <p:sp>
        <p:nvSpPr>
          <p:cNvPr id="9" name="Shape 6"/>
          <p:cNvSpPr/>
          <p:nvPr/>
        </p:nvSpPr>
        <p:spPr>
          <a:xfrm>
            <a:off x="6324448" y="1892808"/>
            <a:ext cx="5318608" cy="1495091"/>
          </a:xfrm>
          <a:prstGeom prst="roundRect">
            <a:avLst>
              <a:gd name="adj" fmla="val 7339"/>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10" name="Image 1" descr="/var/folders/b7/tkzbyvzx72qcg9wb0t1jybvm0000gn/T/kit-formation-xg52uF/eleveFin.jpg">    </p:cNvPr>
          <p:cNvPicPr>
            <a:picLocks noChangeAspect="1"/>
          </p:cNvPicPr>
          <p:nvPr/>
        </p:nvPicPr>
        <p:blipFill>
          <a:blip r:embed="rId2"/>
          <a:stretch>
            <a:fillRect/>
          </a:stretch>
        </p:blipFill>
        <p:spPr>
          <a:xfrm>
            <a:off x="6397600" y="1965960"/>
            <a:ext cx="5172304" cy="1348787"/>
          </a:xfrm>
          <a:prstGeom prst="rect">
            <a:avLst/>
          </a:prstGeom>
        </p:spPr>
      </p:pic>
      <p:sp>
        <p:nvSpPr>
          <p:cNvPr id="11" name="Text 7"/>
          <p:cNvSpPr txBox="1"/>
          <p:nvPr/>
        </p:nvSpPr>
        <p:spPr>
          <a:xfrm>
            <a:off x="6324448" y="3589067"/>
            <a:ext cx="5318608" cy="2011680"/>
          </a:xfrm>
          <a:prstGeom prst="rect">
            <a:avLst/>
          </a:prstGeom>
          <a:noFill/>
          <a:ln/>
        </p:spPr>
        <p:txBody>
          <a:bodyPr wrap="square" lIns="0" tIns="0" rIns="0" bIns="0" rtlCol="0" anchor="t"/>
          <a:lstStyle/>
          <a:p>
            <a:pPr marL="180023" indent="-180023">
              <a:lnSpc>
                <a:spcPct val="105000"/>
              </a:lnSpc>
              <a:spcAft>
                <a:spcPts val="800"/>
              </a:spcAft>
              <a:buSzPct val="100000"/>
              <a:buChar char="•"/>
            </a:pPr>
            <a:r>
              <a:rPr lang="en-US" sz="1350" b="1" dirty="0">
                <a:solidFill>
                  <a:srgbClr val="1D1D1F"/>
                </a:solidFill>
                <a:latin typeface="Arial" pitchFamily="34" charset="0"/>
                <a:ea typeface="Arial" pitchFamily="34" charset="-122"/>
                <a:cs typeface="Arial" pitchFamily="34" charset="-120"/>
              </a:rPr>
              <a:t>« Fin du parcours »</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 : masquée jusqu’à ce que l’élève ait tout terminé.</a:t>
            </a:r>
            <a:endParaRPr lang="en-US" sz="1350" dirty="0"/>
          </a:p>
          <a:p>
            <a:pPr marL="180023" indent="-180023">
              <a:lnSpc>
                <a:spcPct val="105000"/>
              </a:lnSpc>
              <a:spcAft>
                <a:spcPts val="800"/>
              </a:spcAft>
              <a:buSzPct val="100000"/>
              <a:buChar char="•"/>
            </a:pPr>
            <a:r>
              <a:rPr lang="en-US" sz="1350" b="1" dirty="0">
                <a:solidFill>
                  <a:srgbClr val="1D1D1F"/>
                </a:solidFill>
                <a:latin typeface="Arial" pitchFamily="34" charset="0"/>
                <a:ea typeface="Arial" pitchFamily="34" charset="-122"/>
                <a:cs typeface="Arial" pitchFamily="34" charset="-120"/>
              </a:rPr>
              <a:t>« Bilan du parcours »</a:t>
            </a:r>
            <a:pPr indent="0" marL="0">
              <a:lnSpc>
                <a:spcPct val="105000"/>
              </a:lnSpc>
              <a:spcAft>
                <a:spcPts val="800"/>
              </a:spcAft>
              <a:buNone/>
            </a:pPr>
            <a:r>
              <a:rPr lang="en-US" sz="1350" dirty="0">
                <a:solidFill>
                  <a:srgbClr val="4A4A4F"/>
                </a:solidFill>
                <a:latin typeface="Arial" pitchFamily="34" charset="0"/>
                <a:ea typeface="Arial" pitchFamily="34" charset="-122"/>
                <a:cs typeface="Arial" pitchFamily="34" charset="-120"/>
              </a:rPr>
              <a:t> : l’objectif, ce que chaque étape a travaillé et où le revoir, les mots à retenir. Composé sans IA.</a:t>
            </a:r>
            <a:endParaRPr lang="en-US" sz="1350" dirty="0"/>
          </a:p>
        </p:txBody>
      </p:sp>
      <p:sp>
        <p:nvSpPr>
          <p:cNvPr id="12" name="Text 8"/>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13" name="Text 9"/>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25 / 27</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5F5F7"/>
        </a:solidFill>
      </p:bgPr>
    </p:bg>
    <p:spTree>
      <p:nvGrpSpPr>
        <p:cNvPr id="1" name=""/>
        <p:cNvGrpSpPr/>
        <p:nvPr/>
      </p:nvGrpSpPr>
      <p:grpSpPr>
        <a:xfrm>
          <a:off x="0" y="0"/>
          <a:ext cx="0" cy="0"/>
          <a:chOff x="0" y="0"/>
          <a:chExt cx="0" cy="0"/>
        </a:xfrm>
      </p:grpSpPr>
      <p:sp>
        <p:nvSpPr>
          <p:cNvPr id="2" name="Text 0"/>
          <p:cNvSpPr txBox="1"/>
          <p:nvPr/>
        </p:nvSpPr>
        <p:spPr>
          <a:xfrm>
            <a:off x="548640" y="658368"/>
            <a:ext cx="11094415" cy="658368"/>
          </a:xfrm>
          <a:prstGeom prst="rect">
            <a:avLst/>
          </a:prstGeom>
          <a:noFill/>
          <a:ln/>
        </p:spPr>
        <p:txBody>
          <a:bodyPr wrap="square" lIns="0" tIns="0" rIns="0" bIns="0" rtlCol="0" anchor="ctr"/>
          <a:lstStyle/>
          <a:p>
            <a:pPr indent="0" marL="0">
              <a:buNone/>
            </a:pPr>
            <a:r>
              <a:rPr lang="en-US" sz="3000" b="1" dirty="0">
                <a:solidFill>
                  <a:srgbClr val="1D1D1F"/>
                </a:solidFill>
                <a:latin typeface="Arial" pitchFamily="34" charset="0"/>
                <a:ea typeface="Arial" pitchFamily="34" charset="-122"/>
                <a:cs typeface="Arial" pitchFamily="34" charset="-120"/>
              </a:rPr>
              <a:t>À savoir</a:t>
            </a:r>
            <a:endParaRPr lang="en-US" sz="3000" dirty="0"/>
          </a:p>
        </p:txBody>
      </p:sp>
      <p:sp>
        <p:nvSpPr>
          <p:cNvPr id="3" name="Shape 1"/>
          <p:cNvSpPr/>
          <p:nvPr/>
        </p:nvSpPr>
        <p:spPr>
          <a:xfrm>
            <a:off x="548640" y="1508760"/>
            <a:ext cx="5410048" cy="1298448"/>
          </a:xfrm>
          <a:prstGeom prst="roundRect">
            <a:avLst>
              <a:gd name="adj" fmla="val 1126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4" name="Shape 2"/>
          <p:cNvSpPr/>
          <p:nvPr/>
        </p:nvSpPr>
        <p:spPr>
          <a:xfrm>
            <a:off x="822960" y="1783080"/>
            <a:ext cx="548640" cy="548640"/>
          </a:xfrm>
          <a:prstGeom prst="roundRect">
            <a:avLst>
              <a:gd name="adj" fmla="val 28000"/>
            </a:avLst>
          </a:prstGeom>
          <a:solidFill>
            <a:srgbClr val="FFECD4"/>
          </a:solidFill>
          <a:ln/>
        </p:spPr>
      </p:sp>
      <p:pic>
        <p:nvPicPr>
          <p:cNvPr id="5" name="Image 0" descr="/var/folders/b7/tkzbyvzx72qcg9wb0t1jybvm0000gn/T/kit-formation-xg52uF/icone-28.png">    </p:cNvPr>
          <p:cNvPicPr>
            <a:picLocks noChangeAspect="1"/>
          </p:cNvPicPr>
          <p:nvPr/>
        </p:nvPicPr>
        <p:blipFill>
          <a:blip r:embed="rId1"/>
          <a:stretch>
            <a:fillRect/>
          </a:stretch>
        </p:blipFill>
        <p:spPr>
          <a:xfrm>
            <a:off x="954634" y="1914754"/>
            <a:ext cx="285293" cy="285293"/>
          </a:xfrm>
          <a:prstGeom prst="rect">
            <a:avLst/>
          </a:prstGeom>
        </p:spPr>
      </p:pic>
      <p:sp>
        <p:nvSpPr>
          <p:cNvPr id="6" name="Text 3"/>
          <p:cNvSpPr txBox="1"/>
          <p:nvPr/>
        </p:nvSpPr>
        <p:spPr>
          <a:xfrm>
            <a:off x="1572768" y="1709928"/>
            <a:ext cx="4175608" cy="347472"/>
          </a:xfrm>
          <a:prstGeom prst="rect">
            <a:avLst/>
          </a:prstGeom>
          <a:noFill/>
          <a:ln/>
        </p:spPr>
        <p:txBody>
          <a:bodyPr wrap="square" lIns="0" tIns="0" rIns="0" bIns="0" rtlCol="0" anchor="t"/>
          <a:lstStyle/>
          <a:p>
            <a:pPr indent="0" marL="0">
              <a:buNone/>
            </a:pPr>
            <a:r>
              <a:rPr lang="en-US" sz="1650" b="1" dirty="0">
                <a:solidFill>
                  <a:srgbClr val="1D1D1F"/>
                </a:solidFill>
                <a:latin typeface="Arial" pitchFamily="34" charset="0"/>
                <a:ea typeface="Arial" pitchFamily="34" charset="-122"/>
                <a:cs typeface="Arial" pitchFamily="34" charset="-120"/>
              </a:rPr>
              <a:t>Tout relire</a:t>
            </a:r>
            <a:endParaRPr lang="en-US" sz="1650" dirty="0"/>
          </a:p>
        </p:txBody>
      </p:sp>
      <p:sp>
        <p:nvSpPr>
          <p:cNvPr id="7" name="Text 4"/>
          <p:cNvSpPr txBox="1"/>
          <p:nvPr/>
        </p:nvSpPr>
        <p:spPr>
          <a:xfrm>
            <a:off x="1572768" y="2075688"/>
            <a:ext cx="4175608" cy="68580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L’IA peut se tromper : un fait, une réponse, une consigne. Vous restez l’auteur de ce que vous donnez aux élèves.</a:t>
            </a:r>
            <a:endParaRPr lang="en-US" sz="1300" dirty="0"/>
          </a:p>
        </p:txBody>
      </p:sp>
      <p:sp>
        <p:nvSpPr>
          <p:cNvPr id="8" name="Shape 5"/>
          <p:cNvSpPr/>
          <p:nvPr/>
        </p:nvSpPr>
        <p:spPr>
          <a:xfrm>
            <a:off x="6233008" y="1508760"/>
            <a:ext cx="5410048" cy="1298448"/>
          </a:xfrm>
          <a:prstGeom prst="roundRect">
            <a:avLst>
              <a:gd name="adj" fmla="val 1126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9" name="Shape 6"/>
          <p:cNvSpPr/>
          <p:nvPr/>
        </p:nvSpPr>
        <p:spPr>
          <a:xfrm>
            <a:off x="6507328" y="1783080"/>
            <a:ext cx="548640" cy="548640"/>
          </a:xfrm>
          <a:prstGeom prst="roundRect">
            <a:avLst>
              <a:gd name="adj" fmla="val 28000"/>
            </a:avLst>
          </a:prstGeom>
          <a:solidFill>
            <a:srgbClr val="FFECD4"/>
          </a:solidFill>
          <a:ln/>
        </p:spPr>
      </p:sp>
      <p:pic>
        <p:nvPicPr>
          <p:cNvPr id="10" name="Image 1" descr="/var/folders/b7/tkzbyvzx72qcg9wb0t1jybvm0000gn/T/kit-formation-xg52uF/icone-9.png">    </p:cNvPr>
          <p:cNvPicPr>
            <a:picLocks noChangeAspect="1"/>
          </p:cNvPicPr>
          <p:nvPr/>
        </p:nvPicPr>
        <p:blipFill>
          <a:blip r:embed="rId2"/>
          <a:stretch>
            <a:fillRect/>
          </a:stretch>
        </p:blipFill>
        <p:spPr>
          <a:xfrm>
            <a:off x="6639001" y="1914754"/>
            <a:ext cx="285293" cy="285293"/>
          </a:xfrm>
          <a:prstGeom prst="rect">
            <a:avLst/>
          </a:prstGeom>
        </p:spPr>
      </p:pic>
      <p:sp>
        <p:nvSpPr>
          <p:cNvPr id="11" name="Text 7"/>
          <p:cNvSpPr txBox="1"/>
          <p:nvPr/>
        </p:nvSpPr>
        <p:spPr>
          <a:xfrm>
            <a:off x="7257136" y="1709928"/>
            <a:ext cx="4175608" cy="347472"/>
          </a:xfrm>
          <a:prstGeom prst="rect">
            <a:avLst/>
          </a:prstGeom>
          <a:noFill/>
          <a:ln/>
        </p:spPr>
        <p:txBody>
          <a:bodyPr wrap="square" lIns="0" tIns="0" rIns="0" bIns="0" rtlCol="0" anchor="t"/>
          <a:lstStyle/>
          <a:p>
            <a:pPr indent="0" marL="0">
              <a:buNone/>
            </a:pPr>
            <a:r>
              <a:rPr lang="en-US" sz="1650" b="1" dirty="0">
                <a:solidFill>
                  <a:srgbClr val="1D1D1F"/>
                </a:solidFill>
                <a:latin typeface="Arial" pitchFamily="34" charset="0"/>
                <a:ea typeface="Arial" pitchFamily="34" charset="-122"/>
                <a:cs typeface="Arial" pitchFamily="34" charset="-120"/>
              </a:rPr>
              <a:t>Aucune donnée personnelle d’élève</a:t>
            </a:r>
            <a:endParaRPr lang="en-US" sz="1650" dirty="0"/>
          </a:p>
        </p:txBody>
      </p:sp>
      <p:sp>
        <p:nvSpPr>
          <p:cNvPr id="12" name="Text 8"/>
          <p:cNvSpPr txBox="1"/>
          <p:nvPr/>
        </p:nvSpPr>
        <p:spPr>
          <a:xfrm>
            <a:off x="7257136" y="2075688"/>
            <a:ext cx="4175608" cy="68580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Ni dans les champs, ni dans les documents, ni dans un prompt envoyé à une IA externe.</a:t>
            </a:r>
            <a:endParaRPr lang="en-US" sz="1300" dirty="0"/>
          </a:p>
        </p:txBody>
      </p:sp>
      <p:sp>
        <p:nvSpPr>
          <p:cNvPr id="13" name="Shape 9"/>
          <p:cNvSpPr/>
          <p:nvPr/>
        </p:nvSpPr>
        <p:spPr>
          <a:xfrm>
            <a:off x="548640" y="2990088"/>
            <a:ext cx="5410048" cy="1298448"/>
          </a:xfrm>
          <a:prstGeom prst="roundRect">
            <a:avLst>
              <a:gd name="adj" fmla="val 1126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4" name="Shape 10"/>
          <p:cNvSpPr/>
          <p:nvPr/>
        </p:nvSpPr>
        <p:spPr>
          <a:xfrm>
            <a:off x="822960" y="3264408"/>
            <a:ext cx="548640" cy="548640"/>
          </a:xfrm>
          <a:prstGeom prst="roundRect">
            <a:avLst>
              <a:gd name="adj" fmla="val 28000"/>
            </a:avLst>
          </a:prstGeom>
          <a:solidFill>
            <a:srgbClr val="FFECD4"/>
          </a:solidFill>
          <a:ln/>
        </p:spPr>
      </p:sp>
      <p:pic>
        <p:nvPicPr>
          <p:cNvPr id="15" name="Image 2" descr="/var/folders/b7/tkzbyvzx72qcg9wb0t1jybvm0000gn/T/kit-formation-xg52uF/icone-29.png">    </p:cNvPr>
          <p:cNvPicPr>
            <a:picLocks noChangeAspect="1"/>
          </p:cNvPicPr>
          <p:nvPr/>
        </p:nvPicPr>
        <p:blipFill>
          <a:blip r:embed="rId3"/>
          <a:stretch>
            <a:fillRect/>
          </a:stretch>
        </p:blipFill>
        <p:spPr>
          <a:xfrm>
            <a:off x="954634" y="3396082"/>
            <a:ext cx="285293" cy="285293"/>
          </a:xfrm>
          <a:prstGeom prst="rect">
            <a:avLst/>
          </a:prstGeom>
        </p:spPr>
      </p:pic>
      <p:sp>
        <p:nvSpPr>
          <p:cNvPr id="16" name="Text 11"/>
          <p:cNvSpPr txBox="1"/>
          <p:nvPr/>
        </p:nvSpPr>
        <p:spPr>
          <a:xfrm>
            <a:off x="1572768" y="3191256"/>
            <a:ext cx="4175608" cy="347472"/>
          </a:xfrm>
          <a:prstGeom prst="rect">
            <a:avLst/>
          </a:prstGeom>
          <a:noFill/>
          <a:ln/>
        </p:spPr>
        <p:txBody>
          <a:bodyPr wrap="square" lIns="0" tIns="0" rIns="0" bIns="0" rtlCol="0" anchor="t"/>
          <a:lstStyle/>
          <a:p>
            <a:pPr indent="0" marL="0">
              <a:buNone/>
            </a:pPr>
            <a:r>
              <a:rPr lang="en-US" sz="1650" b="1" dirty="0">
                <a:solidFill>
                  <a:srgbClr val="1D1D1F"/>
                </a:solidFill>
                <a:latin typeface="Arial" pitchFamily="34" charset="0"/>
                <a:ea typeface="Arial" pitchFamily="34" charset="-122"/>
                <a:cs typeface="Arial" pitchFamily="34" charset="-120"/>
              </a:rPr>
              <a:t>Le service peut être lent</a:t>
            </a:r>
            <a:endParaRPr lang="en-US" sz="1650" dirty="0"/>
          </a:p>
        </p:txBody>
      </p:sp>
      <p:sp>
        <p:nvSpPr>
          <p:cNvPr id="17" name="Text 12"/>
          <p:cNvSpPr txBox="1"/>
          <p:nvPr/>
        </p:nvSpPr>
        <p:spPr>
          <a:xfrm>
            <a:off x="1572768" y="3557016"/>
            <a:ext cx="4175608" cy="68580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Patientez, ou recommencez — au besoin avec un autre modèle. Une activité en échec se relance.</a:t>
            </a:r>
            <a:endParaRPr lang="en-US" sz="1300" dirty="0"/>
          </a:p>
        </p:txBody>
      </p:sp>
      <p:sp>
        <p:nvSpPr>
          <p:cNvPr id="18" name="Shape 13"/>
          <p:cNvSpPr/>
          <p:nvPr/>
        </p:nvSpPr>
        <p:spPr>
          <a:xfrm>
            <a:off x="6233008" y="2990088"/>
            <a:ext cx="5410048" cy="1298448"/>
          </a:xfrm>
          <a:prstGeom prst="roundRect">
            <a:avLst>
              <a:gd name="adj" fmla="val 1126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19" name="Shape 14"/>
          <p:cNvSpPr/>
          <p:nvPr/>
        </p:nvSpPr>
        <p:spPr>
          <a:xfrm>
            <a:off x="6507328" y="3264408"/>
            <a:ext cx="548640" cy="548640"/>
          </a:xfrm>
          <a:prstGeom prst="roundRect">
            <a:avLst>
              <a:gd name="adj" fmla="val 28000"/>
            </a:avLst>
          </a:prstGeom>
          <a:solidFill>
            <a:srgbClr val="FFECD4"/>
          </a:solidFill>
          <a:ln/>
        </p:spPr>
      </p:sp>
      <p:pic>
        <p:nvPicPr>
          <p:cNvPr id="20" name="Image 3" descr="/var/folders/b7/tkzbyvzx72qcg9wb0t1jybvm0000gn/T/kit-formation-xg52uF/icone-30.png">    </p:cNvPr>
          <p:cNvPicPr>
            <a:picLocks noChangeAspect="1"/>
          </p:cNvPicPr>
          <p:nvPr/>
        </p:nvPicPr>
        <p:blipFill>
          <a:blip r:embed="rId4"/>
          <a:stretch>
            <a:fillRect/>
          </a:stretch>
        </p:blipFill>
        <p:spPr>
          <a:xfrm>
            <a:off x="6639001" y="3396082"/>
            <a:ext cx="285293" cy="285293"/>
          </a:xfrm>
          <a:prstGeom prst="rect">
            <a:avLst/>
          </a:prstGeom>
        </p:spPr>
      </p:pic>
      <p:sp>
        <p:nvSpPr>
          <p:cNvPr id="21" name="Text 15"/>
          <p:cNvSpPr txBox="1"/>
          <p:nvPr/>
        </p:nvSpPr>
        <p:spPr>
          <a:xfrm>
            <a:off x="7257136" y="3191256"/>
            <a:ext cx="4175608" cy="347472"/>
          </a:xfrm>
          <a:prstGeom prst="rect">
            <a:avLst/>
          </a:prstGeom>
          <a:noFill/>
          <a:ln/>
        </p:spPr>
        <p:txBody>
          <a:bodyPr wrap="square" lIns="0" tIns="0" rIns="0" bIns="0" rtlCol="0" anchor="t"/>
          <a:lstStyle/>
          <a:p>
            <a:pPr indent="0" marL="0">
              <a:buNone/>
            </a:pPr>
            <a:r>
              <a:rPr lang="en-US" sz="1650" b="1" dirty="0">
                <a:solidFill>
                  <a:srgbClr val="1D1D1F"/>
                </a:solidFill>
                <a:latin typeface="Arial" pitchFamily="34" charset="0"/>
                <a:ea typeface="Arial" pitchFamily="34" charset="-122"/>
                <a:cs typeface="Arial" pitchFamily="34" charset="-120"/>
              </a:rPr>
              <a:t>Caramel ne publie rien à votre place</a:t>
            </a:r>
            <a:endParaRPr lang="en-US" sz="1650" dirty="0"/>
          </a:p>
        </p:txBody>
      </p:sp>
      <p:sp>
        <p:nvSpPr>
          <p:cNvPr id="22" name="Text 16"/>
          <p:cNvSpPr txBox="1"/>
          <p:nvPr/>
        </p:nvSpPr>
        <p:spPr>
          <a:xfrm>
            <a:off x="7257136" y="3557016"/>
            <a:ext cx="4175608" cy="68580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Vous importez vous-même le fichier dans votre cours ; la Sucrerie reste un choix.</a:t>
            </a:r>
            <a:endParaRPr lang="en-US" sz="1300" dirty="0"/>
          </a:p>
        </p:txBody>
      </p:sp>
      <p:sp>
        <p:nvSpPr>
          <p:cNvPr id="23" name="Shape 17"/>
          <p:cNvSpPr/>
          <p:nvPr/>
        </p:nvSpPr>
        <p:spPr>
          <a:xfrm>
            <a:off x="548640" y="4471416"/>
            <a:ext cx="5410048" cy="1298448"/>
          </a:xfrm>
          <a:prstGeom prst="roundRect">
            <a:avLst>
              <a:gd name="adj" fmla="val 11268"/>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sp>
        <p:nvSpPr>
          <p:cNvPr id="24" name="Shape 18"/>
          <p:cNvSpPr/>
          <p:nvPr/>
        </p:nvSpPr>
        <p:spPr>
          <a:xfrm>
            <a:off x="822960" y="4745736"/>
            <a:ext cx="548640" cy="548640"/>
          </a:xfrm>
          <a:prstGeom prst="roundRect">
            <a:avLst>
              <a:gd name="adj" fmla="val 28000"/>
            </a:avLst>
          </a:prstGeom>
          <a:solidFill>
            <a:srgbClr val="FFECD4"/>
          </a:solidFill>
          <a:ln/>
        </p:spPr>
      </p:sp>
      <p:pic>
        <p:nvPicPr>
          <p:cNvPr id="25" name="Image 4" descr="/var/folders/b7/tkzbyvzx72qcg9wb0t1jybvm0000gn/T/kit-formation-xg52uF/icone-31.png">    </p:cNvPr>
          <p:cNvPicPr>
            <a:picLocks noChangeAspect="1"/>
          </p:cNvPicPr>
          <p:nvPr/>
        </p:nvPicPr>
        <p:blipFill>
          <a:blip r:embed="rId5"/>
          <a:stretch>
            <a:fillRect/>
          </a:stretch>
        </p:blipFill>
        <p:spPr>
          <a:xfrm>
            <a:off x="954634" y="4877410"/>
            <a:ext cx="285293" cy="285293"/>
          </a:xfrm>
          <a:prstGeom prst="rect">
            <a:avLst/>
          </a:prstGeom>
        </p:spPr>
      </p:pic>
      <p:sp>
        <p:nvSpPr>
          <p:cNvPr id="26" name="Text 19"/>
          <p:cNvSpPr txBox="1"/>
          <p:nvPr/>
        </p:nvSpPr>
        <p:spPr>
          <a:xfrm>
            <a:off x="1572768" y="4672584"/>
            <a:ext cx="4175608" cy="347472"/>
          </a:xfrm>
          <a:prstGeom prst="rect">
            <a:avLst/>
          </a:prstGeom>
          <a:noFill/>
          <a:ln/>
        </p:spPr>
        <p:txBody>
          <a:bodyPr wrap="square" lIns="0" tIns="0" rIns="0" bIns="0" rtlCol="0" anchor="t"/>
          <a:lstStyle/>
          <a:p>
            <a:pPr indent="0" marL="0">
              <a:buNone/>
            </a:pPr>
            <a:r>
              <a:rPr lang="en-US" sz="1650" b="1" dirty="0">
                <a:solidFill>
                  <a:srgbClr val="1D1D1F"/>
                </a:solidFill>
                <a:latin typeface="Arial" pitchFamily="34" charset="0"/>
                <a:ea typeface="Arial" pitchFamily="34" charset="-122"/>
                <a:cs typeface="Arial" pitchFamily="34" charset="-120"/>
              </a:rPr>
              <a:t>Un point de départ</a:t>
            </a:r>
            <a:endParaRPr lang="en-US" sz="1650" dirty="0"/>
          </a:p>
        </p:txBody>
      </p:sp>
      <p:sp>
        <p:nvSpPr>
          <p:cNvPr id="27" name="Text 20"/>
          <p:cNvSpPr txBox="1"/>
          <p:nvPr/>
        </p:nvSpPr>
        <p:spPr>
          <a:xfrm>
            <a:off x="1572768" y="5038344"/>
            <a:ext cx="4175608" cy="685800"/>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Un parcours généré est à relire, à adapter à votre classe, puis à tester avant de l’ouvrir aux élèves.</a:t>
            </a:r>
            <a:endParaRPr lang="en-US" sz="1300" dirty="0"/>
          </a:p>
        </p:txBody>
      </p:sp>
      <p:sp>
        <p:nvSpPr>
          <p:cNvPr id="28" name="Shape 21"/>
          <p:cNvSpPr/>
          <p:nvPr/>
        </p:nvSpPr>
        <p:spPr>
          <a:xfrm>
            <a:off x="6233008" y="4471416"/>
            <a:ext cx="5410048" cy="1298448"/>
          </a:xfrm>
          <a:prstGeom prst="roundRect">
            <a:avLst>
              <a:gd name="adj" fmla="val 11268"/>
            </a:avLst>
          </a:prstGeom>
          <a:solidFill>
            <a:srgbClr val="FFF7EC"/>
          </a:solidFill>
          <a:ln w="9525">
            <a:solidFill>
              <a:srgbClr val="EEE0CF"/>
            </a:solidFill>
            <a:prstDash val="solid"/>
          </a:ln>
        </p:spPr>
      </p:sp>
      <p:sp>
        <p:nvSpPr>
          <p:cNvPr id="29" name="Text 22"/>
          <p:cNvSpPr txBox="1"/>
          <p:nvPr/>
        </p:nvSpPr>
        <p:spPr>
          <a:xfrm>
            <a:off x="6507328" y="4471416"/>
            <a:ext cx="4861408" cy="1298448"/>
          </a:xfrm>
          <a:prstGeom prst="rect">
            <a:avLst/>
          </a:prstGeom>
          <a:noFill/>
          <a:ln/>
        </p:spPr>
        <p:txBody>
          <a:bodyPr wrap="square" lIns="0" tIns="0" rIns="0" bIns="0" rtlCol="0" anchor="ctr"/>
          <a:lstStyle/>
          <a:p>
            <a:pPr algn="ctr" indent="0" marL="0">
              <a:buNone/>
            </a:pPr>
            <a:r>
              <a:rPr lang="en-US" sz="2200" b="1" dirty="0">
                <a:solidFill>
                  <a:srgbClr val="8F4014"/>
                </a:solidFill>
                <a:latin typeface="Arial" pitchFamily="34" charset="0"/>
                <a:ea typeface="Arial" pitchFamily="34" charset="-122"/>
                <a:cs typeface="Arial" pitchFamily="34" charset="-120"/>
              </a:rPr>
              <a:t>L’IA propose, vous décidez.</a:t>
            </a:r>
            <a:endParaRPr lang="en-US" sz="2200" dirty="0"/>
          </a:p>
        </p:txBody>
      </p:sp>
      <p:sp>
        <p:nvSpPr>
          <p:cNvPr id="30" name="Text 23"/>
          <p:cNvSpPr txBox="1"/>
          <p:nvPr/>
        </p:nvSpPr>
        <p:spPr>
          <a:xfrm>
            <a:off x="548640" y="6419088"/>
            <a:ext cx="5486400" cy="237744"/>
          </a:xfrm>
          <a:prstGeom prst="rect">
            <a:avLst/>
          </a:prstGeom>
          <a:noFill/>
          <a:ln/>
        </p:spPr>
        <p:txBody>
          <a:bodyPr wrap="square" lIns="0" tIns="0" rIns="0" bIns="0" rtlCol="0" anchor="t"/>
          <a:lstStyle/>
          <a:p>
            <a:pPr indent="0" marL="0">
              <a:buNone/>
            </a:pPr>
            <a:r>
              <a:rPr lang="en-US" sz="900" dirty="0">
                <a:solidFill>
                  <a:srgbClr val="6E6E73"/>
                </a:solidFill>
                <a:latin typeface="Arial" pitchFamily="34" charset="0"/>
                <a:ea typeface="Arial" pitchFamily="34" charset="-122"/>
                <a:cs typeface="Arial" pitchFamily="34" charset="-120"/>
              </a:rPr>
              <a:t>Caramel v7.1.0 · Kit de formation · octobre 2026</a:t>
            </a:r>
            <a:endParaRPr lang="en-US" sz="900" dirty="0"/>
          </a:p>
        </p:txBody>
      </p:sp>
      <p:sp>
        <p:nvSpPr>
          <p:cNvPr id="31" name="Text 24"/>
          <p:cNvSpPr txBox="1"/>
          <p:nvPr/>
        </p:nvSpPr>
        <p:spPr>
          <a:xfrm>
            <a:off x="10271455" y="6419088"/>
            <a:ext cx="1371600" cy="237744"/>
          </a:xfrm>
          <a:prstGeom prst="rect">
            <a:avLst/>
          </a:prstGeom>
          <a:noFill/>
          <a:ln/>
        </p:spPr>
        <p:txBody>
          <a:bodyPr wrap="square" lIns="0" tIns="0" rIns="0" bIns="0" rtlCol="0" anchor="t"/>
          <a:lstStyle/>
          <a:p>
            <a:pPr algn="r" indent="0" marL="0">
              <a:buNone/>
            </a:pPr>
            <a:r>
              <a:rPr lang="en-US" sz="900" dirty="0">
                <a:solidFill>
                  <a:srgbClr val="6E6E73"/>
                </a:solidFill>
                <a:latin typeface="Arial" pitchFamily="34" charset="0"/>
                <a:ea typeface="Arial" pitchFamily="34" charset="-122"/>
                <a:cs typeface="Arial" pitchFamily="34" charset="-120"/>
              </a:rPr>
              <a:t>26 / 27</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var/folders/b7/tkzbyvzx72qcg9wb0t1jybvm0000gn/T/kit-formation-xg52uF/logo-caramel.png">    </p:cNvPr>
          <p:cNvPicPr>
            <a:picLocks noChangeAspect="1"/>
          </p:cNvPicPr>
          <p:nvPr/>
        </p:nvPicPr>
        <p:blipFill>
          <a:blip r:embed="rId1"/>
          <a:stretch>
            <a:fillRect/>
          </a:stretch>
        </p:blipFill>
        <p:spPr>
          <a:xfrm>
            <a:off x="548640" y="548640"/>
            <a:ext cx="731520" cy="731520"/>
          </a:xfrm>
          <a:prstGeom prst="rect">
            <a:avLst/>
          </a:prstGeom>
        </p:spPr>
      </p:pic>
      <p:sp>
        <p:nvSpPr>
          <p:cNvPr id="3" name="Text 0"/>
          <p:cNvSpPr txBox="1"/>
          <p:nvPr/>
        </p:nvSpPr>
        <p:spPr>
          <a:xfrm>
            <a:off x="1463040" y="566928"/>
            <a:ext cx="6400800" cy="694944"/>
          </a:xfrm>
          <a:prstGeom prst="rect">
            <a:avLst/>
          </a:prstGeom>
          <a:noFill/>
          <a:ln/>
        </p:spPr>
        <p:txBody>
          <a:bodyPr wrap="square" lIns="0" tIns="0" rIns="0" bIns="0" rtlCol="0" anchor="ctr"/>
          <a:lstStyle/>
          <a:p>
            <a:pPr indent="0" marL="0">
              <a:buNone/>
            </a:pPr>
            <a:r>
              <a:rPr lang="en-US" sz="3400" b="1" dirty="0">
                <a:solidFill>
                  <a:srgbClr val="1D1D1F"/>
                </a:solidFill>
                <a:latin typeface="Arial" pitchFamily="34" charset="0"/>
                <a:ea typeface="Arial" pitchFamily="34" charset="-122"/>
                <a:cs typeface="Arial" pitchFamily="34" charset="-120"/>
              </a:rPr>
              <a:t>Pour continuer</a:t>
            </a:r>
            <a:endParaRPr lang="en-US" sz="3400" dirty="0"/>
          </a:p>
        </p:txBody>
      </p:sp>
      <p:sp>
        <p:nvSpPr>
          <p:cNvPr id="4" name="Shape 1"/>
          <p:cNvSpPr/>
          <p:nvPr/>
        </p:nvSpPr>
        <p:spPr>
          <a:xfrm>
            <a:off x="548640" y="1527048"/>
            <a:ext cx="4992624" cy="3082649"/>
          </a:xfrm>
          <a:prstGeom prst="roundRect">
            <a:avLst>
              <a:gd name="adj" fmla="val 3560"/>
            </a:avLst>
          </a:prstGeom>
          <a:solidFill>
            <a:srgbClr val="FFFFFF"/>
          </a:solidFill>
          <a:ln w="9525">
            <a:solidFill>
              <a:srgbClr val="E5E5EA"/>
            </a:solidFill>
            <a:prstDash val="solid"/>
          </a:ln>
          <a:effectLst>
            <a:outerShdw sx="100000" sy="100000" kx="0" ky="0" algn="bl" rotWithShape="0" blurRad="114300" dist="25400" dir="5400000">
              <a:srgbClr val="000000">
                <a:alpha val="9000"/>
              </a:srgbClr>
            </a:outerShdw>
          </a:effectLst>
        </p:spPr>
      </p:sp>
      <p:pic>
        <p:nvPicPr>
          <p:cNvPr id="5" name="Image 1" descr="/var/folders/b7/tkzbyvzx72qcg9wb0t1jybvm0000gn/T/kit-formation-xg52uF/caramelia.jpg">    </p:cNvPr>
          <p:cNvPicPr>
            <a:picLocks noChangeAspect="1"/>
          </p:cNvPicPr>
          <p:nvPr/>
        </p:nvPicPr>
        <p:blipFill>
          <a:blip r:embed="rId2"/>
          <a:stretch>
            <a:fillRect/>
          </a:stretch>
        </p:blipFill>
        <p:spPr>
          <a:xfrm>
            <a:off x="621792" y="1600200"/>
            <a:ext cx="4846320" cy="2936345"/>
          </a:xfrm>
          <a:prstGeom prst="rect">
            <a:avLst/>
          </a:prstGeom>
        </p:spPr>
      </p:pic>
      <p:sp>
        <p:nvSpPr>
          <p:cNvPr id="6" name="Text 2"/>
          <p:cNvSpPr txBox="1"/>
          <p:nvPr/>
        </p:nvSpPr>
        <p:spPr>
          <a:xfrm>
            <a:off x="621792" y="4719425"/>
            <a:ext cx="4846320" cy="320040"/>
          </a:xfrm>
          <a:prstGeom prst="rect">
            <a:avLst/>
          </a:prstGeom>
          <a:noFill/>
          <a:ln/>
        </p:spPr>
        <p:txBody>
          <a:bodyPr wrap="square" lIns="0" tIns="0" rIns="0" bIns="0" rtlCol="0" anchor="t"/>
          <a:lstStyle/>
          <a:p>
            <a:pPr indent="0" marL="0">
              <a:buNone/>
            </a:pPr>
            <a:r>
              <a:rPr lang="en-US" sz="1250" dirty="0">
                <a:solidFill>
                  <a:srgbClr val="6E6E73"/>
                </a:solidFill>
                <a:latin typeface="Arial" pitchFamily="34" charset="0"/>
                <a:ea typeface="Arial" pitchFamily="34" charset="-122"/>
                <a:cs typeface="Arial" pitchFamily="34" charset="-120"/>
              </a:rPr>
              <a:t>Caramelia, la bulle en bas à droite.</a:t>
            </a:r>
            <a:endParaRPr lang="en-US" sz="1250" dirty="0"/>
          </a:p>
        </p:txBody>
      </p:sp>
      <p:sp>
        <p:nvSpPr>
          <p:cNvPr id="7" name="Shape 3"/>
          <p:cNvSpPr/>
          <p:nvPr/>
        </p:nvSpPr>
        <p:spPr>
          <a:xfrm>
            <a:off x="6035040" y="1600200"/>
            <a:ext cx="512064" cy="512064"/>
          </a:xfrm>
          <a:prstGeom prst="roundRect">
            <a:avLst>
              <a:gd name="adj" fmla="val 28000"/>
            </a:avLst>
          </a:prstGeom>
          <a:solidFill>
            <a:srgbClr val="FFE8EE"/>
          </a:solidFill>
          <a:ln/>
        </p:spPr>
      </p:sp>
      <p:pic>
        <p:nvPicPr>
          <p:cNvPr id="8" name="Image 2" descr="/var/folders/b7/tkzbyvzx72qcg9wb0t1jybvm0000gn/T/kit-formation-xg52uF/icone-15.png">    </p:cNvPr>
          <p:cNvPicPr>
            <a:picLocks noChangeAspect="1"/>
          </p:cNvPicPr>
          <p:nvPr/>
        </p:nvPicPr>
        <p:blipFill>
          <a:blip r:embed="rId3"/>
          <a:stretch>
            <a:fillRect/>
          </a:stretch>
        </p:blipFill>
        <p:spPr>
          <a:xfrm>
            <a:off x="6157935" y="1723095"/>
            <a:ext cx="266273" cy="266273"/>
          </a:xfrm>
          <a:prstGeom prst="rect">
            <a:avLst/>
          </a:prstGeom>
        </p:spPr>
      </p:pic>
      <p:sp>
        <p:nvSpPr>
          <p:cNvPr id="9" name="Text 4"/>
          <p:cNvSpPr txBox="1"/>
          <p:nvPr/>
        </p:nvSpPr>
        <p:spPr>
          <a:xfrm>
            <a:off x="6720840" y="1572768"/>
            <a:ext cx="3200400" cy="310896"/>
          </a:xfrm>
          <a:prstGeom prst="rect">
            <a:avLst/>
          </a:prstGeom>
          <a:noFill/>
          <a:ln/>
        </p:spPr>
        <p:txBody>
          <a:bodyPr wrap="square" lIns="0" tIns="0" rIns="0" bIns="0" rtlCol="0" anchor="t"/>
          <a:lstStyle/>
          <a:p>
            <a:pPr indent="0" marL="0">
              <a:buNone/>
            </a:pPr>
            <a:r>
              <a:rPr lang="en-US" sz="1550" b="1" u="sng" dirty="0">
                <a:solidFill>
                  <a:srgbClr val="0056B3"/>
                </a:solidFill>
                <a:latin typeface="Arial" pitchFamily="34" charset="0"/>
                <a:ea typeface="Arial" pitchFamily="34" charset="-122"/>
                <a:cs typeface="Arial" pitchFamily="34" charset="-120"/>
                <a:hlinkClick r:id="rId4" invalidUrl="" action="" tgtFrame="" tooltip="https://caramel.forge.apps.education.fr/" history="1" highlightClick="0" endSnd="0">
                  <a:extLst>
                    <a:ext uri="{A12FA001-AC4F-418D-AE19-62706E023703}">
                      <ahyp:hlinkClr xmlns:ahyp="http://schemas.microsoft.com/office/drawing/2018/hyperlinkcolor" val="tx"/>
                    </a:ext>
                  </a:extLst>
                </a:hlinkClick>
              </a:rPr>
              <a:t>caramel.forge.apps.education.fr</a:t>
            </a:r>
            <a:endParaRPr lang="en-US" sz="1550" dirty="0"/>
          </a:p>
        </p:txBody>
      </p:sp>
      <p:sp>
        <p:nvSpPr>
          <p:cNvPr id="10" name="Text 5"/>
          <p:cNvSpPr txBox="1"/>
          <p:nvPr/>
        </p:nvSpPr>
        <p:spPr>
          <a:xfrm>
            <a:off x="6720840" y="1901952"/>
            <a:ext cx="3200400" cy="566928"/>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Gratuit, sans compte, dans le navigateur.</a:t>
            </a:r>
            <a:endParaRPr lang="en-US" sz="1300" dirty="0"/>
          </a:p>
        </p:txBody>
      </p:sp>
      <p:sp>
        <p:nvSpPr>
          <p:cNvPr id="11" name="Shape 6"/>
          <p:cNvSpPr/>
          <p:nvPr/>
        </p:nvSpPr>
        <p:spPr>
          <a:xfrm>
            <a:off x="6035040" y="2587752"/>
            <a:ext cx="512064" cy="512064"/>
          </a:xfrm>
          <a:prstGeom prst="roundRect">
            <a:avLst>
              <a:gd name="adj" fmla="val 28000"/>
            </a:avLst>
          </a:prstGeom>
          <a:solidFill>
            <a:srgbClr val="FFECD4"/>
          </a:solidFill>
          <a:ln/>
        </p:spPr>
      </p:sp>
      <p:pic>
        <p:nvPicPr>
          <p:cNvPr id="12" name="Image 3" descr="/var/folders/b7/tkzbyvzx72qcg9wb0t1jybvm0000gn/T/kit-formation-xg52uF/icone-32.png">    </p:cNvPr>
          <p:cNvPicPr>
            <a:picLocks noChangeAspect="1"/>
          </p:cNvPicPr>
          <p:nvPr/>
        </p:nvPicPr>
        <p:blipFill>
          <a:blip r:embed="rId5"/>
          <a:stretch>
            <a:fillRect/>
          </a:stretch>
        </p:blipFill>
        <p:spPr>
          <a:xfrm>
            <a:off x="6157935" y="2710647"/>
            <a:ext cx="266273" cy="266273"/>
          </a:xfrm>
          <a:prstGeom prst="rect">
            <a:avLst/>
          </a:prstGeom>
        </p:spPr>
      </p:pic>
      <p:sp>
        <p:nvSpPr>
          <p:cNvPr id="13" name="Text 7"/>
          <p:cNvSpPr txBox="1"/>
          <p:nvPr/>
        </p:nvSpPr>
        <p:spPr>
          <a:xfrm>
            <a:off x="6720840" y="2560320"/>
            <a:ext cx="3200400" cy="310896"/>
          </a:xfrm>
          <a:prstGeom prst="rect">
            <a:avLst/>
          </a:prstGeom>
          <a:noFill/>
          <a:ln/>
        </p:spPr>
        <p:txBody>
          <a:bodyPr wrap="square" lIns="0" tIns="0" rIns="0" bIns="0" rtlCol="0" anchor="t"/>
          <a:lstStyle/>
          <a:p>
            <a:pPr indent="0" marL="0">
              <a:buNone/>
            </a:pPr>
            <a:r>
              <a:rPr lang="en-US" sz="1550" b="1" dirty="0">
                <a:solidFill>
                  <a:srgbClr val="1D1D1F"/>
                </a:solidFill>
                <a:latin typeface="Arial" pitchFamily="34" charset="0"/>
                <a:ea typeface="Arial" pitchFamily="34" charset="-122"/>
                <a:cs typeface="Arial" pitchFamily="34" charset="-120"/>
              </a:rPr>
              <a:t>Le « Tutoriel »</a:t>
            </a:r>
            <a:endParaRPr lang="en-US" sz="1550" dirty="0"/>
          </a:p>
        </p:txBody>
      </p:sp>
      <p:sp>
        <p:nvSpPr>
          <p:cNvPr id="14" name="Text 8"/>
          <p:cNvSpPr txBox="1"/>
          <p:nvPr/>
        </p:nvSpPr>
        <p:spPr>
          <a:xfrm>
            <a:off x="6720840" y="2889504"/>
            <a:ext cx="3200400" cy="566928"/>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En haut de Caramel : chaque étape pas à pas, imports compris.</a:t>
            </a:r>
            <a:endParaRPr lang="en-US" sz="1300" dirty="0"/>
          </a:p>
        </p:txBody>
      </p:sp>
      <p:sp>
        <p:nvSpPr>
          <p:cNvPr id="15" name="Shape 9"/>
          <p:cNvSpPr/>
          <p:nvPr/>
        </p:nvSpPr>
        <p:spPr>
          <a:xfrm>
            <a:off x="6035040" y="3575304"/>
            <a:ext cx="512064" cy="512064"/>
          </a:xfrm>
          <a:prstGeom prst="roundRect">
            <a:avLst>
              <a:gd name="adj" fmla="val 28000"/>
            </a:avLst>
          </a:prstGeom>
          <a:solidFill>
            <a:srgbClr val="FFECD4"/>
          </a:solidFill>
          <a:ln/>
        </p:spPr>
      </p:sp>
      <p:pic>
        <p:nvPicPr>
          <p:cNvPr id="16" name="Image 4" descr="/var/folders/b7/tkzbyvzx72qcg9wb0t1jybvm0000gn/T/kit-formation-xg52uF/icone-42.png">    </p:cNvPr>
          <p:cNvPicPr>
            <a:picLocks noChangeAspect="1"/>
          </p:cNvPicPr>
          <p:nvPr/>
        </p:nvPicPr>
        <p:blipFill>
          <a:blip r:embed="rId6"/>
          <a:stretch>
            <a:fillRect/>
          </a:stretch>
        </p:blipFill>
        <p:spPr>
          <a:xfrm>
            <a:off x="6157935" y="3698199"/>
            <a:ext cx="266273" cy="266273"/>
          </a:xfrm>
          <a:prstGeom prst="rect">
            <a:avLst/>
          </a:prstGeom>
        </p:spPr>
      </p:pic>
      <p:sp>
        <p:nvSpPr>
          <p:cNvPr id="17" name="Text 10"/>
          <p:cNvSpPr txBox="1"/>
          <p:nvPr/>
        </p:nvSpPr>
        <p:spPr>
          <a:xfrm>
            <a:off x="6720840" y="3547872"/>
            <a:ext cx="3200400" cy="310896"/>
          </a:xfrm>
          <a:prstGeom prst="rect">
            <a:avLst/>
          </a:prstGeom>
          <a:noFill/>
          <a:ln/>
        </p:spPr>
        <p:txBody>
          <a:bodyPr wrap="square" lIns="0" tIns="0" rIns="0" bIns="0" rtlCol="0" anchor="t"/>
          <a:lstStyle/>
          <a:p>
            <a:pPr indent="0" marL="0">
              <a:buNone/>
            </a:pPr>
            <a:r>
              <a:rPr lang="en-US" sz="1550" b="1" dirty="0">
                <a:solidFill>
                  <a:srgbClr val="1D1D1F"/>
                </a:solidFill>
                <a:latin typeface="Arial" pitchFamily="34" charset="0"/>
                <a:ea typeface="Arial" pitchFamily="34" charset="-122"/>
                <a:cs typeface="Arial" pitchFamily="34" charset="-120"/>
              </a:rPr>
              <a:t>Caramelia, l’assistante</a:t>
            </a:r>
            <a:endParaRPr lang="en-US" sz="1550" dirty="0"/>
          </a:p>
        </p:txBody>
      </p:sp>
      <p:sp>
        <p:nvSpPr>
          <p:cNvPr id="18" name="Text 11"/>
          <p:cNvSpPr txBox="1"/>
          <p:nvPr/>
        </p:nvSpPr>
        <p:spPr>
          <a:xfrm>
            <a:off x="6720840" y="3877056"/>
            <a:ext cx="3200400" cy="566928"/>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Répond sur l’outil, prépare une activité ou un parcours avec vous.</a:t>
            </a:r>
            <a:endParaRPr lang="en-US" sz="1300" dirty="0"/>
          </a:p>
        </p:txBody>
      </p:sp>
      <p:sp>
        <p:nvSpPr>
          <p:cNvPr id="19" name="Shape 12"/>
          <p:cNvSpPr/>
          <p:nvPr/>
        </p:nvSpPr>
        <p:spPr>
          <a:xfrm>
            <a:off x="6035040" y="4562856"/>
            <a:ext cx="512064" cy="512064"/>
          </a:xfrm>
          <a:prstGeom prst="roundRect">
            <a:avLst>
              <a:gd name="adj" fmla="val 28000"/>
            </a:avLst>
          </a:prstGeom>
          <a:solidFill>
            <a:srgbClr val="FFECD4"/>
          </a:solidFill>
          <a:ln/>
        </p:spPr>
      </p:sp>
      <p:pic>
        <p:nvPicPr>
          <p:cNvPr id="20" name="Image 5" descr="/var/folders/b7/tkzbyvzx72qcg9wb0t1jybvm0000gn/T/kit-formation-xg52uF/icone-33.png">    </p:cNvPr>
          <p:cNvPicPr>
            <a:picLocks noChangeAspect="1"/>
          </p:cNvPicPr>
          <p:nvPr/>
        </p:nvPicPr>
        <p:blipFill>
          <a:blip r:embed="rId7"/>
          <a:stretch>
            <a:fillRect/>
          </a:stretch>
        </p:blipFill>
        <p:spPr>
          <a:xfrm>
            <a:off x="6157935" y="4685751"/>
            <a:ext cx="266273" cy="266273"/>
          </a:xfrm>
          <a:prstGeom prst="rect">
            <a:avLst/>
          </a:prstGeom>
        </p:spPr>
      </p:pic>
      <p:sp>
        <p:nvSpPr>
          <p:cNvPr id="21" name="Text 13"/>
          <p:cNvSpPr txBox="1"/>
          <p:nvPr/>
        </p:nvSpPr>
        <p:spPr>
          <a:xfrm>
            <a:off x="6720840" y="4535424"/>
            <a:ext cx="3200400" cy="310896"/>
          </a:xfrm>
          <a:prstGeom prst="rect">
            <a:avLst/>
          </a:prstGeom>
          <a:noFill/>
          <a:ln/>
        </p:spPr>
        <p:txBody>
          <a:bodyPr wrap="square" lIns="0" tIns="0" rIns="0" bIns="0" rtlCol="0" anchor="t"/>
          <a:lstStyle/>
          <a:p>
            <a:pPr indent="0" marL="0">
              <a:buNone/>
            </a:pPr>
            <a:r>
              <a:rPr lang="en-US" sz="1550" b="1" dirty="0">
                <a:solidFill>
                  <a:srgbClr val="1D1D1F"/>
                </a:solidFill>
                <a:latin typeface="Arial" pitchFamily="34" charset="0"/>
                <a:ea typeface="Arial" pitchFamily="34" charset="-122"/>
                <a:cs typeface="Arial" pitchFamily="34" charset="-120"/>
              </a:rPr>
              <a:t>« Découvrir Caramel »</a:t>
            </a:r>
            <a:endParaRPr lang="en-US" sz="1550" dirty="0"/>
          </a:p>
        </p:txBody>
      </p:sp>
      <p:sp>
        <p:nvSpPr>
          <p:cNvPr id="22" name="Text 14"/>
          <p:cNvSpPr txBox="1"/>
          <p:nvPr/>
        </p:nvSpPr>
        <p:spPr>
          <a:xfrm>
            <a:off x="6720840" y="4864608"/>
            <a:ext cx="3200400" cy="566928"/>
          </a:xfrm>
          <a:prstGeom prst="rect">
            <a:avLst/>
          </a:prstGeom>
          <a:noFill/>
          <a:ln/>
        </p:spPr>
        <p:txBody>
          <a:bodyPr wrap="square" lIns="0" tIns="0" rIns="0" bIns="0" rtlCol="0" anchor="t"/>
          <a:lstStyle/>
          <a:p>
            <a:pPr indent="0" marL="0">
              <a:buNone/>
            </a:pPr>
            <a:r>
              <a:rPr lang="en-US" sz="1300" dirty="0">
                <a:solidFill>
                  <a:srgbClr val="4A4A4F"/>
                </a:solidFill>
                <a:latin typeface="Arial" pitchFamily="34" charset="0"/>
                <a:ea typeface="Arial" pitchFamily="34" charset="-122"/>
                <a:cs typeface="Arial" pitchFamily="34" charset="-120"/>
              </a:rPr>
              <a:t>En pied de page : vidéos, tutoriels, activités à essayer.</a:t>
            </a:r>
            <a:endParaRPr lang="en-US" sz="1300" dirty="0"/>
          </a:p>
        </p:txBody>
      </p:sp>
      <p:pic>
        <p:nvPicPr>
          <p:cNvPr id="23" name="Image 6" descr="/var/folders/b7/tkzbyvzx72qcg9wb0t1jybvm0000gn/T/kit-formation-xg52uF/qr-caramel.png">    </p:cNvPr>
          <p:cNvPicPr>
            <a:picLocks noChangeAspect="1"/>
          </p:cNvPicPr>
          <p:nvPr/>
        </p:nvPicPr>
        <p:blipFill>
          <a:blip r:embed="rId8"/>
          <a:stretch>
            <a:fillRect/>
          </a:stretch>
        </p:blipFill>
        <p:spPr>
          <a:xfrm>
            <a:off x="10233508" y="1600200"/>
            <a:ext cx="1371600" cy="1371600"/>
          </a:xfrm>
          <a:prstGeom prst="rect">
            <a:avLst/>
          </a:prstGeom>
        </p:spPr>
      </p:pic>
      <p:sp>
        <p:nvSpPr>
          <p:cNvPr id="24" name="Text 15"/>
          <p:cNvSpPr txBox="1"/>
          <p:nvPr/>
        </p:nvSpPr>
        <p:spPr>
          <a:xfrm>
            <a:off x="10195560" y="3017520"/>
            <a:ext cx="1447495" cy="274320"/>
          </a:xfrm>
          <a:prstGeom prst="rect">
            <a:avLst/>
          </a:prstGeom>
          <a:noFill/>
          <a:ln/>
        </p:spPr>
        <p:txBody>
          <a:bodyPr wrap="square" lIns="0" tIns="0" rIns="0" bIns="0" rtlCol="0" anchor="t"/>
          <a:lstStyle/>
          <a:p>
            <a:pPr algn="ctr" indent="0" marL="0">
              <a:buNone/>
            </a:pPr>
            <a:r>
              <a:rPr lang="en-US" sz="1200" b="1" dirty="0">
                <a:solidFill>
                  <a:srgbClr val="1D1D1F"/>
                </a:solidFill>
                <a:latin typeface="Arial" pitchFamily="34" charset="0"/>
                <a:ea typeface="Arial" pitchFamily="34" charset="-122"/>
                <a:cs typeface="Arial" pitchFamily="34" charset="-120"/>
              </a:rPr>
              <a:t>Ouvrir Caramel</a:t>
            </a:r>
            <a:endParaRPr lang="en-US" sz="1200" dirty="0"/>
          </a:p>
        </p:txBody>
      </p:sp>
      <p:pic>
        <p:nvPicPr>
          <p:cNvPr id="25" name="Image 7" descr="/var/folders/b7/tkzbyvzx72qcg9wb0t1jybvm0000gn/T/kit-formation-xg52uF/qr-decouvrir.png">    </p:cNvPr>
          <p:cNvPicPr>
            <a:picLocks noChangeAspect="1"/>
          </p:cNvPicPr>
          <p:nvPr/>
        </p:nvPicPr>
        <p:blipFill>
          <a:blip r:embed="rId9"/>
          <a:stretch>
            <a:fillRect/>
          </a:stretch>
        </p:blipFill>
        <p:spPr>
          <a:xfrm>
            <a:off x="10233508" y="3611880"/>
            <a:ext cx="1371600" cy="1371600"/>
          </a:xfrm>
          <a:prstGeom prst="rect">
            <a:avLst/>
          </a:prstGeom>
        </p:spPr>
      </p:pic>
      <p:sp>
        <p:nvSpPr>
          <p:cNvPr id="26" name="Text 16"/>
          <p:cNvSpPr txBox="1"/>
          <p:nvPr/>
        </p:nvSpPr>
        <p:spPr>
          <a:xfrm>
            <a:off x="10195560" y="5029200"/>
            <a:ext cx="1447495" cy="274320"/>
          </a:xfrm>
          <a:prstGeom prst="rect">
            <a:avLst/>
          </a:prstGeom>
          <a:noFill/>
          <a:ln/>
        </p:spPr>
        <p:txBody>
          <a:bodyPr wrap="square" lIns="0" tIns="0" rIns="0" bIns="0" rtlCol="0" anchor="t"/>
          <a:lstStyle/>
          <a:p>
            <a:pPr algn="ctr" indent="0" marL="0">
              <a:buNone/>
            </a:pPr>
            <a:r>
              <a:rPr lang="en-US" sz="1200" b="1" dirty="0">
                <a:solidFill>
                  <a:srgbClr val="1D1D1F"/>
                </a:solidFill>
                <a:latin typeface="Arial" pitchFamily="34" charset="0"/>
                <a:ea typeface="Arial" pitchFamily="34" charset="-122"/>
                <a:cs typeface="Arial" pitchFamily="34" charset="-120"/>
              </a:rPr>
              <a:t>Découvrir Caramel</a:t>
            </a:r>
            <a:endParaRPr lang="en-US" sz="1200" dirty="0"/>
          </a:p>
        </p:txBody>
      </p:sp>
      <p:sp>
        <p:nvSpPr>
          <p:cNvPr id="27" name="Text 17"/>
          <p:cNvSpPr txBox="1"/>
          <p:nvPr/>
        </p:nvSpPr>
        <p:spPr>
          <a:xfrm>
            <a:off x="548640" y="6172200"/>
            <a:ext cx="11094415" cy="274320"/>
          </a:xfrm>
          <a:prstGeom prst="rect">
            <a:avLst/>
          </a:prstGeom>
          <a:noFill/>
          <a:ln/>
        </p:spPr>
        <p:txBody>
          <a:bodyPr wrap="square" lIns="0" tIns="0" rIns="0" bIns="0" rtlCol="0" anchor="t"/>
          <a:lstStyle/>
          <a:p>
            <a:pPr algn="ctr" indent="0" marL="0">
              <a:buNone/>
            </a:pPr>
            <a:r>
              <a:rPr lang="en-US" sz="1100" dirty="0">
                <a:solidFill>
                  <a:srgbClr val="6E6E73"/>
                </a:solidFill>
                <a:latin typeface="Arial" pitchFamily="34" charset="0"/>
                <a:ea typeface="Arial" pitchFamily="34" charset="-122"/>
                <a:cs typeface="Arial" pitchFamily="34" charset="-120"/>
              </a:rPr>
              <a:t>Kit de formation · Caramel v7.1.0 · mis à jour le 1er octobre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Caramel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Caramel 7.1.0 — kit de formation</dc:title>
  <dc:subject>Prendre en main Caramel : générer une activité, concevoir un parcours</dc:subject>
  <dc:creator>Caramel</dc:creator>
  <cp:lastModifiedBy>Caramel</cp:lastModifiedBy>
  <cp:revision>1</cp:revision>
  <dcterms:created xsi:type="dcterms:W3CDTF">2026-10-01T21:34:47Z</dcterms:created>
  <dcterms:modified xsi:type="dcterms:W3CDTF">2026-10-01T21:34:47Z</dcterms:modified>
</cp:coreProperties>
</file>